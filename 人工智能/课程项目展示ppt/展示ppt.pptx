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9" r:id="rId3"/>
    <p:sldId id="267" r:id="rId4"/>
    <p:sldId id="276" r:id="rId5"/>
    <p:sldId id="270" r:id="rId6"/>
    <p:sldId id="302" r:id="rId8"/>
    <p:sldId id="287" r:id="rId9"/>
    <p:sldId id="301" r:id="rId10"/>
    <p:sldId id="313" r:id="rId11"/>
    <p:sldId id="303" r:id="rId12"/>
    <p:sldId id="304" r:id="rId13"/>
    <p:sldId id="306" r:id="rId14"/>
    <p:sldId id="307" r:id="rId15"/>
    <p:sldId id="316" r:id="rId16"/>
    <p:sldId id="308" r:id="rId17"/>
    <p:sldId id="309" r:id="rId18"/>
    <p:sldId id="310" r:id="rId19"/>
    <p:sldId id="311" r:id="rId20"/>
    <p:sldId id="319" r:id="rId21"/>
    <p:sldId id="290" r:id="rId22"/>
    <p:sldId id="295" r:id="rId23"/>
    <p:sldId id="318" r:id="rId24"/>
    <p:sldId id="317" r:id="rId25"/>
    <p:sldId id="314" r:id="rId26"/>
    <p:sldId id="277"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76" y="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25.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EB1D179-D23D-41D4-AEEF-E4B9FEB06903}" type="doc">
      <dgm:prSet loTypeId="process" loCatId="process" qsTypeId="urn:microsoft.com/office/officeart/2005/8/quickstyle/simple1" qsCatId="simple" csTypeId="urn:microsoft.com/office/officeart/2005/8/colors/accent1_2" csCatId="accent1" phldr="0"/>
      <dgm:spPr/>
    </dgm:pt>
    <dgm:pt modelId="{3F25DA44-7F3E-4C17-A40B-7F663FDBEA65}">
      <dgm:prSet phldrT="[文本]" phldr="0" custT="0"/>
      <dgm:spPr/>
      <dgm:t>
        <a:bodyPr vert="horz" wrap="square"/>
        <a:p>
          <a:pPr>
            <a:lnSpc>
              <a:spcPct val="100000"/>
            </a:lnSpc>
            <a:spcBef>
              <a:spcPct val="0"/>
            </a:spcBef>
            <a:spcAft>
              <a:spcPct val="35000"/>
            </a:spcAft>
          </a:pPr>
          <a:r>
            <a:rPr lang="zh-CN" altLang="en-US"/>
            <a:t>预加重、</a:t>
          </a:r>
          <a:r>
            <a:rPr lang="zh-CN" altLang="en-US"/>
            <a:t>分帧、</a:t>
          </a:r>
          <a:r>
            <a:rPr lang="zh-CN" altLang="en-US"/>
            <a:t>加窗</a:t>
          </a:r>
          <a:r>
            <a:rPr lang="zh-CN" altLang="en-US"/>
            <a:t/>
          </a:r>
          <a:endParaRPr lang="zh-CN" altLang="en-US"/>
        </a:p>
      </dgm:t>
    </dgm:pt>
    <dgm:pt modelId="{EE9066D1-3403-4469-8E8C-0D40A82430F2}" cxnId="{1C97174E-D277-4969-BC68-38A0687E7F76}" type="parTrans">
      <dgm:prSet/>
      <dgm:spPr/>
    </dgm:pt>
    <dgm:pt modelId="{8EC5AF5E-9C9F-410A-A755-A3EA5186F948}" cxnId="{1C97174E-D277-4969-BC68-38A0687E7F76}" type="sibTrans">
      <dgm:prSet/>
      <dgm:spPr/>
      <dgm:t>
        <a:bodyPr/>
        <a:p>
          <a:endParaRPr lang="zh-CN" altLang="en-US"/>
        </a:p>
      </dgm:t>
    </dgm:pt>
    <dgm:pt modelId="{2E2F4D3A-969C-4DB2-9FA9-5C4A40369351}">
      <dgm:prSet phldrT="[文本]" phldr="0" custT="0"/>
      <dgm:spPr/>
      <dgm:t>
        <a:bodyPr vert="horz" wrap="square"/>
        <a:p>
          <a:pPr>
            <a:lnSpc>
              <a:spcPct val="100000"/>
            </a:lnSpc>
            <a:spcBef>
              <a:spcPct val="0"/>
            </a:spcBef>
            <a:spcAft>
              <a:spcPct val="35000"/>
            </a:spcAft>
          </a:pPr>
          <a:r>
            <a:rPr lang="en-US" altLang="zh-CN"/>
            <a:t>FFT</a:t>
          </a:r>
          <a:r>
            <a:rPr lang="zh-CN" altLang="en-US"/>
            <a:t/>
          </a:r>
          <a:endParaRPr lang="zh-CN" altLang="en-US"/>
        </a:p>
      </dgm:t>
    </dgm:pt>
    <dgm:pt modelId="{1E934BFE-4D40-486C-8784-F698A10C4CF5}" cxnId="{83891365-F4F4-486F-86A9-3CF5B265F3A1}" type="parTrans">
      <dgm:prSet/>
      <dgm:spPr/>
    </dgm:pt>
    <dgm:pt modelId="{EC1AFF77-9232-4EEB-95CB-85CEAB3B1FC0}" cxnId="{83891365-F4F4-486F-86A9-3CF5B265F3A1}" type="sibTrans">
      <dgm:prSet/>
      <dgm:spPr/>
      <dgm:t>
        <a:bodyPr/>
        <a:p>
          <a:endParaRPr lang="zh-CN" altLang="en-US"/>
        </a:p>
      </dgm:t>
    </dgm:pt>
    <dgm:pt modelId="{37B86CFA-59B5-46FA-8A6B-9FB187CE14DF}">
      <dgm:prSet phldrT="[文本]" phldr="0" custT="0"/>
      <dgm:spPr/>
      <dgm:t>
        <a:bodyPr vert="horz" wrap="square"/>
        <a:p>
          <a:pPr>
            <a:lnSpc>
              <a:spcPct val="100000"/>
            </a:lnSpc>
            <a:spcBef>
              <a:spcPct val="0"/>
            </a:spcBef>
            <a:spcAft>
              <a:spcPct val="35000"/>
            </a:spcAft>
          </a:pPr>
          <a:r>
            <a:rPr lang="en-US" altLang="zh-CN">
              <a:sym typeface="+mn-ea"/>
            </a:rPr>
            <a:t> Mel</a:t>
          </a:r>
          <a:r>
            <a:rPr lang="zh-CN" altLang="en-US">
              <a:sym typeface="+mn-ea"/>
            </a:rPr>
            <a:t>滤波组、</a:t>
          </a:r>
          <a:r>
            <a:rPr lang="zh-CN" altLang="en-US">
              <a:sym typeface="+mn-ea"/>
            </a:rPr>
            <a:t>取对数</a:t>
          </a:r>
          <a:r>
            <a:rPr lang="zh-CN" altLang="en-US"/>
            <a:t/>
          </a:r>
          <a:endParaRPr lang="zh-CN" altLang="en-US"/>
        </a:p>
      </dgm:t>
    </dgm:pt>
    <dgm:pt modelId="{9DABF4F3-A9E6-40B1-A863-AC9409CC14BB}" cxnId="{D3E19D0A-90B4-41B7-BBFE-00DABA9F2563}" type="parTrans">
      <dgm:prSet/>
      <dgm:spPr/>
    </dgm:pt>
    <dgm:pt modelId="{18EFF3C3-47F9-402B-A3F3-E9310EA281B4}" cxnId="{D3E19D0A-90B4-41B7-BBFE-00DABA9F2563}" type="sibTrans">
      <dgm:prSet/>
      <dgm:spPr/>
    </dgm:pt>
    <dgm:pt modelId="{CD3BCB7B-74CB-4008-BDA7-164355FAFE8A}">
      <dgm:prSet phldr="0" custT="0"/>
      <dgm:spPr/>
      <dgm:t>
        <a:bodyPr vert="horz" wrap="square"/>
        <a:p>
          <a:pPr>
            <a:lnSpc>
              <a:spcPct val="100000"/>
            </a:lnSpc>
            <a:spcBef>
              <a:spcPct val="0"/>
            </a:spcBef>
            <a:spcAft>
              <a:spcPct val="35000"/>
            </a:spcAft>
          </a:pPr>
          <a:r>
            <a:rPr lang="en-US"/>
            <a:t>DCT(</a:t>
          </a:r>
          <a:r>
            <a:rPr lang="zh-CN" altLang="en-US"/>
            <a:t>离散余弦变换</a:t>
          </a:r>
          <a:r>
            <a:rPr lang="en-US" altLang="zh-CN"/>
            <a:t>)</a:t>
          </a:r>
          <a:r>
            <a:rPr lang="en-US" altLang="zh-CN"/>
            <a:t/>
          </a:r>
          <a:endParaRPr lang="en-US" altLang="zh-CN"/>
        </a:p>
      </dgm:t>
    </dgm:pt>
    <dgm:pt modelId="{2259ADDA-63A5-4731-9EF0-3A933255148A}" cxnId="{6B55A9B3-473A-4A03-AA04-0CC5E3EC0535}" type="parTrans">
      <dgm:prSet/>
      <dgm:spPr/>
    </dgm:pt>
    <dgm:pt modelId="{C082E6E7-336F-418F-82BA-8695736D212E}" cxnId="{6B55A9B3-473A-4A03-AA04-0CC5E3EC0535}" type="sibTrans">
      <dgm:prSet/>
      <dgm:spPr/>
    </dgm:pt>
    <dgm:pt modelId="{BF708676-7EFC-4C81-9D3A-3E677EAC1C7B}" type="pres">
      <dgm:prSet presAssocID="{8EB1D179-D23D-41D4-AEEF-E4B9FEB06903}" presName="Name0" presStyleCnt="0">
        <dgm:presLayoutVars>
          <dgm:dir/>
          <dgm:resizeHandles val="exact"/>
        </dgm:presLayoutVars>
      </dgm:prSet>
      <dgm:spPr/>
    </dgm:pt>
    <dgm:pt modelId="{111DEAC9-5D4C-4A6A-A44E-082A26F60596}" type="pres">
      <dgm:prSet presAssocID="{3F25DA44-7F3E-4C17-A40B-7F663FDBEA65}" presName="node" presStyleLbl="node1" presStyleIdx="0" presStyleCnt="4">
        <dgm:presLayoutVars>
          <dgm:bulletEnabled val="1"/>
        </dgm:presLayoutVars>
      </dgm:prSet>
      <dgm:spPr/>
    </dgm:pt>
    <dgm:pt modelId="{8A5CF0CE-3323-464D-9C63-05C1BDB053F5}" type="pres">
      <dgm:prSet presAssocID="{8EC5AF5E-9C9F-410A-A755-A3EA5186F948}" presName="sibTrans" presStyleLbl="sibTrans2D1" presStyleIdx="0" presStyleCnt="3"/>
      <dgm:spPr/>
    </dgm:pt>
    <dgm:pt modelId="{5FA465F6-7607-499F-BFB2-52F4E071FB67}" type="pres">
      <dgm:prSet presAssocID="{8EC5AF5E-9C9F-410A-A755-A3EA5186F948}" presName="connectorText" presStyleCnt="0"/>
      <dgm:spPr/>
    </dgm:pt>
    <dgm:pt modelId="{552FB8E7-A5FB-4CC3-94C3-CE0BDF19F9F1}" type="pres">
      <dgm:prSet presAssocID="{2E2F4D3A-969C-4DB2-9FA9-5C4A40369351}" presName="node" presStyleLbl="node1" presStyleIdx="1" presStyleCnt="4">
        <dgm:presLayoutVars>
          <dgm:bulletEnabled val="1"/>
        </dgm:presLayoutVars>
      </dgm:prSet>
      <dgm:spPr/>
    </dgm:pt>
    <dgm:pt modelId="{353C3794-50AA-4D44-83C9-CE28317C3317}" type="pres">
      <dgm:prSet presAssocID="{EC1AFF77-9232-4EEB-95CB-85CEAB3B1FC0}" presName="sibTrans" presStyleLbl="sibTrans2D1" presStyleIdx="1" presStyleCnt="3"/>
      <dgm:spPr/>
    </dgm:pt>
    <dgm:pt modelId="{5AFF040D-0639-4120-9E39-DA822CF9F321}" type="pres">
      <dgm:prSet presAssocID="{EC1AFF77-9232-4EEB-95CB-85CEAB3B1FC0}" presName="connectorText" presStyleCnt="0"/>
      <dgm:spPr/>
    </dgm:pt>
    <dgm:pt modelId="{A1E15D63-E1FF-4A28-A04F-A2B65927BC31}" type="pres">
      <dgm:prSet presAssocID="{37B86CFA-59B5-46FA-8A6B-9FB187CE14DF}" presName="node" presStyleLbl="node1" presStyleIdx="2" presStyleCnt="4">
        <dgm:presLayoutVars>
          <dgm:bulletEnabled val="1"/>
        </dgm:presLayoutVars>
      </dgm:prSet>
      <dgm:spPr/>
    </dgm:pt>
    <dgm:pt modelId="{1A77FADE-EE42-4F62-871C-D97619E5B9B6}" type="pres">
      <dgm:prSet presAssocID="{18EFF3C3-47F9-402B-A3F3-E9310EA281B4}" presName="sibTrans" presStyleLbl="sibTrans2D1" presStyleIdx="2" presStyleCnt="3"/>
      <dgm:spPr/>
    </dgm:pt>
    <dgm:pt modelId="{5C93F2FC-29F6-4F0B-8785-FE314431B761}" type="pres">
      <dgm:prSet presAssocID="{18EFF3C3-47F9-402B-A3F3-E9310EA281B4}" presName="connectorText" presStyleCnt="0"/>
      <dgm:spPr/>
    </dgm:pt>
    <dgm:pt modelId="{738A7790-E6B1-4D66-B56B-E1B3BAA90C3B}" type="pres">
      <dgm:prSet presAssocID="{CD3BCB7B-74CB-4008-BDA7-164355FAFE8A}" presName="node" presStyleLbl="node1" presStyleIdx="3" presStyleCnt="4">
        <dgm:presLayoutVars>
          <dgm:bulletEnabled val="1"/>
        </dgm:presLayoutVars>
      </dgm:prSet>
      <dgm:spPr/>
    </dgm:pt>
  </dgm:ptLst>
  <dgm:cxnLst>
    <dgm:cxn modelId="{1C97174E-D277-4969-BC68-38A0687E7F76}" srcId="{8EB1D179-D23D-41D4-AEEF-E4B9FEB06903}" destId="{3F25DA44-7F3E-4C17-A40B-7F663FDBEA65}" srcOrd="0" destOrd="0" parTransId="{EE9066D1-3403-4469-8E8C-0D40A82430F2}" sibTransId="{8EC5AF5E-9C9F-410A-A755-A3EA5186F948}"/>
    <dgm:cxn modelId="{83891365-F4F4-486F-86A9-3CF5B265F3A1}" srcId="{8EB1D179-D23D-41D4-AEEF-E4B9FEB06903}" destId="{2E2F4D3A-969C-4DB2-9FA9-5C4A40369351}" srcOrd="1" destOrd="0" parTransId="{1E934BFE-4D40-486C-8784-F698A10C4CF5}" sibTransId="{EC1AFF77-9232-4EEB-95CB-85CEAB3B1FC0}"/>
    <dgm:cxn modelId="{D3E19D0A-90B4-41B7-BBFE-00DABA9F2563}" srcId="{8EB1D179-D23D-41D4-AEEF-E4B9FEB06903}" destId="{37B86CFA-59B5-46FA-8A6B-9FB187CE14DF}" srcOrd="2" destOrd="0" parTransId="{9DABF4F3-A9E6-40B1-A863-AC9409CC14BB}" sibTransId="{18EFF3C3-47F9-402B-A3F3-E9310EA281B4}"/>
    <dgm:cxn modelId="{6B55A9B3-473A-4A03-AA04-0CC5E3EC0535}" srcId="{8EB1D179-D23D-41D4-AEEF-E4B9FEB06903}" destId="{CD3BCB7B-74CB-4008-BDA7-164355FAFE8A}" srcOrd="3" destOrd="0" parTransId="{2259ADDA-63A5-4731-9EF0-3A933255148A}" sibTransId="{C082E6E7-336F-418F-82BA-8695736D212E}"/>
    <dgm:cxn modelId="{71734A02-3A2A-4B39-BD2E-4C2F81225875}" type="presOf" srcId="{8EB1D179-D23D-41D4-AEEF-E4B9FEB06903}" destId="{BF708676-7EFC-4C81-9D3A-3E677EAC1C7B}" srcOrd="0" destOrd="0" presId="urn:microsoft.com/office/officeart/2005/8/layout/process1"/>
    <dgm:cxn modelId="{F6097847-C34E-471D-982F-E6FD8293DBAB}" type="presParOf" srcId="{BF708676-7EFC-4C81-9D3A-3E677EAC1C7B}" destId="{111DEAC9-5D4C-4A6A-A44E-082A26F60596}" srcOrd="0" destOrd="0" presId="urn:microsoft.com/office/officeart/2005/8/layout/process1"/>
    <dgm:cxn modelId="{7939E593-7A9E-4327-98C9-67D45A342CAE}" type="presOf" srcId="{3F25DA44-7F3E-4C17-A40B-7F663FDBEA65}" destId="{111DEAC9-5D4C-4A6A-A44E-082A26F60596}" srcOrd="0" destOrd="0" presId="urn:microsoft.com/office/officeart/2005/8/layout/process1"/>
    <dgm:cxn modelId="{EDEE7D46-D335-49C1-BF7B-458C72F3D1AB}" type="presParOf" srcId="{BF708676-7EFC-4C81-9D3A-3E677EAC1C7B}" destId="{8A5CF0CE-3323-464D-9C63-05C1BDB053F5}" srcOrd="1" destOrd="0" presId="urn:microsoft.com/office/officeart/2005/8/layout/process1"/>
    <dgm:cxn modelId="{D95B742F-B73C-4E70-BBF1-F7E2784A153B}" type="presOf" srcId="{8EC5AF5E-9C9F-410A-A755-A3EA5186F948}" destId="{8A5CF0CE-3323-464D-9C63-05C1BDB053F5}" srcOrd="0" destOrd="0" presId="urn:microsoft.com/office/officeart/2005/8/layout/process1"/>
    <dgm:cxn modelId="{1883DFED-13A1-4903-B1DC-68BFEE5B02C9}" type="presParOf" srcId="{8A5CF0CE-3323-464D-9C63-05C1BDB053F5}" destId="{5FA465F6-7607-499F-BFB2-52F4E071FB67}" srcOrd="0" destOrd="1" presId="urn:microsoft.com/office/officeart/2005/8/layout/process1"/>
    <dgm:cxn modelId="{C6086C84-4CA6-4F90-9A55-B5FF3D7A3F83}" type="presOf" srcId="{8EC5AF5E-9C9F-410A-A755-A3EA5186F948}" destId="{5FA465F6-7607-499F-BFB2-52F4E071FB67}" srcOrd="1" destOrd="0" presId="urn:microsoft.com/office/officeart/2005/8/layout/process1"/>
    <dgm:cxn modelId="{854565FA-7CE1-4170-96E5-B4C9A3D21950}" type="presParOf" srcId="{BF708676-7EFC-4C81-9D3A-3E677EAC1C7B}" destId="{552FB8E7-A5FB-4CC3-94C3-CE0BDF19F9F1}" srcOrd="2" destOrd="0" presId="urn:microsoft.com/office/officeart/2005/8/layout/process1"/>
    <dgm:cxn modelId="{CCB51EF2-89CC-4B69-BF8F-E739B0EC6F27}" type="presOf" srcId="{2E2F4D3A-969C-4DB2-9FA9-5C4A40369351}" destId="{552FB8E7-A5FB-4CC3-94C3-CE0BDF19F9F1}" srcOrd="0" destOrd="0" presId="urn:microsoft.com/office/officeart/2005/8/layout/process1"/>
    <dgm:cxn modelId="{D13EEAF6-5BD7-4E91-B3FE-56835DB667CB}" type="presParOf" srcId="{BF708676-7EFC-4C81-9D3A-3E677EAC1C7B}" destId="{353C3794-50AA-4D44-83C9-CE28317C3317}" srcOrd="3" destOrd="0" presId="urn:microsoft.com/office/officeart/2005/8/layout/process1"/>
    <dgm:cxn modelId="{2C41B303-C344-4D3A-8CA0-5815B3A01C42}" type="presOf" srcId="{EC1AFF77-9232-4EEB-95CB-85CEAB3B1FC0}" destId="{353C3794-50AA-4D44-83C9-CE28317C3317}" srcOrd="0" destOrd="0" presId="urn:microsoft.com/office/officeart/2005/8/layout/process1"/>
    <dgm:cxn modelId="{1462CAB4-3C37-41AB-969C-624F15166DAC}" type="presParOf" srcId="{353C3794-50AA-4D44-83C9-CE28317C3317}" destId="{5AFF040D-0639-4120-9E39-DA822CF9F321}" srcOrd="0" destOrd="3" presId="urn:microsoft.com/office/officeart/2005/8/layout/process1"/>
    <dgm:cxn modelId="{366A527D-3E8D-48EE-B1C7-C3FFCBDEDCEE}" type="presOf" srcId="{EC1AFF77-9232-4EEB-95CB-85CEAB3B1FC0}" destId="{5AFF040D-0639-4120-9E39-DA822CF9F321}" srcOrd="1" destOrd="0" presId="urn:microsoft.com/office/officeart/2005/8/layout/process1"/>
    <dgm:cxn modelId="{58F7DE89-9CEB-4E32-9C3F-2EB1718155F1}" type="presParOf" srcId="{BF708676-7EFC-4C81-9D3A-3E677EAC1C7B}" destId="{A1E15D63-E1FF-4A28-A04F-A2B65927BC31}" srcOrd="4" destOrd="0" presId="urn:microsoft.com/office/officeart/2005/8/layout/process1"/>
    <dgm:cxn modelId="{D3C0EB24-C3F6-4AA6-8712-6599AE69CFE6}" type="presOf" srcId="{37B86CFA-59B5-46FA-8A6B-9FB187CE14DF}" destId="{A1E15D63-E1FF-4A28-A04F-A2B65927BC31}" srcOrd="0" destOrd="0" presId="urn:microsoft.com/office/officeart/2005/8/layout/process1"/>
    <dgm:cxn modelId="{01E1CF35-F3CA-492B-A813-06FAACF2E91A}" type="presParOf" srcId="{BF708676-7EFC-4C81-9D3A-3E677EAC1C7B}" destId="{1A77FADE-EE42-4F62-871C-D97619E5B9B6}" srcOrd="5" destOrd="0" presId="urn:microsoft.com/office/officeart/2005/8/layout/process1"/>
    <dgm:cxn modelId="{68214AAF-54B4-456F-894E-52A6BEE3FA5F}" type="presOf" srcId="{18EFF3C3-47F9-402B-A3F3-E9310EA281B4}" destId="{1A77FADE-EE42-4F62-871C-D97619E5B9B6}" srcOrd="0" destOrd="0" presId="urn:microsoft.com/office/officeart/2005/8/layout/process1"/>
    <dgm:cxn modelId="{8B8B62BB-ADCC-45D4-9828-60A875085BEF}" type="presParOf" srcId="{1A77FADE-EE42-4F62-871C-D97619E5B9B6}" destId="{5C93F2FC-29F6-4F0B-8785-FE314431B761}" srcOrd="0" destOrd="5" presId="urn:microsoft.com/office/officeart/2005/8/layout/process1"/>
    <dgm:cxn modelId="{3311A704-839D-4386-84C4-AC3D5326489D}" type="presOf" srcId="{18EFF3C3-47F9-402B-A3F3-E9310EA281B4}" destId="{5C93F2FC-29F6-4F0B-8785-FE314431B761}" srcOrd="1" destOrd="0" presId="urn:microsoft.com/office/officeart/2005/8/layout/process1"/>
    <dgm:cxn modelId="{24C74DA7-306E-4B1C-AE6D-8398E6D42731}" type="presParOf" srcId="{BF708676-7EFC-4C81-9D3A-3E677EAC1C7B}" destId="{738A7790-E6B1-4D66-B56B-E1B3BAA90C3B}" srcOrd="6" destOrd="0" presId="urn:microsoft.com/office/officeart/2005/8/layout/process1"/>
    <dgm:cxn modelId="{6CE46524-8625-4284-A96F-8471487E7641}" type="presOf" srcId="{CD3BCB7B-74CB-4008-BDA7-164355FAFE8A}" destId="{738A7790-E6B1-4D66-B56B-E1B3BAA90C3B}" srcOrd="0"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3DDEC3-4410-4A7B-A08D-B4E398522276}" type="doc">
      <dgm:prSet loTypeId="hierarchy" loCatId="hierarchy" qsTypeId="urn:microsoft.com/office/officeart/2005/8/quickstyle/simple1" qsCatId="simple" csTypeId="urn:microsoft.com/office/officeart/2005/8/colors/accent1_2" csCatId="accent1" phldr="0"/>
      <dgm:spPr/>
      <dgm:t>
        <a:bodyPr/>
        <a:p>
          <a:endParaRPr lang="zh-CN" altLang="en-US"/>
        </a:p>
      </dgm:t>
    </dgm:pt>
    <dgm:pt modelId="{F970B406-3137-445F-A047-960BE6F8F548}">
      <dgm:prSet phldrT="[文本]" phldr="0" custT="1"/>
      <dgm:spPr/>
      <dgm:t>
        <a:bodyPr vert="horz" wrap="square"/>
        <a:p>
          <a:pPr>
            <a:lnSpc>
              <a:spcPct val="100000"/>
            </a:lnSpc>
            <a:spcBef>
              <a:spcPct val="0"/>
            </a:spcBef>
            <a:spcAft>
              <a:spcPct val="35000"/>
            </a:spcAft>
          </a:pPr>
          <a:r>
            <a:rPr lang="zh-CN" altLang="en-US" sz="2800">
              <a:sym typeface="+mn-ea"/>
            </a:rPr>
            <a:t>音频预处理</a:t>
          </a:r>
          <a:r>
            <a:rPr lang="zh-CN" altLang="en-US" sz="2800">
              <a:sym typeface="+mn-ea"/>
            </a:rPr>
            <a:t/>
          </a:r>
          <a:endParaRPr lang="zh-CN" altLang="en-US" sz="2800">
            <a:sym typeface="+mn-ea"/>
          </a:endParaRPr>
        </a:p>
      </dgm:t>
    </dgm:pt>
    <dgm:pt modelId="{DE9920FC-ADF2-43FC-8D66-AB16E15737FC}" cxnId="{B4939B24-F83C-47DD-913B-81FE4BB8ADB2}" type="parTrans">
      <dgm:prSet/>
      <dgm:spPr/>
      <dgm:t>
        <a:bodyPr/>
        <a:p>
          <a:endParaRPr lang="zh-CN" altLang="en-US"/>
        </a:p>
      </dgm:t>
    </dgm:pt>
    <dgm:pt modelId="{A6DBE21A-0230-45DE-A17E-9E9D78667511}" cxnId="{B4939B24-F83C-47DD-913B-81FE4BB8ADB2}" type="sibTrans">
      <dgm:prSet/>
      <dgm:spPr/>
      <dgm:t>
        <a:bodyPr/>
        <a:p>
          <a:endParaRPr lang="zh-CN" altLang="en-US"/>
        </a:p>
      </dgm:t>
    </dgm:pt>
    <dgm:pt modelId="{2199E590-A466-443A-B43D-5CA7DA30B3AC}">
      <dgm:prSet phldrT="[文本]" phldr="0" custT="0"/>
      <dgm:spPr/>
      <dgm:t>
        <a:bodyPr vert="horz" wrap="square"/>
        <a:p>
          <a:pPr>
            <a:lnSpc>
              <a:spcPct val="100000"/>
            </a:lnSpc>
            <a:spcBef>
              <a:spcPct val="0"/>
            </a:spcBef>
            <a:spcAft>
              <a:spcPct val="35000"/>
            </a:spcAft>
          </a:pPr>
          <a:r>
            <a:rPr lang="zh-CN" altLang="en-US">
              <a:sym typeface="+mn-ea"/>
            </a:rPr>
            <a:t>加载音频文件读取音频文件并将其转换为适当的采样率</a:t>
          </a:r>
          <a:r>
            <a:rPr lang="zh-CN" altLang="en-US"/>
            <a:t/>
          </a:r>
          <a:endParaRPr lang="zh-CN" altLang="en-US"/>
        </a:p>
      </dgm:t>
    </dgm:pt>
    <dgm:pt modelId="{0F1D7D4E-BD8E-43C1-8F99-ED496D7A9BB4}" cxnId="{381F74CF-6451-4FF9-B0A7-77A12CF6E018}" type="parTrans">
      <dgm:prSet/>
      <dgm:spPr/>
      <dgm:t>
        <a:bodyPr/>
        <a:p>
          <a:endParaRPr lang="zh-CN" altLang="en-US"/>
        </a:p>
      </dgm:t>
    </dgm:pt>
    <dgm:pt modelId="{49BEF6ED-1342-41F0-807C-53E1906472B9}" cxnId="{381F74CF-6451-4FF9-B0A7-77A12CF6E018}" type="sibTrans">
      <dgm:prSet/>
      <dgm:spPr/>
      <dgm:t>
        <a:bodyPr/>
        <a:p>
          <a:endParaRPr lang="zh-CN" altLang="en-US"/>
        </a:p>
      </dgm:t>
    </dgm:pt>
    <dgm:pt modelId="{6410EC4E-6AA5-4F68-930B-680495E49A0B}">
      <dgm:prSet phldrT="[文本]" phldr="0" custT="0"/>
      <dgm:spPr/>
      <dgm:t>
        <a:bodyPr vert="horz" wrap="square"/>
        <a:p>
          <a:pPr>
            <a:lnSpc>
              <a:spcPct val="100000"/>
            </a:lnSpc>
            <a:spcBef>
              <a:spcPct val="0"/>
            </a:spcBef>
            <a:spcAft>
              <a:spcPct val="35000"/>
            </a:spcAft>
          </a:pPr>
          <a:r>
            <a:rPr lang="zh-CN" altLang="en-US">
              <a:sym typeface="+mn-ea"/>
            </a:rPr>
            <a:t>噪声抑制</a:t>
          </a:r>
          <a:endParaRPr lang="zh-CN" altLang="en-US">
            <a:sym typeface="+mn-ea"/>
          </a:endParaRPr>
        </a:p>
        <a:p>
          <a:pPr>
            <a:lnSpc>
              <a:spcPct val="100000"/>
            </a:lnSpc>
            <a:spcBef>
              <a:spcPct val="0"/>
            </a:spcBef>
            <a:spcAft>
              <a:spcPct val="35000"/>
            </a:spcAft>
          </a:pPr>
          <a:r>
            <a:rPr lang="zh-CN" altLang="en-US">
              <a:sym typeface="+mn-ea"/>
            </a:rPr>
            <a:t>对音频信号进行噪声抑制处理，以减少背景噪声的影响</a:t>
          </a:r>
          <a:r>
            <a:rPr lang="zh-CN" altLang="en-US"/>
            <a:t/>
          </a:r>
          <a:endParaRPr lang="zh-CN" altLang="en-US"/>
        </a:p>
      </dgm:t>
    </dgm:pt>
    <dgm:pt modelId="{23807AB1-DC98-4728-B950-3E60934BA7E7}" cxnId="{A5460104-72BC-44BF-AAD3-7AB7AD0838F0}" type="parTrans">
      <dgm:prSet/>
      <dgm:spPr/>
      <dgm:t>
        <a:bodyPr/>
        <a:p>
          <a:endParaRPr lang="zh-CN" altLang="en-US"/>
        </a:p>
      </dgm:t>
    </dgm:pt>
    <dgm:pt modelId="{B19E9109-E222-453D-A601-BD15100C2B8F}" cxnId="{A5460104-72BC-44BF-AAD3-7AB7AD0838F0}" type="sibTrans">
      <dgm:prSet/>
      <dgm:spPr/>
      <dgm:t>
        <a:bodyPr/>
        <a:p>
          <a:endParaRPr lang="zh-CN" altLang="en-US"/>
        </a:p>
      </dgm:t>
    </dgm:pt>
    <dgm:pt modelId="{867279BA-BE37-4115-B52A-17E4F0F535FD}">
      <dgm:prSet phldrT="[文本]" phldr="0" custT="1"/>
      <dgm:spPr/>
      <dgm:t>
        <a:bodyPr vert="horz" wrap="square"/>
        <a:p>
          <a:pPr>
            <a:lnSpc>
              <a:spcPct val="100000"/>
            </a:lnSpc>
            <a:spcBef>
              <a:spcPct val="0"/>
            </a:spcBef>
            <a:spcAft>
              <a:spcPct val="35000"/>
            </a:spcAft>
          </a:pPr>
          <a:r>
            <a:rPr lang="zh-CN" altLang="en-US" sz="2800">
              <a:sym typeface="+mn-ea"/>
            </a:rPr>
            <a:t>特征提取</a:t>
          </a:r>
          <a:r>
            <a:rPr lang="zh-CN" altLang="en-US" sz="2800">
              <a:sym typeface="+mn-ea"/>
            </a:rPr>
            <a:t/>
          </a:r>
          <a:endParaRPr lang="zh-CN" altLang="en-US" sz="2800">
            <a:sym typeface="+mn-ea"/>
          </a:endParaRPr>
        </a:p>
      </dgm:t>
    </dgm:pt>
    <dgm:pt modelId="{1A4FEF92-68C1-469B-A1A1-5D97CB9FBEDD}" cxnId="{3954F73C-BC54-46B7-B4DE-33B28A5DCD5B}" type="parTrans">
      <dgm:prSet/>
      <dgm:spPr/>
      <dgm:t>
        <a:bodyPr/>
        <a:p>
          <a:endParaRPr lang="zh-CN" altLang="en-US"/>
        </a:p>
      </dgm:t>
    </dgm:pt>
    <dgm:pt modelId="{0FC30822-F791-4477-9BA8-25504EBFECC7}" cxnId="{3954F73C-BC54-46B7-B4DE-33B28A5DCD5B}" type="sibTrans">
      <dgm:prSet/>
      <dgm:spPr/>
      <dgm:t>
        <a:bodyPr/>
        <a:p>
          <a:endParaRPr lang="zh-CN" altLang="en-US"/>
        </a:p>
      </dgm:t>
    </dgm:pt>
    <dgm:pt modelId="{849175CF-F593-437D-924E-CA0E96CBD1E1}">
      <dgm:prSet phldrT="[文本]" phldr="0" custT="0"/>
      <dgm:spPr/>
      <dgm:t>
        <a:bodyPr vert="horz" wrap="square"/>
        <a:p>
          <a:pPr>
            <a:lnSpc>
              <a:spcPct val="100000"/>
            </a:lnSpc>
            <a:spcBef>
              <a:spcPct val="0"/>
            </a:spcBef>
            <a:spcAft>
              <a:spcPct val="35000"/>
            </a:spcAft>
          </a:pPr>
          <a:r>
            <a:rPr lang="zh-CN" altLang="en-US">
              <a:sym typeface="+mn-ea"/>
            </a:rPr>
            <a:t>短时傅里叶变换</a:t>
          </a:r>
          <a:r>
            <a:rPr lang="en-US" altLang="zh-CN">
              <a:sym typeface="+mn-ea"/>
            </a:rPr>
            <a:t>(</a:t>
          </a:r>
          <a:r>
            <a:rPr lang="en-US" altLang="zh-CN">
              <a:sym typeface="+mn-ea"/>
            </a:rPr>
            <a:t>STFT</a:t>
          </a:r>
          <a:r>
            <a:rPr lang="en-US" altLang="zh-CN">
              <a:sym typeface="+mn-ea"/>
            </a:rPr>
            <a:t>)</a:t>
          </a:r>
          <a:r>
            <a:rPr lang="zh-CN" altLang="en-US">
              <a:sym typeface="+mn-ea"/>
            </a:rPr>
            <a:t>将音频信号分割成短时帧，并对每帧进行傅里叶变换</a:t>
          </a:r>
          <a:r>
            <a:rPr lang="zh-CN" altLang="en-US"/>
            <a:t/>
          </a:r>
          <a:endParaRPr lang="zh-CN" altLang="en-US"/>
        </a:p>
      </dgm:t>
    </dgm:pt>
    <dgm:pt modelId="{57380257-9F95-43E2-B330-46970CC8990C}" cxnId="{D2F50CDC-9A43-4D95-BAEE-1CA222D470C5}" type="parTrans">
      <dgm:prSet/>
      <dgm:spPr/>
      <dgm:t>
        <a:bodyPr/>
        <a:p>
          <a:endParaRPr lang="zh-CN" altLang="en-US"/>
        </a:p>
      </dgm:t>
    </dgm:pt>
    <dgm:pt modelId="{6A3A148F-286C-48E5-8F1A-D937B12918BD}" cxnId="{D2F50CDC-9A43-4D95-BAEE-1CA222D470C5}" type="sibTrans">
      <dgm:prSet/>
      <dgm:spPr/>
      <dgm:t>
        <a:bodyPr/>
        <a:p>
          <a:endParaRPr lang="zh-CN" altLang="en-US"/>
        </a:p>
      </dgm:t>
    </dgm:pt>
    <dgm:pt modelId="{8C757F7A-BF47-479A-973F-2852BB847704}">
      <dgm:prSet phldrT="[文本]" phldr="0" custT="0"/>
      <dgm:spPr/>
      <dgm:t>
        <a:bodyPr vert="horz" wrap="square"/>
        <a:p>
          <a:pPr>
            <a:lnSpc>
              <a:spcPct val="100000"/>
            </a:lnSpc>
            <a:spcBef>
              <a:spcPct val="0"/>
            </a:spcBef>
            <a:spcAft>
              <a:spcPct val="35000"/>
            </a:spcAft>
          </a:pPr>
          <a:r>
            <a:rPr lang="zh-CN" altLang="en-US">
              <a:sym typeface="+mn-ea"/>
            </a:rPr>
            <a:t>梅尔频率倒谱系数</a:t>
          </a:r>
          <a:r>
            <a:rPr lang="en-US" altLang="zh-CN">
              <a:sym typeface="+mn-ea"/>
            </a:rPr>
            <a:t>(</a:t>
          </a:r>
          <a:r>
            <a:rPr lang="en-US" altLang="zh-CN">
              <a:sym typeface="+mn-ea"/>
            </a:rPr>
            <a:t>MFCC)</a:t>
          </a:r>
          <a:r>
            <a:rPr lang="zh-CN" altLang="en-US">
              <a:sym typeface="+mn-ea"/>
            </a:rPr>
            <a:t/>
          </a:r>
          <a:endParaRPr lang="zh-CN" altLang="en-US">
            <a:sym typeface="+mn-ea"/>
          </a:endParaRPr>
        </a:p>
        <a:p>
          <a:pPr>
            <a:lnSpc>
              <a:spcPct val="100000"/>
            </a:lnSpc>
            <a:spcBef>
              <a:spcPct val="0"/>
            </a:spcBef>
            <a:spcAft>
              <a:spcPct val="35000"/>
            </a:spcAft>
          </a:pPr>
          <a:r>
            <a:rPr lang="zh-CN" altLang="en-US">
              <a:sym typeface="+mn-ea"/>
            </a:rPr>
            <a:t>从每一帧的频谱中提取</a:t>
          </a:r>
          <a:r>
            <a:rPr lang="en-US" altLang="zh-CN">
              <a:sym typeface="+mn-ea"/>
            </a:rPr>
            <a:t> MFCC </a:t>
          </a:r>
          <a:r>
            <a:rPr lang="zh-CN" altLang="en-US">
              <a:sym typeface="+mn-ea"/>
            </a:rPr>
            <a:t>特征，这些特征模拟了人耳对声音</a:t>
          </a:r>
          <a:r>
            <a:rPr lang="en-US" altLang="zh-CN">
              <a:sym typeface="+mn-ea"/>
            </a:rPr>
            <a:t>   </a:t>
          </a:r>
          <a:r>
            <a:rPr lang="zh-CN" altLang="en-US">
              <a:sym typeface="+mn-ea"/>
            </a:rPr>
            <a:t>的感知方式</a:t>
          </a:r>
          <a:r>
            <a:rPr lang="zh-CN" altLang="en-US"/>
            <a:t/>
          </a:r>
          <a:endParaRPr lang="zh-CN" altLang="en-US"/>
        </a:p>
      </dgm:t>
    </dgm:pt>
    <dgm:pt modelId="{672BD303-3035-4BAD-BC56-6E34D1C63F93}" cxnId="{14818429-1C7D-4466-8C18-93762A47CCBC}" type="parTrans">
      <dgm:prSet/>
      <dgm:spPr/>
      <dgm:t>
        <a:bodyPr/>
        <a:p>
          <a:endParaRPr lang="zh-CN" altLang="en-US"/>
        </a:p>
      </dgm:t>
    </dgm:pt>
    <dgm:pt modelId="{BB43DD45-D574-4499-816C-77E724CFB04C}" cxnId="{14818429-1C7D-4466-8C18-93762A47CCBC}" type="sibTrans">
      <dgm:prSet/>
      <dgm:spPr/>
      <dgm:t>
        <a:bodyPr/>
        <a:p>
          <a:endParaRPr lang="zh-CN" altLang="en-US"/>
        </a:p>
      </dgm:t>
    </dgm:pt>
    <dgm:pt modelId="{4CC4A29F-F4CC-4DD5-8763-0DE712EBF1A0}">
      <dgm:prSet phldr="0" custT="1"/>
      <dgm:spPr/>
      <dgm:t>
        <a:bodyPr vert="horz" wrap="square"/>
        <a:p>
          <a:pPr>
            <a:lnSpc>
              <a:spcPct val="100000"/>
            </a:lnSpc>
            <a:spcBef>
              <a:spcPct val="0"/>
            </a:spcBef>
            <a:spcAft>
              <a:spcPct val="35000"/>
            </a:spcAft>
          </a:pPr>
          <a:r>
            <a:rPr sz="2800">
              <a:sym typeface="+mn-ea"/>
            </a:rPr>
            <a:t>聚</a:t>
          </a:r>
          <a:r>
            <a:rPr lang="zh-CN" altLang="en-US" sz="2800">
              <a:sym typeface="+mn-ea"/>
            </a:rPr>
            <a:t>类分析</a:t>
          </a:r>
          <a:r>
            <a:rPr lang="zh-CN" altLang="en-US" sz="2800"/>
            <a:t/>
          </a:r>
          <a:endParaRPr lang="zh-CN" altLang="en-US" sz="2800"/>
        </a:p>
      </dgm:t>
    </dgm:pt>
    <dgm:pt modelId="{6D492F70-D2F1-40EA-95A1-B6F7D33FA7DE}" cxnId="{12E605DE-802E-4759-9A99-F66DCCAC3562}" type="parTrans">
      <dgm:prSet/>
      <dgm:spPr/>
    </dgm:pt>
    <dgm:pt modelId="{D8F16243-EAFD-4949-9420-0C8155A13996}" cxnId="{12E605DE-802E-4759-9A99-F66DCCAC3562}" type="sibTrans">
      <dgm:prSet/>
      <dgm:spPr/>
    </dgm:pt>
    <dgm:pt modelId="{A7A537C9-4B08-41D3-80E5-F8C02344F110}">
      <dgm:prSet phldr="0" custT="0"/>
      <dgm:spPr/>
      <dgm:t>
        <a:bodyPr vert="horz" wrap="square"/>
        <a:p>
          <a:pPr>
            <a:lnSpc>
              <a:spcPct val="100000"/>
            </a:lnSpc>
            <a:spcBef>
              <a:spcPct val="0"/>
            </a:spcBef>
            <a:spcAft>
              <a:spcPct val="35000"/>
            </a:spcAft>
          </a:pPr>
          <a:r>
            <a:rPr>
              <a:sym typeface="+mn-ea"/>
            </a:rPr>
            <a:t>K</a:t>
          </a:r>
          <a:r>
            <a:rPr lang="en-US" altLang="zh-CN">
              <a:sym typeface="+mn-ea"/>
            </a:rPr>
            <a:t>Means </a:t>
          </a:r>
          <a:r>
            <a:rPr>
              <a:sym typeface="+mn-ea"/>
            </a:rPr>
            <a:t>聚</a:t>
          </a:r>
          <a:r>
            <a:rPr lang="zh-CN" altLang="en-US">
              <a:sym typeface="+mn-ea"/>
            </a:rPr>
            <a:t>类</a:t>
          </a:r>
          <a:endParaRPr lang="zh-CN" altLang="en-US">
            <a:sym typeface="+mn-ea"/>
          </a:endParaRPr>
        </a:p>
        <a:p>
          <a:pPr>
            <a:lnSpc>
              <a:spcPct val="100000"/>
            </a:lnSpc>
            <a:spcBef>
              <a:spcPct val="0"/>
            </a:spcBef>
            <a:spcAft>
              <a:spcPct val="35000"/>
            </a:spcAft>
          </a:pPr>
          <a:r>
            <a:rPr lang="zh-CN" altLang="en-US">
              <a:sym typeface="+mn-ea"/>
            </a:rPr>
            <a:t>对提取的</a:t>
          </a:r>
          <a:r>
            <a:rPr>
              <a:sym typeface="+mn-ea"/>
            </a:rPr>
            <a:t> </a:t>
          </a:r>
          <a:r>
            <a:rPr lang="en-US" altLang="zh-CN">
              <a:sym typeface="+mn-ea"/>
            </a:rPr>
            <a:t>MFCC </a:t>
          </a:r>
          <a:r>
            <a:rPr>
              <a:sym typeface="+mn-ea"/>
            </a:rPr>
            <a:t>特</a:t>
          </a:r>
          <a:r>
            <a:rPr lang="zh-CN" altLang="en-US">
              <a:sym typeface="+mn-ea"/>
            </a:rPr>
            <a:t>征进行</a:t>
          </a:r>
          <a:r>
            <a:rPr>
              <a:sym typeface="+mn-ea"/>
            </a:rPr>
            <a:t> </a:t>
          </a:r>
          <a:r>
            <a:rPr lang="en-US" altLang="zh-CN">
              <a:sym typeface="+mn-ea"/>
            </a:rPr>
            <a:t>KMeans </a:t>
          </a:r>
          <a:r>
            <a:rPr>
              <a:sym typeface="+mn-ea"/>
            </a:rPr>
            <a:t>聚</a:t>
          </a:r>
          <a:r>
            <a:rPr lang="zh-CN" altLang="en-US">
              <a:sym typeface="+mn-ea"/>
            </a:rPr>
            <a:t>类，将特征分为语音和非语音两类</a:t>
          </a:r>
          <a:r>
            <a:rPr lang="zh-CN" altLang="en-US"/>
            <a:t/>
          </a:r>
          <a:endParaRPr lang="zh-CN" altLang="en-US"/>
        </a:p>
      </dgm:t>
    </dgm:pt>
    <dgm:pt modelId="{C389F766-9DF4-4347-807E-5B48D23E5161}" cxnId="{AB5B41E9-95C4-4C93-B2AA-D077081CF244}" type="parTrans">
      <dgm:prSet/>
      <dgm:spPr/>
    </dgm:pt>
    <dgm:pt modelId="{79705DAA-537E-42D8-8498-347A5E571706}" cxnId="{AB5B41E9-95C4-4C93-B2AA-D077081CF244}" type="sibTrans">
      <dgm:prSet/>
      <dgm:spPr/>
    </dgm:pt>
    <dgm:pt modelId="{6018FB15-0495-4A2A-B0AD-188998601057}">
      <dgm:prSet phldr="0" custT="0"/>
      <dgm:spPr/>
      <dgm:t>
        <a:bodyPr vert="horz" wrap="square"/>
        <a:p>
          <a:pPr>
            <a:lnSpc>
              <a:spcPct val="100000"/>
            </a:lnSpc>
            <a:spcBef>
              <a:spcPct val="0"/>
            </a:spcBef>
            <a:spcAft>
              <a:spcPct val="35000"/>
            </a:spcAft>
          </a:pPr>
          <a:r>
            <a:rPr>
              <a:sym typeface="+mn-ea"/>
            </a:rPr>
            <a:t>高</a:t>
          </a:r>
          <a:r>
            <a:rPr lang="zh-CN" altLang="en-US">
              <a:sym typeface="+mn-ea"/>
            </a:rPr>
            <a:t>斯混合模型</a:t>
          </a:r>
          <a:r>
            <a:rPr lang="en-US" altLang="zh-CN">
              <a:sym typeface="+mn-ea"/>
            </a:rPr>
            <a:t>(</a:t>
          </a:r>
          <a:r>
            <a:rPr>
              <a:sym typeface="+mn-ea"/>
            </a:rPr>
            <a:t>G</a:t>
          </a:r>
          <a:r>
            <a:rPr lang="en-US" altLang="zh-CN">
              <a:sym typeface="+mn-ea"/>
            </a:rPr>
            <a:t>MM)</a:t>
          </a:r>
          <a:r>
            <a:rPr lang="zh-CN" altLang="en-US">
              <a:sym typeface="+mn-ea"/>
            </a:rPr>
            <a:t>聚类（可选）</a:t>
          </a:r>
          <a:endParaRPr lang="zh-CN" altLang="en-US">
            <a:sym typeface="+mn-ea"/>
          </a:endParaRPr>
        </a:p>
        <a:p>
          <a:pPr>
            <a:lnSpc>
              <a:spcPct val="100000"/>
            </a:lnSpc>
            <a:spcBef>
              <a:spcPct val="0"/>
            </a:spcBef>
            <a:spcAft>
              <a:spcPct val="35000"/>
            </a:spcAft>
          </a:pPr>
          <a:r>
            <a:rPr lang="zh-CN" altLang="en-US">
              <a:sym typeface="+mn-ea"/>
            </a:rPr>
            <a:t>使用</a:t>
          </a:r>
          <a:r>
            <a:rPr>
              <a:sym typeface="+mn-ea"/>
            </a:rPr>
            <a:t> </a:t>
          </a:r>
          <a:r>
            <a:rPr lang="en-US" altLang="zh-CN">
              <a:sym typeface="+mn-ea"/>
            </a:rPr>
            <a:t>GMM </a:t>
          </a:r>
          <a:r>
            <a:rPr>
              <a:sym typeface="+mn-ea"/>
            </a:rPr>
            <a:t>对</a:t>
          </a:r>
          <a:r>
            <a:rPr lang="zh-CN" altLang="en-US">
              <a:sym typeface="+mn-ea"/>
            </a:rPr>
            <a:t>特征进行聚类分析，作为</a:t>
          </a:r>
          <a:r>
            <a:rPr>
              <a:sym typeface="+mn-ea"/>
            </a:rPr>
            <a:t> </a:t>
          </a:r>
          <a:r>
            <a:rPr lang="en-US" altLang="zh-CN">
              <a:sym typeface="+mn-ea"/>
            </a:rPr>
            <a:t>KMeans </a:t>
          </a:r>
          <a:r>
            <a:rPr>
              <a:sym typeface="+mn-ea"/>
            </a:rPr>
            <a:t>聚</a:t>
          </a:r>
          <a:r>
            <a:rPr lang="zh-CN" altLang="en-US">
              <a:sym typeface="+mn-ea"/>
            </a:rPr>
            <a:t>类的替代方法</a:t>
          </a:r>
          <a:r>
            <a:rPr lang="zh-CN" altLang="en-US"/>
            <a:t/>
          </a:r>
          <a:endParaRPr lang="zh-CN" altLang="en-US"/>
        </a:p>
      </dgm:t>
    </dgm:pt>
    <dgm:pt modelId="{B9DFCCB5-0981-43E8-9980-F509C7765F50}" cxnId="{1F75F7E1-7268-42E5-9E38-56670F05EF20}" type="parTrans">
      <dgm:prSet/>
      <dgm:spPr/>
    </dgm:pt>
    <dgm:pt modelId="{E8623AE2-AD02-4DE4-814F-C94F04040AA3}" cxnId="{1F75F7E1-7268-42E5-9E38-56670F05EF20}" type="sibTrans">
      <dgm:prSet/>
      <dgm:spPr/>
    </dgm:pt>
    <dgm:pt modelId="{BA99965A-2D40-4D79-8990-EDFF24C85EE8}" type="pres">
      <dgm:prSet presAssocID="{8C3DDEC3-4410-4A7B-A08D-B4E398522276}" presName="diagram" presStyleCnt="0">
        <dgm:presLayoutVars>
          <dgm:chPref val="1"/>
          <dgm:dir/>
          <dgm:animOne val="branch"/>
          <dgm:animLvl val="lvl"/>
          <dgm:resizeHandles/>
        </dgm:presLayoutVars>
      </dgm:prSet>
      <dgm:spPr/>
    </dgm:pt>
    <dgm:pt modelId="{687F4677-56D9-46C1-8D8A-E79069C61FEF}" type="pres">
      <dgm:prSet presAssocID="{F970B406-3137-445F-A047-960BE6F8F548}" presName="root" presStyleCnt="0"/>
      <dgm:spPr/>
    </dgm:pt>
    <dgm:pt modelId="{A0242BD7-40EC-4B30-A4E6-F6CADB9C4AF7}" type="pres">
      <dgm:prSet presAssocID="{F970B406-3137-445F-A047-960BE6F8F548}" presName="rootComposite" presStyleCnt="0"/>
      <dgm:spPr/>
    </dgm:pt>
    <dgm:pt modelId="{F7165120-5FFC-451F-A676-9DCAA5026EF0}" type="pres">
      <dgm:prSet presAssocID="{F970B406-3137-445F-A047-960BE6F8F548}" presName="rootText" presStyleLbl="node1" presStyleIdx="0" presStyleCnt="3"/>
      <dgm:spPr/>
    </dgm:pt>
    <dgm:pt modelId="{76A4EA41-4C04-4672-9E66-C332C13D0A8A}" type="pres">
      <dgm:prSet presAssocID="{F970B406-3137-445F-A047-960BE6F8F548}" presName="rootConnector" presStyleCnt="0"/>
      <dgm:spPr/>
    </dgm:pt>
    <dgm:pt modelId="{F8EA77B5-FD36-4D9F-8881-E02597338EBD}" type="pres">
      <dgm:prSet presAssocID="{F970B406-3137-445F-A047-960BE6F8F548}" presName="childShape" presStyleCnt="0"/>
      <dgm:spPr/>
    </dgm:pt>
    <dgm:pt modelId="{A8F86FA2-285E-4466-A13D-4ECC369B5275}" type="pres">
      <dgm:prSet presAssocID="{0F1D7D4E-BD8E-43C1-8F99-ED496D7A9BB4}" presName="Name13" presStyleLbl="parChTrans1D2" presStyleIdx="0" presStyleCnt="6"/>
      <dgm:spPr/>
    </dgm:pt>
    <dgm:pt modelId="{8402CCB8-5F3F-4B37-9533-2CEF8B977F02}" type="pres">
      <dgm:prSet presAssocID="{2199E590-A466-443A-B43D-5CA7DA30B3AC}" presName="childText" presStyleLbl="bgAcc1" presStyleIdx="0" presStyleCnt="6">
        <dgm:presLayoutVars>
          <dgm:bulletEnabled val="1"/>
        </dgm:presLayoutVars>
      </dgm:prSet>
      <dgm:spPr/>
    </dgm:pt>
    <dgm:pt modelId="{6FC5009F-DE3F-4EA7-8B97-755BF90691C6}" type="pres">
      <dgm:prSet presAssocID="{23807AB1-DC98-4728-B950-3E60934BA7E7}" presName="Name13" presStyleLbl="parChTrans1D2" presStyleIdx="1" presStyleCnt="6"/>
      <dgm:spPr/>
    </dgm:pt>
    <dgm:pt modelId="{8ED2A45B-0F28-4738-BACC-E7567F498BC0}" type="pres">
      <dgm:prSet presAssocID="{6410EC4E-6AA5-4F68-930B-680495E49A0B}" presName="childText" presStyleLbl="bgAcc1" presStyleIdx="1" presStyleCnt="6">
        <dgm:presLayoutVars>
          <dgm:bulletEnabled val="1"/>
        </dgm:presLayoutVars>
      </dgm:prSet>
      <dgm:spPr/>
    </dgm:pt>
    <dgm:pt modelId="{3172787D-DB04-43ED-8026-C65F67B371C2}" type="pres">
      <dgm:prSet presAssocID="{867279BA-BE37-4115-B52A-17E4F0F535FD}" presName="root" presStyleCnt="0"/>
      <dgm:spPr/>
    </dgm:pt>
    <dgm:pt modelId="{5E7B529B-3791-4C92-8A8D-42B5FE64B1B8}" type="pres">
      <dgm:prSet presAssocID="{867279BA-BE37-4115-B52A-17E4F0F535FD}" presName="rootComposite" presStyleCnt="0"/>
      <dgm:spPr/>
    </dgm:pt>
    <dgm:pt modelId="{E3FF03EB-8647-4636-BC5C-E9BEC6C29553}" type="pres">
      <dgm:prSet presAssocID="{867279BA-BE37-4115-B52A-17E4F0F535FD}" presName="rootText" presStyleLbl="node1" presStyleIdx="1" presStyleCnt="3"/>
      <dgm:spPr/>
    </dgm:pt>
    <dgm:pt modelId="{020E4746-3A8C-42B4-AC17-0FB7CA4B2811}" type="pres">
      <dgm:prSet presAssocID="{867279BA-BE37-4115-B52A-17E4F0F535FD}" presName="rootConnector" presStyleCnt="0"/>
      <dgm:spPr/>
    </dgm:pt>
    <dgm:pt modelId="{A994A7C3-AEF7-4426-B7EF-877C67834B7F}" type="pres">
      <dgm:prSet presAssocID="{867279BA-BE37-4115-B52A-17E4F0F535FD}" presName="childShape" presStyleCnt="0"/>
      <dgm:spPr/>
    </dgm:pt>
    <dgm:pt modelId="{3F5EB287-4C34-456C-B985-2B774B3D9EF1}" type="pres">
      <dgm:prSet presAssocID="{57380257-9F95-43E2-B330-46970CC8990C}" presName="Name13" presStyleLbl="parChTrans1D2" presStyleIdx="2" presStyleCnt="6"/>
      <dgm:spPr/>
    </dgm:pt>
    <dgm:pt modelId="{A9454E12-1A81-4CCD-AB01-CC69284C8769}" type="pres">
      <dgm:prSet presAssocID="{849175CF-F593-437D-924E-CA0E96CBD1E1}" presName="childText" presStyleLbl="bgAcc1" presStyleIdx="2" presStyleCnt="6" custLinFactNeighborY="-57">
        <dgm:presLayoutVars>
          <dgm:bulletEnabled val="1"/>
        </dgm:presLayoutVars>
      </dgm:prSet>
      <dgm:spPr/>
    </dgm:pt>
    <dgm:pt modelId="{56903B70-44BE-4DEE-B3D8-8D6F309E69EE}" type="pres">
      <dgm:prSet presAssocID="{672BD303-3035-4BAD-BC56-6E34D1C63F93}" presName="Name13" presStyleLbl="parChTrans1D2" presStyleIdx="3" presStyleCnt="6"/>
      <dgm:spPr/>
    </dgm:pt>
    <dgm:pt modelId="{CD3CDA12-D3B0-45EC-A723-612A0493B711}" type="pres">
      <dgm:prSet presAssocID="{8C757F7A-BF47-479A-973F-2852BB847704}" presName="childText" presStyleLbl="bgAcc1" presStyleIdx="3" presStyleCnt="6">
        <dgm:presLayoutVars>
          <dgm:bulletEnabled val="1"/>
        </dgm:presLayoutVars>
      </dgm:prSet>
      <dgm:spPr/>
    </dgm:pt>
    <dgm:pt modelId="{7DE1E8E5-94CD-45F0-A9DA-8FBDA41409B7}" type="pres">
      <dgm:prSet presAssocID="{4CC4A29F-F4CC-4DD5-8763-0DE712EBF1A0}" presName="root" presStyleCnt="0"/>
      <dgm:spPr/>
    </dgm:pt>
    <dgm:pt modelId="{D8FBD1B0-DE4F-418F-9BC6-FF0286E3AF18}" type="pres">
      <dgm:prSet presAssocID="{4CC4A29F-F4CC-4DD5-8763-0DE712EBF1A0}" presName="rootComposite" presStyleCnt="0"/>
      <dgm:spPr/>
    </dgm:pt>
    <dgm:pt modelId="{5309B0D1-99FF-40CC-A1D9-0B023ECD9E1E}" type="pres">
      <dgm:prSet presAssocID="{4CC4A29F-F4CC-4DD5-8763-0DE712EBF1A0}" presName="rootText" presStyleLbl="node1" presStyleIdx="2" presStyleCnt="3"/>
      <dgm:spPr/>
    </dgm:pt>
    <dgm:pt modelId="{656A9787-E6C5-4A37-A5A6-025E8C00CEF0}" type="pres">
      <dgm:prSet presAssocID="{4CC4A29F-F4CC-4DD5-8763-0DE712EBF1A0}" presName="rootConnector" presStyleCnt="0"/>
      <dgm:spPr/>
    </dgm:pt>
    <dgm:pt modelId="{32B15A97-B57D-4B9D-B599-4E04E25692B2}" type="pres">
      <dgm:prSet presAssocID="{4CC4A29F-F4CC-4DD5-8763-0DE712EBF1A0}" presName="childShape" presStyleCnt="0"/>
      <dgm:spPr/>
    </dgm:pt>
    <dgm:pt modelId="{1F8B2B7F-451F-4822-BD29-EC2E46C28DEB}" type="pres">
      <dgm:prSet presAssocID="{C389F766-9DF4-4347-807E-5B48D23E5161}" presName="Name13" presStyleLbl="parChTrans1D2" presStyleIdx="4" presStyleCnt="6"/>
      <dgm:spPr/>
    </dgm:pt>
    <dgm:pt modelId="{D5FBB9E3-B789-4287-8A4B-763E6CC9990D}" type="pres">
      <dgm:prSet presAssocID="{A7A537C9-4B08-41D3-80E5-F8C02344F110}" presName="childText" presStyleLbl="bgAcc1" presStyleIdx="4" presStyleCnt="6">
        <dgm:presLayoutVars>
          <dgm:bulletEnabled val="1"/>
        </dgm:presLayoutVars>
      </dgm:prSet>
      <dgm:spPr/>
    </dgm:pt>
    <dgm:pt modelId="{288BCB88-8815-4BD2-9DC2-A2C75C72C378}" type="pres">
      <dgm:prSet presAssocID="{B9DFCCB5-0981-43E8-9980-F509C7765F50}" presName="Name13" presStyleLbl="parChTrans1D2" presStyleIdx="5" presStyleCnt="6"/>
      <dgm:spPr/>
    </dgm:pt>
    <dgm:pt modelId="{3A850846-9D19-439E-95DC-B755CC0167E0}" type="pres">
      <dgm:prSet presAssocID="{6018FB15-0495-4A2A-B0AD-188998601057}" presName="childText" presStyleLbl="bgAcc1" presStyleIdx="5" presStyleCnt="6">
        <dgm:presLayoutVars>
          <dgm:bulletEnabled val="1"/>
        </dgm:presLayoutVars>
      </dgm:prSet>
      <dgm:spPr/>
    </dgm:pt>
  </dgm:ptLst>
  <dgm:cxnLst>
    <dgm:cxn modelId="{B4939B24-F83C-47DD-913B-81FE4BB8ADB2}" srcId="{8C3DDEC3-4410-4A7B-A08D-B4E398522276}" destId="{F970B406-3137-445F-A047-960BE6F8F548}" srcOrd="0" destOrd="0" parTransId="{DE9920FC-ADF2-43FC-8D66-AB16E15737FC}" sibTransId="{A6DBE21A-0230-45DE-A17E-9E9D78667511}"/>
    <dgm:cxn modelId="{381F74CF-6451-4FF9-B0A7-77A12CF6E018}" srcId="{F970B406-3137-445F-A047-960BE6F8F548}" destId="{2199E590-A466-443A-B43D-5CA7DA30B3AC}" srcOrd="0" destOrd="0" parTransId="{0F1D7D4E-BD8E-43C1-8F99-ED496D7A9BB4}" sibTransId="{49BEF6ED-1342-41F0-807C-53E1906472B9}"/>
    <dgm:cxn modelId="{A5460104-72BC-44BF-AAD3-7AB7AD0838F0}" srcId="{F970B406-3137-445F-A047-960BE6F8F548}" destId="{6410EC4E-6AA5-4F68-930B-680495E49A0B}" srcOrd="1" destOrd="0" parTransId="{23807AB1-DC98-4728-B950-3E60934BA7E7}" sibTransId="{B19E9109-E222-453D-A601-BD15100C2B8F}"/>
    <dgm:cxn modelId="{3954F73C-BC54-46B7-B4DE-33B28A5DCD5B}" srcId="{8C3DDEC3-4410-4A7B-A08D-B4E398522276}" destId="{867279BA-BE37-4115-B52A-17E4F0F535FD}" srcOrd="1" destOrd="0" parTransId="{1A4FEF92-68C1-469B-A1A1-5D97CB9FBEDD}" sibTransId="{0FC30822-F791-4477-9BA8-25504EBFECC7}"/>
    <dgm:cxn modelId="{D2F50CDC-9A43-4D95-BAEE-1CA222D470C5}" srcId="{867279BA-BE37-4115-B52A-17E4F0F535FD}" destId="{849175CF-F593-437D-924E-CA0E96CBD1E1}" srcOrd="0" destOrd="1" parTransId="{57380257-9F95-43E2-B330-46970CC8990C}" sibTransId="{6A3A148F-286C-48E5-8F1A-D937B12918BD}"/>
    <dgm:cxn modelId="{14818429-1C7D-4466-8C18-93762A47CCBC}" srcId="{867279BA-BE37-4115-B52A-17E4F0F535FD}" destId="{8C757F7A-BF47-479A-973F-2852BB847704}" srcOrd="1" destOrd="1" parTransId="{672BD303-3035-4BAD-BC56-6E34D1C63F93}" sibTransId="{BB43DD45-D574-4499-816C-77E724CFB04C}"/>
    <dgm:cxn modelId="{12E605DE-802E-4759-9A99-F66DCCAC3562}" srcId="{8C3DDEC3-4410-4A7B-A08D-B4E398522276}" destId="{4CC4A29F-F4CC-4DD5-8763-0DE712EBF1A0}" srcOrd="2" destOrd="0" parTransId="{6D492F70-D2F1-40EA-95A1-B6F7D33FA7DE}" sibTransId="{D8F16243-EAFD-4949-9420-0C8155A13996}"/>
    <dgm:cxn modelId="{AB5B41E9-95C4-4C93-B2AA-D077081CF244}" srcId="{4CC4A29F-F4CC-4DD5-8763-0DE712EBF1A0}" destId="{A7A537C9-4B08-41D3-80E5-F8C02344F110}" srcOrd="0" destOrd="2" parTransId="{C389F766-9DF4-4347-807E-5B48D23E5161}" sibTransId="{79705DAA-537E-42D8-8498-347A5E571706}"/>
    <dgm:cxn modelId="{1F75F7E1-7268-42E5-9E38-56670F05EF20}" srcId="{4CC4A29F-F4CC-4DD5-8763-0DE712EBF1A0}" destId="{6018FB15-0495-4A2A-B0AD-188998601057}" srcOrd="1" destOrd="2" parTransId="{B9DFCCB5-0981-43E8-9980-F509C7765F50}" sibTransId="{E8623AE2-AD02-4DE4-814F-C94F04040AA3}"/>
    <dgm:cxn modelId="{5477BC0C-4E75-46A8-A964-6A1D8386A9B5}" type="presOf" srcId="{8C3DDEC3-4410-4A7B-A08D-B4E398522276}" destId="{BA99965A-2D40-4D79-8990-EDFF24C85EE8}" srcOrd="0" destOrd="0" presId="urn:microsoft.com/office/officeart/2005/8/layout/hierarchy3"/>
    <dgm:cxn modelId="{9D43ACEB-463B-4435-A385-45BEBE45F13F}" type="presParOf" srcId="{BA99965A-2D40-4D79-8990-EDFF24C85EE8}" destId="{687F4677-56D9-46C1-8D8A-E79069C61FEF}" srcOrd="0" destOrd="0" presId="urn:microsoft.com/office/officeart/2005/8/layout/hierarchy3"/>
    <dgm:cxn modelId="{E76EE17F-1AA8-4392-B0E4-9C8096E276DF}" type="presParOf" srcId="{687F4677-56D9-46C1-8D8A-E79069C61FEF}" destId="{A0242BD7-40EC-4B30-A4E6-F6CADB9C4AF7}" srcOrd="0" destOrd="0" presId="urn:microsoft.com/office/officeart/2005/8/layout/hierarchy3"/>
    <dgm:cxn modelId="{91D2CC40-B9EA-4B43-ADAD-CAFCF4A8B0E6}" type="presOf" srcId="{F970B406-3137-445F-A047-960BE6F8F548}" destId="{A0242BD7-40EC-4B30-A4E6-F6CADB9C4AF7}" srcOrd="0" destOrd="0" presId="urn:microsoft.com/office/officeart/2005/8/layout/hierarchy3"/>
    <dgm:cxn modelId="{4F675985-20D4-4675-9604-FAC2441E3A6A}" type="presParOf" srcId="{A0242BD7-40EC-4B30-A4E6-F6CADB9C4AF7}" destId="{F7165120-5FFC-451F-A676-9DCAA5026EF0}" srcOrd="0" destOrd="0" presId="urn:microsoft.com/office/officeart/2005/8/layout/hierarchy3"/>
    <dgm:cxn modelId="{7A2EC7D5-41C6-44AD-B5A2-7344DB1B7BDB}" type="presOf" srcId="{F970B406-3137-445F-A047-960BE6F8F548}" destId="{F7165120-5FFC-451F-A676-9DCAA5026EF0}" srcOrd="0" destOrd="0" presId="urn:microsoft.com/office/officeart/2005/8/layout/hierarchy3"/>
    <dgm:cxn modelId="{23B29FAA-F739-4795-83B8-B3E932E6D7E8}" type="presParOf" srcId="{A0242BD7-40EC-4B30-A4E6-F6CADB9C4AF7}" destId="{76A4EA41-4C04-4672-9E66-C332C13D0A8A}" srcOrd="1" destOrd="0" presId="urn:microsoft.com/office/officeart/2005/8/layout/hierarchy3"/>
    <dgm:cxn modelId="{61850DB7-12F3-4359-B3B4-5B606F16D492}" type="presOf" srcId="{F970B406-3137-445F-A047-960BE6F8F548}" destId="{76A4EA41-4C04-4672-9E66-C332C13D0A8A}" srcOrd="0" destOrd="0" presId="urn:microsoft.com/office/officeart/2005/8/layout/hierarchy3"/>
    <dgm:cxn modelId="{FD120760-0D4B-4388-92F9-7D6E50B3DBD4}" type="presParOf" srcId="{687F4677-56D9-46C1-8D8A-E79069C61FEF}" destId="{F8EA77B5-FD36-4D9F-8881-E02597338EBD}" srcOrd="1" destOrd="0" presId="urn:microsoft.com/office/officeart/2005/8/layout/hierarchy3"/>
    <dgm:cxn modelId="{F6D3B91E-F604-4E62-8BA0-7C9DC959BFB1}" type="presParOf" srcId="{F8EA77B5-FD36-4D9F-8881-E02597338EBD}" destId="{A8F86FA2-285E-4466-A13D-4ECC369B5275}" srcOrd="0" destOrd="1" presId="urn:microsoft.com/office/officeart/2005/8/layout/hierarchy3"/>
    <dgm:cxn modelId="{B76055E4-8F79-431B-A0CB-AC9FFF59A6C1}" type="presOf" srcId="{0F1D7D4E-BD8E-43C1-8F99-ED496D7A9BB4}" destId="{A8F86FA2-285E-4466-A13D-4ECC369B5275}" srcOrd="0" destOrd="0" presId="urn:microsoft.com/office/officeart/2005/8/layout/hierarchy3"/>
    <dgm:cxn modelId="{25FC293D-0E14-4881-BDB0-B3D19627A256}" type="presParOf" srcId="{F8EA77B5-FD36-4D9F-8881-E02597338EBD}" destId="{8402CCB8-5F3F-4B37-9533-2CEF8B977F02}" srcOrd="1" destOrd="1" presId="urn:microsoft.com/office/officeart/2005/8/layout/hierarchy3"/>
    <dgm:cxn modelId="{D7CC9E9A-8123-43FB-87F4-F3FF088CF040}" type="presOf" srcId="{2199E590-A466-443A-B43D-5CA7DA30B3AC}" destId="{8402CCB8-5F3F-4B37-9533-2CEF8B977F02}" srcOrd="0" destOrd="0" presId="urn:microsoft.com/office/officeart/2005/8/layout/hierarchy3"/>
    <dgm:cxn modelId="{F5662143-342F-4FAE-9495-E04ED1921A40}" type="presParOf" srcId="{F8EA77B5-FD36-4D9F-8881-E02597338EBD}" destId="{6FC5009F-DE3F-4EA7-8B97-755BF90691C6}" srcOrd="2" destOrd="1" presId="urn:microsoft.com/office/officeart/2005/8/layout/hierarchy3"/>
    <dgm:cxn modelId="{56A67C51-B5CD-4DF7-95CD-903110AE10EA}" type="presOf" srcId="{23807AB1-DC98-4728-B950-3E60934BA7E7}" destId="{6FC5009F-DE3F-4EA7-8B97-755BF90691C6}" srcOrd="0" destOrd="0" presId="urn:microsoft.com/office/officeart/2005/8/layout/hierarchy3"/>
    <dgm:cxn modelId="{3D60F3E5-B18E-4864-98EB-92A13F9BD836}" type="presParOf" srcId="{F8EA77B5-FD36-4D9F-8881-E02597338EBD}" destId="{8ED2A45B-0F28-4738-BACC-E7567F498BC0}" srcOrd="3" destOrd="1" presId="urn:microsoft.com/office/officeart/2005/8/layout/hierarchy3"/>
    <dgm:cxn modelId="{8BB725B3-DE60-4B84-82E0-BDDBE3BC0D8E}" type="presOf" srcId="{6410EC4E-6AA5-4F68-930B-680495E49A0B}" destId="{8ED2A45B-0F28-4738-BACC-E7567F498BC0}" srcOrd="0" destOrd="0" presId="urn:microsoft.com/office/officeart/2005/8/layout/hierarchy3"/>
    <dgm:cxn modelId="{D4BBC6BB-4B3C-4664-A127-DCE22858A4C5}" type="presParOf" srcId="{BA99965A-2D40-4D79-8990-EDFF24C85EE8}" destId="{3172787D-DB04-43ED-8026-C65F67B371C2}" srcOrd="1" destOrd="0" presId="urn:microsoft.com/office/officeart/2005/8/layout/hierarchy3"/>
    <dgm:cxn modelId="{2867EE79-B5E3-4460-A70F-32AA7877BBBD}" type="presParOf" srcId="{3172787D-DB04-43ED-8026-C65F67B371C2}" destId="{5E7B529B-3791-4C92-8A8D-42B5FE64B1B8}" srcOrd="0" destOrd="1" presId="urn:microsoft.com/office/officeart/2005/8/layout/hierarchy3"/>
    <dgm:cxn modelId="{D9C7B0A3-AF64-4C65-841D-501AF9E162A5}" type="presOf" srcId="{867279BA-BE37-4115-B52A-17E4F0F535FD}" destId="{5E7B529B-3791-4C92-8A8D-42B5FE64B1B8}" srcOrd="0" destOrd="0" presId="urn:microsoft.com/office/officeart/2005/8/layout/hierarchy3"/>
    <dgm:cxn modelId="{BCBFC0FE-E3C5-47D2-B139-AF27BC5201AF}" type="presParOf" srcId="{5E7B529B-3791-4C92-8A8D-42B5FE64B1B8}" destId="{E3FF03EB-8647-4636-BC5C-E9BEC6C29553}" srcOrd="0" destOrd="0" presId="urn:microsoft.com/office/officeart/2005/8/layout/hierarchy3"/>
    <dgm:cxn modelId="{A80ECE4A-AB5B-465D-A7F9-9554768D1DFC}" type="presOf" srcId="{867279BA-BE37-4115-B52A-17E4F0F535FD}" destId="{E3FF03EB-8647-4636-BC5C-E9BEC6C29553}" srcOrd="0" destOrd="0" presId="urn:microsoft.com/office/officeart/2005/8/layout/hierarchy3"/>
    <dgm:cxn modelId="{813F1EF9-73F3-4437-89DA-481473D32B99}" type="presParOf" srcId="{5E7B529B-3791-4C92-8A8D-42B5FE64B1B8}" destId="{020E4746-3A8C-42B4-AC17-0FB7CA4B2811}" srcOrd="1" destOrd="0" presId="urn:microsoft.com/office/officeart/2005/8/layout/hierarchy3"/>
    <dgm:cxn modelId="{9BF5C2AC-A0C4-441A-A6F5-DE18F746BDBF}" type="presOf" srcId="{867279BA-BE37-4115-B52A-17E4F0F535FD}" destId="{020E4746-3A8C-42B4-AC17-0FB7CA4B2811}" srcOrd="0" destOrd="0" presId="urn:microsoft.com/office/officeart/2005/8/layout/hierarchy3"/>
    <dgm:cxn modelId="{9FEA0048-592D-45A8-8EC5-0BB7C04BAB26}" type="presParOf" srcId="{3172787D-DB04-43ED-8026-C65F67B371C2}" destId="{A994A7C3-AEF7-4426-B7EF-877C67834B7F}" srcOrd="1" destOrd="1" presId="urn:microsoft.com/office/officeart/2005/8/layout/hierarchy3"/>
    <dgm:cxn modelId="{DED16991-ABAB-458D-A469-41457C42F4E4}" type="presParOf" srcId="{A994A7C3-AEF7-4426-B7EF-877C67834B7F}" destId="{3F5EB287-4C34-456C-B985-2B774B3D9EF1}" srcOrd="0" destOrd="1" presId="urn:microsoft.com/office/officeart/2005/8/layout/hierarchy3"/>
    <dgm:cxn modelId="{1BC10880-625C-45C2-B2C9-58C3613C48F4}" type="presOf" srcId="{57380257-9F95-43E2-B330-46970CC8990C}" destId="{3F5EB287-4C34-456C-B985-2B774B3D9EF1}" srcOrd="0" destOrd="0" presId="urn:microsoft.com/office/officeart/2005/8/layout/hierarchy3"/>
    <dgm:cxn modelId="{47D96247-38DB-41EC-9C65-2663BF1AEFE9}" type="presParOf" srcId="{A994A7C3-AEF7-4426-B7EF-877C67834B7F}" destId="{A9454E12-1A81-4CCD-AB01-CC69284C8769}" srcOrd="1" destOrd="1" presId="urn:microsoft.com/office/officeart/2005/8/layout/hierarchy3"/>
    <dgm:cxn modelId="{4DD705B0-9891-4369-9EC9-D32E08B53125}" type="presOf" srcId="{849175CF-F593-437D-924E-CA0E96CBD1E1}" destId="{A9454E12-1A81-4CCD-AB01-CC69284C8769}" srcOrd="0" destOrd="0" presId="urn:microsoft.com/office/officeart/2005/8/layout/hierarchy3"/>
    <dgm:cxn modelId="{E712FC74-D206-4460-B96F-E290F55ADF85}" type="presParOf" srcId="{A994A7C3-AEF7-4426-B7EF-877C67834B7F}" destId="{56903B70-44BE-4DEE-B3D8-8D6F309E69EE}" srcOrd="2" destOrd="1" presId="urn:microsoft.com/office/officeart/2005/8/layout/hierarchy3"/>
    <dgm:cxn modelId="{C2EF92DF-1C4F-4F64-BE69-025849486F96}" type="presOf" srcId="{672BD303-3035-4BAD-BC56-6E34D1C63F93}" destId="{56903B70-44BE-4DEE-B3D8-8D6F309E69EE}" srcOrd="0" destOrd="0" presId="urn:microsoft.com/office/officeart/2005/8/layout/hierarchy3"/>
    <dgm:cxn modelId="{D27A9031-44DE-4399-A4E7-6AE4655E9B30}" type="presParOf" srcId="{A994A7C3-AEF7-4426-B7EF-877C67834B7F}" destId="{CD3CDA12-D3B0-45EC-A723-612A0493B711}" srcOrd="3" destOrd="1" presId="urn:microsoft.com/office/officeart/2005/8/layout/hierarchy3"/>
    <dgm:cxn modelId="{5E051CB2-2B8D-4C22-9051-4D533F562F2E}" type="presOf" srcId="{8C757F7A-BF47-479A-973F-2852BB847704}" destId="{CD3CDA12-D3B0-45EC-A723-612A0493B711}" srcOrd="0" destOrd="0" presId="urn:microsoft.com/office/officeart/2005/8/layout/hierarchy3"/>
    <dgm:cxn modelId="{E112F8A0-1EE1-4BFC-BED9-3A9D7E1D9B58}" type="presParOf" srcId="{BA99965A-2D40-4D79-8990-EDFF24C85EE8}" destId="{7DE1E8E5-94CD-45F0-A9DA-8FBDA41409B7}" srcOrd="2" destOrd="0" presId="urn:microsoft.com/office/officeart/2005/8/layout/hierarchy3"/>
    <dgm:cxn modelId="{90CEEA64-3857-4D17-9FAD-DE6AEDE98C14}" type="presParOf" srcId="{7DE1E8E5-94CD-45F0-A9DA-8FBDA41409B7}" destId="{D8FBD1B0-DE4F-418F-9BC6-FF0286E3AF18}" srcOrd="0" destOrd="2" presId="urn:microsoft.com/office/officeart/2005/8/layout/hierarchy3"/>
    <dgm:cxn modelId="{0D6A0319-74CE-4D06-A972-6A61086E0EE6}" type="presOf" srcId="{4CC4A29F-F4CC-4DD5-8763-0DE712EBF1A0}" destId="{D8FBD1B0-DE4F-418F-9BC6-FF0286E3AF18}" srcOrd="0" destOrd="0" presId="urn:microsoft.com/office/officeart/2005/8/layout/hierarchy3"/>
    <dgm:cxn modelId="{CA036218-3961-43CA-9759-C81AF92CAB21}" type="presParOf" srcId="{D8FBD1B0-DE4F-418F-9BC6-FF0286E3AF18}" destId="{5309B0D1-99FF-40CC-A1D9-0B023ECD9E1E}" srcOrd="0" destOrd="0" presId="urn:microsoft.com/office/officeart/2005/8/layout/hierarchy3"/>
    <dgm:cxn modelId="{0AA667AE-0F94-4D16-9FE1-37606D526554}" type="presOf" srcId="{4CC4A29F-F4CC-4DD5-8763-0DE712EBF1A0}" destId="{5309B0D1-99FF-40CC-A1D9-0B023ECD9E1E}" srcOrd="0" destOrd="0" presId="urn:microsoft.com/office/officeart/2005/8/layout/hierarchy3"/>
    <dgm:cxn modelId="{3238B797-28D3-464D-803A-16022E3D339F}" type="presParOf" srcId="{D8FBD1B0-DE4F-418F-9BC6-FF0286E3AF18}" destId="{656A9787-E6C5-4A37-A5A6-025E8C00CEF0}" srcOrd="1" destOrd="0" presId="urn:microsoft.com/office/officeart/2005/8/layout/hierarchy3"/>
    <dgm:cxn modelId="{49276FE8-2B75-40FC-894E-03AF594DA780}" type="presOf" srcId="{4CC4A29F-F4CC-4DD5-8763-0DE712EBF1A0}" destId="{656A9787-E6C5-4A37-A5A6-025E8C00CEF0}" srcOrd="0" destOrd="0" presId="urn:microsoft.com/office/officeart/2005/8/layout/hierarchy3"/>
    <dgm:cxn modelId="{A137DA62-0123-4B98-9063-5E272BB5B491}" type="presParOf" srcId="{7DE1E8E5-94CD-45F0-A9DA-8FBDA41409B7}" destId="{32B15A97-B57D-4B9D-B599-4E04E25692B2}" srcOrd="1" destOrd="2" presId="urn:microsoft.com/office/officeart/2005/8/layout/hierarchy3"/>
    <dgm:cxn modelId="{4E93F6FC-F10F-49F8-BE10-A7462CEE8FFB}" type="presParOf" srcId="{32B15A97-B57D-4B9D-B599-4E04E25692B2}" destId="{1F8B2B7F-451F-4822-BD29-EC2E46C28DEB}" srcOrd="0" destOrd="1" presId="urn:microsoft.com/office/officeart/2005/8/layout/hierarchy3"/>
    <dgm:cxn modelId="{3EA7AE97-246A-42E3-8639-E7760DEBF567}" type="presOf" srcId="{C389F766-9DF4-4347-807E-5B48D23E5161}" destId="{1F8B2B7F-451F-4822-BD29-EC2E46C28DEB}" srcOrd="0" destOrd="0" presId="urn:microsoft.com/office/officeart/2005/8/layout/hierarchy3"/>
    <dgm:cxn modelId="{69E6D4FA-0E3C-4B45-AB0F-C73C1C96FBDB}" type="presParOf" srcId="{32B15A97-B57D-4B9D-B599-4E04E25692B2}" destId="{D5FBB9E3-B789-4287-8A4B-763E6CC9990D}" srcOrd="1" destOrd="1" presId="urn:microsoft.com/office/officeart/2005/8/layout/hierarchy3"/>
    <dgm:cxn modelId="{60DF32B4-6F61-4247-A2C4-6C193325E463}" type="presOf" srcId="{A7A537C9-4B08-41D3-80E5-F8C02344F110}" destId="{D5FBB9E3-B789-4287-8A4B-763E6CC9990D}" srcOrd="0" destOrd="0" presId="urn:microsoft.com/office/officeart/2005/8/layout/hierarchy3"/>
    <dgm:cxn modelId="{71CC4DC1-3D8C-4B80-A859-8663E01DB2C3}" type="presParOf" srcId="{32B15A97-B57D-4B9D-B599-4E04E25692B2}" destId="{288BCB88-8815-4BD2-9DC2-A2C75C72C378}" srcOrd="2" destOrd="1" presId="urn:microsoft.com/office/officeart/2005/8/layout/hierarchy3"/>
    <dgm:cxn modelId="{ADFCB802-F4F9-452B-BBF8-8DFE7B3D1E7C}" type="presOf" srcId="{B9DFCCB5-0981-43E8-9980-F509C7765F50}" destId="{288BCB88-8815-4BD2-9DC2-A2C75C72C378}" srcOrd="0" destOrd="0" presId="urn:microsoft.com/office/officeart/2005/8/layout/hierarchy3"/>
    <dgm:cxn modelId="{BCBD0586-12E0-4FB2-8B3D-6856104F6196}" type="presParOf" srcId="{32B15A97-B57D-4B9D-B599-4E04E25692B2}" destId="{3A850846-9D19-439E-95DC-B755CC0167E0}" srcOrd="3" destOrd="1" presId="urn:microsoft.com/office/officeart/2005/8/layout/hierarchy3"/>
    <dgm:cxn modelId="{84DC4D7C-DDB9-4B7A-A2BE-AA051D0461A4}" type="presOf" srcId="{6018FB15-0495-4A2A-B0AD-188998601057}" destId="{3A850846-9D19-439E-95DC-B755CC0167E0}" srcOrd="0" destOrd="0" presId="urn:microsoft.com/office/officeart/2005/8/layout/hierarchy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3DDEC3-4410-4A7B-A08D-B4E398522276}" type="doc">
      <dgm:prSet loTypeId="hierarchy" loCatId="hierarchy" qsTypeId="urn:microsoft.com/office/officeart/2005/8/quickstyle/simple1" qsCatId="simple" csTypeId="urn:microsoft.com/office/officeart/2005/8/colors/accent1_2" csCatId="accent1" phldr="0"/>
      <dgm:spPr/>
      <dgm:t>
        <a:bodyPr/>
        <a:p>
          <a:endParaRPr lang="zh-CN" altLang="en-US"/>
        </a:p>
      </dgm:t>
    </dgm:pt>
    <dgm:pt modelId="{F970B406-3137-445F-A047-960BE6F8F548}">
      <dgm:prSet phldrT="[文本]" phldr="0" custT="1"/>
      <dgm:spPr/>
      <dgm:t>
        <a:bodyPr vert="horz" wrap="square"/>
        <a:p>
          <a:pPr>
            <a:lnSpc>
              <a:spcPct val="100000"/>
            </a:lnSpc>
            <a:spcBef>
              <a:spcPct val="0"/>
            </a:spcBef>
            <a:spcAft>
              <a:spcPct val="35000"/>
            </a:spcAft>
          </a:pPr>
          <a:r>
            <a:rPr lang="zh-CN" altLang="en-US" sz="2800">
              <a:sym typeface="+mn-ea"/>
            </a:rPr>
            <a:t>语音段检测</a:t>
          </a:r>
          <a:r>
            <a:rPr lang="zh-CN" altLang="en-US" sz="2800">
              <a:sym typeface="+mn-ea"/>
            </a:rPr>
            <a:t/>
          </a:r>
          <a:endParaRPr lang="zh-CN" altLang="en-US" sz="2800">
            <a:sym typeface="+mn-ea"/>
          </a:endParaRPr>
        </a:p>
      </dgm:t>
    </dgm:pt>
    <dgm:pt modelId="{DE9920FC-ADF2-43FC-8D66-AB16E15737FC}" cxnId="{B8443253-A050-4291-A886-0294BE1A7956}" type="parTrans">
      <dgm:prSet/>
      <dgm:spPr/>
      <dgm:t>
        <a:bodyPr/>
        <a:p>
          <a:endParaRPr lang="zh-CN" altLang="en-US"/>
        </a:p>
      </dgm:t>
    </dgm:pt>
    <dgm:pt modelId="{A6DBE21A-0230-45DE-A17E-9E9D78667511}" cxnId="{B8443253-A050-4291-A886-0294BE1A7956}" type="sibTrans">
      <dgm:prSet/>
      <dgm:spPr/>
      <dgm:t>
        <a:bodyPr/>
        <a:p>
          <a:endParaRPr lang="zh-CN" altLang="en-US"/>
        </a:p>
      </dgm:t>
    </dgm:pt>
    <dgm:pt modelId="{2199E590-A466-443A-B43D-5CA7DA30B3AC}">
      <dgm:prSet phldrT="[文本]" phldr="0" custT="0"/>
      <dgm:spPr/>
      <dgm:t>
        <a:bodyPr vert="horz" wrap="square"/>
        <a:p>
          <a:pPr>
            <a:lnSpc>
              <a:spcPct val="100000"/>
            </a:lnSpc>
            <a:spcBef>
              <a:spcPct val="0"/>
            </a:spcBef>
            <a:spcAft>
              <a:spcPct val="35000"/>
            </a:spcAft>
          </a:pPr>
          <a:r>
            <a:rPr lang="zh-CN" altLang="en-US">
              <a:sym typeface="+mn-ea"/>
            </a:rPr>
            <a:t>能量计算</a:t>
          </a:r>
          <a:endParaRPr lang="zh-CN" altLang="en-US">
            <a:sym typeface="+mn-ea"/>
          </a:endParaRPr>
        </a:p>
        <a:p>
          <a:pPr>
            <a:lnSpc>
              <a:spcPct val="100000"/>
            </a:lnSpc>
            <a:spcBef>
              <a:spcPct val="0"/>
            </a:spcBef>
            <a:spcAft>
              <a:spcPct val="35000"/>
            </a:spcAft>
          </a:pPr>
          <a:r>
            <a:rPr lang="zh-CN" altLang="en-US">
              <a:sym typeface="+mn-ea"/>
            </a:rPr>
            <a:t>计算每个聚类类别的平均能量，用于区分语音段和非语音段</a:t>
          </a:r>
          <a:r>
            <a:rPr lang="zh-CN" altLang="en-US"/>
            <a:t/>
          </a:r>
          <a:endParaRPr lang="zh-CN" altLang="en-US"/>
        </a:p>
      </dgm:t>
    </dgm:pt>
    <dgm:pt modelId="{0F1D7D4E-BD8E-43C1-8F99-ED496D7A9BB4}" cxnId="{EB640C29-0DC4-4F4C-8BEF-E6CE50ECF077}" type="parTrans">
      <dgm:prSet/>
      <dgm:spPr/>
      <dgm:t>
        <a:bodyPr/>
        <a:p>
          <a:endParaRPr lang="zh-CN" altLang="en-US"/>
        </a:p>
      </dgm:t>
    </dgm:pt>
    <dgm:pt modelId="{49BEF6ED-1342-41F0-807C-53E1906472B9}" cxnId="{EB640C29-0DC4-4F4C-8BEF-E6CE50ECF077}" type="sibTrans">
      <dgm:prSet/>
      <dgm:spPr/>
      <dgm:t>
        <a:bodyPr/>
        <a:p>
          <a:endParaRPr lang="zh-CN" altLang="en-US"/>
        </a:p>
      </dgm:t>
    </dgm:pt>
    <dgm:pt modelId="{6410EC4E-6AA5-4F68-930B-680495E49A0B}">
      <dgm:prSet phldrT="[文本]" phldr="0" custT="0"/>
      <dgm:spPr/>
      <dgm:t>
        <a:bodyPr vert="horz" wrap="square"/>
        <a:p>
          <a:pPr>
            <a:lnSpc>
              <a:spcPct val="100000"/>
            </a:lnSpc>
            <a:spcBef>
              <a:spcPct val="0"/>
            </a:spcBef>
            <a:spcAft>
              <a:spcPct val="35000"/>
            </a:spcAft>
          </a:pPr>
          <a:r>
            <a:rPr lang="zh-CN" altLang="en-US">
              <a:sym typeface="+mn-ea"/>
            </a:rPr>
            <a:t>标签分析</a:t>
          </a:r>
          <a:endParaRPr lang="zh-CN" altLang="en-US">
            <a:sym typeface="+mn-ea"/>
          </a:endParaRPr>
        </a:p>
        <a:p>
          <a:pPr>
            <a:lnSpc>
              <a:spcPct val="100000"/>
            </a:lnSpc>
            <a:spcBef>
              <a:spcPct val="0"/>
            </a:spcBef>
            <a:spcAft>
              <a:spcPct val="35000"/>
            </a:spcAft>
          </a:pPr>
          <a:r>
            <a:rPr lang="zh-CN" altLang="en-US">
              <a:sym typeface="+mn-ea"/>
            </a:rPr>
            <a:t>通过分析聚类标签，识别出音频信号中的语音段</a:t>
          </a:r>
          <a:r>
            <a:rPr lang="zh-CN" altLang="en-US"/>
            <a:t/>
          </a:r>
          <a:endParaRPr lang="zh-CN" altLang="en-US"/>
        </a:p>
      </dgm:t>
    </dgm:pt>
    <dgm:pt modelId="{23807AB1-DC98-4728-B950-3E60934BA7E7}" cxnId="{EE8220E4-0774-4276-A5B0-803781DC527A}" type="parTrans">
      <dgm:prSet/>
      <dgm:spPr/>
      <dgm:t>
        <a:bodyPr/>
        <a:p>
          <a:endParaRPr lang="zh-CN" altLang="en-US"/>
        </a:p>
      </dgm:t>
    </dgm:pt>
    <dgm:pt modelId="{B19E9109-E222-453D-A601-BD15100C2B8F}" cxnId="{EE8220E4-0774-4276-A5B0-803781DC527A}" type="sibTrans">
      <dgm:prSet/>
      <dgm:spPr/>
      <dgm:t>
        <a:bodyPr/>
        <a:p>
          <a:endParaRPr lang="zh-CN" altLang="en-US"/>
        </a:p>
      </dgm:t>
    </dgm:pt>
    <dgm:pt modelId="{867279BA-BE37-4115-B52A-17E4F0F535FD}">
      <dgm:prSet phldrT="[文本]" phldr="0" custT="1"/>
      <dgm:spPr/>
      <dgm:t>
        <a:bodyPr vert="horz" wrap="square"/>
        <a:p>
          <a:pPr>
            <a:lnSpc>
              <a:spcPct val="100000"/>
            </a:lnSpc>
            <a:spcBef>
              <a:spcPct val="0"/>
            </a:spcBef>
            <a:spcAft>
              <a:spcPct val="35000"/>
            </a:spcAft>
          </a:pPr>
          <a:r>
            <a:rPr lang="zh-CN" altLang="en-US" sz="2800">
              <a:sym typeface="+mn-ea"/>
            </a:rPr>
            <a:t>后处理</a:t>
          </a:r>
          <a:r>
            <a:rPr lang="zh-CN" altLang="en-US" sz="2800">
              <a:sym typeface="+mn-ea"/>
            </a:rPr>
            <a:t/>
          </a:r>
          <a:endParaRPr lang="zh-CN" altLang="en-US" sz="2800">
            <a:sym typeface="+mn-ea"/>
          </a:endParaRPr>
        </a:p>
      </dgm:t>
    </dgm:pt>
    <dgm:pt modelId="{1A4FEF92-68C1-469B-A1A1-5D97CB9FBEDD}" cxnId="{A974DFB2-6B78-48BE-AA9C-C630B906B0EB}" type="parTrans">
      <dgm:prSet/>
      <dgm:spPr/>
      <dgm:t>
        <a:bodyPr/>
        <a:p>
          <a:endParaRPr lang="zh-CN" altLang="en-US"/>
        </a:p>
      </dgm:t>
    </dgm:pt>
    <dgm:pt modelId="{0FC30822-F791-4477-9BA8-25504EBFECC7}" cxnId="{A974DFB2-6B78-48BE-AA9C-C630B906B0EB}" type="sibTrans">
      <dgm:prSet/>
      <dgm:spPr/>
      <dgm:t>
        <a:bodyPr/>
        <a:p>
          <a:endParaRPr lang="zh-CN" altLang="en-US"/>
        </a:p>
      </dgm:t>
    </dgm:pt>
    <dgm:pt modelId="{849175CF-F593-437D-924E-CA0E96CBD1E1}">
      <dgm:prSet phldrT="[文本]" phldr="0" custT="0"/>
      <dgm:spPr/>
      <dgm:t>
        <a:bodyPr vert="horz" wrap="square"/>
        <a:p>
          <a:pPr>
            <a:lnSpc>
              <a:spcPct val="100000"/>
            </a:lnSpc>
            <a:spcBef>
              <a:spcPct val="0"/>
            </a:spcBef>
            <a:spcAft>
              <a:spcPct val="35000"/>
            </a:spcAft>
          </a:pPr>
          <a:r>
            <a:rPr lang="zh-CN" altLang="en-US">
              <a:sym typeface="+mn-ea"/>
            </a:rPr>
            <a:t>合并相近的语音段</a:t>
          </a:r>
          <a:endParaRPr lang="zh-CN" altLang="en-US">
            <a:sym typeface="+mn-ea"/>
          </a:endParaRPr>
        </a:p>
        <a:p>
          <a:pPr>
            <a:lnSpc>
              <a:spcPct val="100000"/>
            </a:lnSpc>
            <a:spcBef>
              <a:spcPct val="0"/>
            </a:spcBef>
            <a:spcAft>
              <a:spcPct val="35000"/>
            </a:spcAft>
          </a:pPr>
          <a:r>
            <a:rPr lang="zh-CN" altLang="en-US">
              <a:sym typeface="+mn-ea"/>
            </a:rPr>
            <a:t>将相隔较近的语音段合并，以避免将连续的语音段误认为多个独立的语音段</a:t>
          </a:r>
          <a:r>
            <a:rPr lang="zh-CN" altLang="en-US"/>
            <a:t/>
          </a:r>
          <a:endParaRPr lang="zh-CN" altLang="en-US"/>
        </a:p>
      </dgm:t>
    </dgm:pt>
    <dgm:pt modelId="{57380257-9F95-43E2-B330-46970CC8990C}" cxnId="{0FEEB2C4-B3BB-4658-823E-045E9A2C50E9}" type="parTrans">
      <dgm:prSet/>
      <dgm:spPr/>
      <dgm:t>
        <a:bodyPr/>
        <a:p>
          <a:endParaRPr lang="zh-CN" altLang="en-US"/>
        </a:p>
      </dgm:t>
    </dgm:pt>
    <dgm:pt modelId="{6A3A148F-286C-48E5-8F1A-D937B12918BD}" cxnId="{0FEEB2C4-B3BB-4658-823E-045E9A2C50E9}" type="sibTrans">
      <dgm:prSet/>
      <dgm:spPr/>
      <dgm:t>
        <a:bodyPr/>
        <a:p>
          <a:endParaRPr lang="zh-CN" altLang="en-US"/>
        </a:p>
      </dgm:t>
    </dgm:pt>
    <dgm:pt modelId="{4CC4A29F-F4CC-4DD5-8763-0DE712EBF1A0}">
      <dgm:prSet phldr="0" custT="1"/>
      <dgm:spPr/>
      <dgm:t>
        <a:bodyPr vert="horz" wrap="square"/>
        <a:p>
          <a:pPr>
            <a:lnSpc>
              <a:spcPct val="100000"/>
            </a:lnSpc>
            <a:spcBef>
              <a:spcPct val="0"/>
            </a:spcBef>
            <a:spcAft>
              <a:spcPct val="35000"/>
            </a:spcAft>
          </a:pPr>
          <a:r>
            <a:rPr lang="zh-CN" altLang="en-US" sz="2800">
              <a:sym typeface="+mn-ea"/>
            </a:rPr>
            <a:t>结果保存</a:t>
          </a:r>
          <a:r>
            <a:rPr lang="zh-CN" altLang="en-US" sz="2800"/>
            <a:t/>
          </a:r>
          <a:endParaRPr lang="zh-CN" altLang="en-US" sz="2800"/>
        </a:p>
      </dgm:t>
    </dgm:pt>
    <dgm:pt modelId="{6D492F70-D2F1-40EA-95A1-B6F7D33FA7DE}" cxnId="{17921E7C-CA20-445A-B04A-FDBF1AF4D0A5}" type="parTrans">
      <dgm:prSet/>
      <dgm:spPr/>
    </dgm:pt>
    <dgm:pt modelId="{D8F16243-EAFD-4949-9420-0C8155A13996}" cxnId="{17921E7C-CA20-445A-B04A-FDBF1AF4D0A5}" type="sibTrans">
      <dgm:prSet/>
      <dgm:spPr/>
    </dgm:pt>
    <dgm:pt modelId="{A7A537C9-4B08-41D3-80E5-F8C02344F110}">
      <dgm:prSet phldr="0" custT="0"/>
      <dgm:spPr/>
      <dgm:t>
        <a:bodyPr vert="horz" wrap="square"/>
        <a:p>
          <a:pPr>
            <a:lnSpc>
              <a:spcPct val="100000"/>
            </a:lnSpc>
            <a:spcBef>
              <a:spcPct val="0"/>
            </a:spcBef>
            <a:spcAft>
              <a:spcPct val="35000"/>
            </a:spcAft>
          </a:pPr>
          <a:r>
            <a:rPr lang="zh-CN" altLang="en-US">
              <a:sym typeface="+mn-ea"/>
            </a:rPr>
            <a:t>保存语音段信息</a:t>
          </a:r>
          <a:endParaRPr lang="zh-CN" altLang="en-US">
            <a:sym typeface="+mn-ea"/>
          </a:endParaRPr>
        </a:p>
        <a:p>
          <a:pPr>
            <a:lnSpc>
              <a:spcPct val="100000"/>
            </a:lnSpc>
            <a:spcBef>
              <a:spcPct val="0"/>
            </a:spcBef>
            <a:spcAft>
              <a:spcPct val="35000"/>
            </a:spcAft>
          </a:pPr>
          <a:r>
            <a:rPr lang="zh-CN" altLang="en-US">
              <a:sym typeface="+mn-ea"/>
            </a:rPr>
            <a:t>将检测到的语音段的起始和结束时间索引保存到文件中，供后续分析和处理使用</a:t>
          </a:r>
          <a:r>
            <a:rPr lang="zh-CN" altLang="en-US"/>
            <a:t/>
          </a:r>
          <a:endParaRPr lang="zh-CN" altLang="en-US"/>
        </a:p>
      </dgm:t>
    </dgm:pt>
    <dgm:pt modelId="{C389F766-9DF4-4347-807E-5B48D23E5161}" cxnId="{FEF4F7C3-D2EC-4FA8-AB2A-D5DEBFAE2CED}" type="parTrans">
      <dgm:prSet/>
      <dgm:spPr/>
    </dgm:pt>
    <dgm:pt modelId="{79705DAA-537E-42D8-8498-347A5E571706}" cxnId="{FEF4F7C3-D2EC-4FA8-AB2A-D5DEBFAE2CED}" type="sibTrans">
      <dgm:prSet/>
      <dgm:spPr/>
    </dgm:pt>
    <dgm:pt modelId="{BA99965A-2D40-4D79-8990-EDFF24C85EE8}" type="pres">
      <dgm:prSet presAssocID="{8C3DDEC3-4410-4A7B-A08D-B4E398522276}" presName="diagram" presStyleCnt="0">
        <dgm:presLayoutVars>
          <dgm:chPref val="1"/>
          <dgm:dir/>
          <dgm:animOne val="branch"/>
          <dgm:animLvl val="lvl"/>
          <dgm:resizeHandles/>
        </dgm:presLayoutVars>
      </dgm:prSet>
      <dgm:spPr/>
    </dgm:pt>
    <dgm:pt modelId="{687F4677-56D9-46C1-8D8A-E79069C61FEF}" type="pres">
      <dgm:prSet presAssocID="{F970B406-3137-445F-A047-960BE6F8F548}" presName="root" presStyleCnt="0"/>
      <dgm:spPr/>
    </dgm:pt>
    <dgm:pt modelId="{A0242BD7-40EC-4B30-A4E6-F6CADB9C4AF7}" type="pres">
      <dgm:prSet presAssocID="{F970B406-3137-445F-A047-960BE6F8F548}" presName="rootComposite" presStyleCnt="0"/>
      <dgm:spPr/>
    </dgm:pt>
    <dgm:pt modelId="{F7165120-5FFC-451F-A676-9DCAA5026EF0}" type="pres">
      <dgm:prSet presAssocID="{F970B406-3137-445F-A047-960BE6F8F548}" presName="rootText" presStyleLbl="node1" presStyleIdx="0" presStyleCnt="3"/>
      <dgm:spPr/>
    </dgm:pt>
    <dgm:pt modelId="{76A4EA41-4C04-4672-9E66-C332C13D0A8A}" type="pres">
      <dgm:prSet presAssocID="{F970B406-3137-445F-A047-960BE6F8F548}" presName="rootConnector" presStyleCnt="0"/>
      <dgm:spPr/>
    </dgm:pt>
    <dgm:pt modelId="{F8EA77B5-FD36-4D9F-8881-E02597338EBD}" type="pres">
      <dgm:prSet presAssocID="{F970B406-3137-445F-A047-960BE6F8F548}" presName="childShape" presStyleCnt="0"/>
      <dgm:spPr/>
    </dgm:pt>
    <dgm:pt modelId="{A8F86FA2-285E-4466-A13D-4ECC369B5275}" type="pres">
      <dgm:prSet presAssocID="{0F1D7D4E-BD8E-43C1-8F99-ED496D7A9BB4}" presName="Name13" presStyleLbl="parChTrans1D2" presStyleIdx="0" presStyleCnt="4"/>
      <dgm:spPr/>
    </dgm:pt>
    <dgm:pt modelId="{8402CCB8-5F3F-4B37-9533-2CEF8B977F02}" type="pres">
      <dgm:prSet presAssocID="{2199E590-A466-443A-B43D-5CA7DA30B3AC}" presName="childText" presStyleLbl="bgAcc1" presStyleIdx="0" presStyleCnt="4">
        <dgm:presLayoutVars>
          <dgm:bulletEnabled val="1"/>
        </dgm:presLayoutVars>
      </dgm:prSet>
      <dgm:spPr/>
    </dgm:pt>
    <dgm:pt modelId="{6FC5009F-DE3F-4EA7-8B97-755BF90691C6}" type="pres">
      <dgm:prSet presAssocID="{23807AB1-DC98-4728-B950-3E60934BA7E7}" presName="Name13" presStyleLbl="parChTrans1D2" presStyleIdx="1" presStyleCnt="4"/>
      <dgm:spPr/>
    </dgm:pt>
    <dgm:pt modelId="{8ED2A45B-0F28-4738-BACC-E7567F498BC0}" type="pres">
      <dgm:prSet presAssocID="{6410EC4E-6AA5-4F68-930B-680495E49A0B}" presName="childText" presStyleLbl="bgAcc1" presStyleIdx="1" presStyleCnt="4">
        <dgm:presLayoutVars>
          <dgm:bulletEnabled val="1"/>
        </dgm:presLayoutVars>
      </dgm:prSet>
      <dgm:spPr/>
    </dgm:pt>
    <dgm:pt modelId="{3172787D-DB04-43ED-8026-C65F67B371C2}" type="pres">
      <dgm:prSet presAssocID="{867279BA-BE37-4115-B52A-17E4F0F535FD}" presName="root" presStyleCnt="0"/>
      <dgm:spPr/>
    </dgm:pt>
    <dgm:pt modelId="{5E7B529B-3791-4C92-8A8D-42B5FE64B1B8}" type="pres">
      <dgm:prSet presAssocID="{867279BA-BE37-4115-B52A-17E4F0F535FD}" presName="rootComposite" presStyleCnt="0"/>
      <dgm:spPr/>
    </dgm:pt>
    <dgm:pt modelId="{E3FF03EB-8647-4636-BC5C-E9BEC6C29553}" type="pres">
      <dgm:prSet presAssocID="{867279BA-BE37-4115-B52A-17E4F0F535FD}" presName="rootText" presStyleLbl="node1" presStyleIdx="1" presStyleCnt="3"/>
      <dgm:spPr/>
    </dgm:pt>
    <dgm:pt modelId="{020E4746-3A8C-42B4-AC17-0FB7CA4B2811}" type="pres">
      <dgm:prSet presAssocID="{867279BA-BE37-4115-B52A-17E4F0F535FD}" presName="rootConnector" presStyleCnt="0"/>
      <dgm:spPr/>
    </dgm:pt>
    <dgm:pt modelId="{A994A7C3-AEF7-4426-B7EF-877C67834B7F}" type="pres">
      <dgm:prSet presAssocID="{867279BA-BE37-4115-B52A-17E4F0F535FD}" presName="childShape" presStyleCnt="0"/>
      <dgm:spPr/>
    </dgm:pt>
    <dgm:pt modelId="{3F5EB287-4C34-456C-B985-2B774B3D9EF1}" type="pres">
      <dgm:prSet presAssocID="{57380257-9F95-43E2-B330-46970CC8990C}" presName="Name13" presStyleLbl="parChTrans1D2" presStyleIdx="2" presStyleCnt="4"/>
      <dgm:spPr/>
    </dgm:pt>
    <dgm:pt modelId="{A9454E12-1A81-4CCD-AB01-CC69284C8769}" type="pres">
      <dgm:prSet presAssocID="{849175CF-F593-437D-924E-CA0E96CBD1E1}" presName="childText" presStyleLbl="bgAcc1" presStyleIdx="2" presStyleCnt="4" custLinFactNeighborY="-57">
        <dgm:presLayoutVars>
          <dgm:bulletEnabled val="1"/>
        </dgm:presLayoutVars>
      </dgm:prSet>
      <dgm:spPr/>
    </dgm:pt>
    <dgm:pt modelId="{7DE1E8E5-94CD-45F0-A9DA-8FBDA41409B7}" type="pres">
      <dgm:prSet presAssocID="{4CC4A29F-F4CC-4DD5-8763-0DE712EBF1A0}" presName="root" presStyleCnt="0"/>
      <dgm:spPr/>
    </dgm:pt>
    <dgm:pt modelId="{D8FBD1B0-DE4F-418F-9BC6-FF0286E3AF18}" type="pres">
      <dgm:prSet presAssocID="{4CC4A29F-F4CC-4DD5-8763-0DE712EBF1A0}" presName="rootComposite" presStyleCnt="0"/>
      <dgm:spPr/>
    </dgm:pt>
    <dgm:pt modelId="{5309B0D1-99FF-40CC-A1D9-0B023ECD9E1E}" type="pres">
      <dgm:prSet presAssocID="{4CC4A29F-F4CC-4DD5-8763-0DE712EBF1A0}" presName="rootText" presStyleLbl="node1" presStyleIdx="2" presStyleCnt="3"/>
      <dgm:spPr/>
    </dgm:pt>
    <dgm:pt modelId="{656A9787-E6C5-4A37-A5A6-025E8C00CEF0}" type="pres">
      <dgm:prSet presAssocID="{4CC4A29F-F4CC-4DD5-8763-0DE712EBF1A0}" presName="rootConnector" presStyleCnt="0"/>
      <dgm:spPr/>
    </dgm:pt>
    <dgm:pt modelId="{32B15A97-B57D-4B9D-B599-4E04E25692B2}" type="pres">
      <dgm:prSet presAssocID="{4CC4A29F-F4CC-4DD5-8763-0DE712EBF1A0}" presName="childShape" presStyleCnt="0"/>
      <dgm:spPr/>
    </dgm:pt>
    <dgm:pt modelId="{1F8B2B7F-451F-4822-BD29-EC2E46C28DEB}" type="pres">
      <dgm:prSet presAssocID="{C389F766-9DF4-4347-807E-5B48D23E5161}" presName="Name13" presStyleLbl="parChTrans1D2" presStyleIdx="3" presStyleCnt="4"/>
      <dgm:spPr/>
    </dgm:pt>
    <dgm:pt modelId="{D5FBB9E3-B789-4287-8A4B-763E6CC9990D}" type="pres">
      <dgm:prSet presAssocID="{A7A537C9-4B08-41D3-80E5-F8C02344F110}" presName="childText" presStyleLbl="bgAcc1" presStyleIdx="3" presStyleCnt="4">
        <dgm:presLayoutVars>
          <dgm:bulletEnabled val="1"/>
        </dgm:presLayoutVars>
      </dgm:prSet>
      <dgm:spPr/>
    </dgm:pt>
  </dgm:ptLst>
  <dgm:cxnLst>
    <dgm:cxn modelId="{B8443253-A050-4291-A886-0294BE1A7956}" srcId="{8C3DDEC3-4410-4A7B-A08D-B4E398522276}" destId="{F970B406-3137-445F-A047-960BE6F8F548}" srcOrd="0" destOrd="0" parTransId="{DE9920FC-ADF2-43FC-8D66-AB16E15737FC}" sibTransId="{A6DBE21A-0230-45DE-A17E-9E9D78667511}"/>
    <dgm:cxn modelId="{EB640C29-0DC4-4F4C-8BEF-E6CE50ECF077}" srcId="{F970B406-3137-445F-A047-960BE6F8F548}" destId="{2199E590-A466-443A-B43D-5CA7DA30B3AC}" srcOrd="0" destOrd="0" parTransId="{0F1D7D4E-BD8E-43C1-8F99-ED496D7A9BB4}" sibTransId="{49BEF6ED-1342-41F0-807C-53E1906472B9}"/>
    <dgm:cxn modelId="{EE8220E4-0774-4276-A5B0-803781DC527A}" srcId="{F970B406-3137-445F-A047-960BE6F8F548}" destId="{6410EC4E-6AA5-4F68-930B-680495E49A0B}" srcOrd="1" destOrd="0" parTransId="{23807AB1-DC98-4728-B950-3E60934BA7E7}" sibTransId="{B19E9109-E222-453D-A601-BD15100C2B8F}"/>
    <dgm:cxn modelId="{A974DFB2-6B78-48BE-AA9C-C630B906B0EB}" srcId="{8C3DDEC3-4410-4A7B-A08D-B4E398522276}" destId="{867279BA-BE37-4115-B52A-17E4F0F535FD}" srcOrd="1" destOrd="0" parTransId="{1A4FEF92-68C1-469B-A1A1-5D97CB9FBEDD}" sibTransId="{0FC30822-F791-4477-9BA8-25504EBFECC7}"/>
    <dgm:cxn modelId="{0FEEB2C4-B3BB-4658-823E-045E9A2C50E9}" srcId="{867279BA-BE37-4115-B52A-17E4F0F535FD}" destId="{849175CF-F593-437D-924E-CA0E96CBD1E1}" srcOrd="0" destOrd="1" parTransId="{57380257-9F95-43E2-B330-46970CC8990C}" sibTransId="{6A3A148F-286C-48E5-8F1A-D937B12918BD}"/>
    <dgm:cxn modelId="{17921E7C-CA20-445A-B04A-FDBF1AF4D0A5}" srcId="{8C3DDEC3-4410-4A7B-A08D-B4E398522276}" destId="{4CC4A29F-F4CC-4DD5-8763-0DE712EBF1A0}" srcOrd="2" destOrd="0" parTransId="{6D492F70-D2F1-40EA-95A1-B6F7D33FA7DE}" sibTransId="{D8F16243-EAFD-4949-9420-0C8155A13996}"/>
    <dgm:cxn modelId="{FEF4F7C3-D2EC-4FA8-AB2A-D5DEBFAE2CED}" srcId="{4CC4A29F-F4CC-4DD5-8763-0DE712EBF1A0}" destId="{A7A537C9-4B08-41D3-80E5-F8C02344F110}" srcOrd="0" destOrd="2" parTransId="{C389F766-9DF4-4347-807E-5B48D23E5161}" sibTransId="{79705DAA-537E-42D8-8498-347A5E571706}"/>
    <dgm:cxn modelId="{22661B50-17FF-4ED5-B05C-1566EDCFB5E3}" type="presOf" srcId="{8C3DDEC3-4410-4A7B-A08D-B4E398522276}" destId="{BA99965A-2D40-4D79-8990-EDFF24C85EE8}" srcOrd="0" destOrd="0" presId="urn:microsoft.com/office/officeart/2005/8/layout/hierarchy3"/>
    <dgm:cxn modelId="{CF1D18DF-C32F-44C0-98EE-748434E71404}" type="presParOf" srcId="{BA99965A-2D40-4D79-8990-EDFF24C85EE8}" destId="{687F4677-56D9-46C1-8D8A-E79069C61FEF}" srcOrd="0" destOrd="0" presId="urn:microsoft.com/office/officeart/2005/8/layout/hierarchy3"/>
    <dgm:cxn modelId="{BE31CCF5-20ED-488A-BD20-14EB60DCA2FD}" type="presParOf" srcId="{687F4677-56D9-46C1-8D8A-E79069C61FEF}" destId="{A0242BD7-40EC-4B30-A4E6-F6CADB9C4AF7}" srcOrd="0" destOrd="0" presId="urn:microsoft.com/office/officeart/2005/8/layout/hierarchy3"/>
    <dgm:cxn modelId="{C36AF908-51BC-4DD3-B59C-0A5763E2AD66}" type="presOf" srcId="{F970B406-3137-445F-A047-960BE6F8F548}" destId="{A0242BD7-40EC-4B30-A4E6-F6CADB9C4AF7}" srcOrd="0" destOrd="0" presId="urn:microsoft.com/office/officeart/2005/8/layout/hierarchy3"/>
    <dgm:cxn modelId="{AA42DEF1-9124-4BF8-8307-88C01A4524F6}" type="presParOf" srcId="{A0242BD7-40EC-4B30-A4E6-F6CADB9C4AF7}" destId="{F7165120-5FFC-451F-A676-9DCAA5026EF0}" srcOrd="0" destOrd="0" presId="urn:microsoft.com/office/officeart/2005/8/layout/hierarchy3"/>
    <dgm:cxn modelId="{F6408C02-B8E3-4DE6-A553-A38D96BAB87E}" type="presOf" srcId="{F970B406-3137-445F-A047-960BE6F8F548}" destId="{F7165120-5FFC-451F-A676-9DCAA5026EF0}" srcOrd="0" destOrd="0" presId="urn:microsoft.com/office/officeart/2005/8/layout/hierarchy3"/>
    <dgm:cxn modelId="{469F1B77-6BE5-4157-819A-A50639E08524}" type="presParOf" srcId="{A0242BD7-40EC-4B30-A4E6-F6CADB9C4AF7}" destId="{76A4EA41-4C04-4672-9E66-C332C13D0A8A}" srcOrd="1" destOrd="0" presId="urn:microsoft.com/office/officeart/2005/8/layout/hierarchy3"/>
    <dgm:cxn modelId="{50CC0074-A232-4187-A6C6-EB7FDDBCE746}" type="presOf" srcId="{F970B406-3137-445F-A047-960BE6F8F548}" destId="{76A4EA41-4C04-4672-9E66-C332C13D0A8A}" srcOrd="0" destOrd="0" presId="urn:microsoft.com/office/officeart/2005/8/layout/hierarchy3"/>
    <dgm:cxn modelId="{83863DAB-1134-43DD-BDDE-2122EDF0B1D0}" type="presParOf" srcId="{687F4677-56D9-46C1-8D8A-E79069C61FEF}" destId="{F8EA77B5-FD36-4D9F-8881-E02597338EBD}" srcOrd="1" destOrd="0" presId="urn:microsoft.com/office/officeart/2005/8/layout/hierarchy3"/>
    <dgm:cxn modelId="{1D048330-1B72-4BCE-BAED-EA26133A6423}" type="presParOf" srcId="{F8EA77B5-FD36-4D9F-8881-E02597338EBD}" destId="{A8F86FA2-285E-4466-A13D-4ECC369B5275}" srcOrd="0" destOrd="1" presId="urn:microsoft.com/office/officeart/2005/8/layout/hierarchy3"/>
    <dgm:cxn modelId="{7D822FB0-DA3C-4104-B48C-6E5FFBB346AA}" type="presOf" srcId="{0F1D7D4E-BD8E-43C1-8F99-ED496D7A9BB4}" destId="{A8F86FA2-285E-4466-A13D-4ECC369B5275}" srcOrd="0" destOrd="0" presId="urn:microsoft.com/office/officeart/2005/8/layout/hierarchy3"/>
    <dgm:cxn modelId="{85C0281A-FF49-425A-8664-E95EAAADC463}" type="presParOf" srcId="{F8EA77B5-FD36-4D9F-8881-E02597338EBD}" destId="{8402CCB8-5F3F-4B37-9533-2CEF8B977F02}" srcOrd="1" destOrd="1" presId="urn:microsoft.com/office/officeart/2005/8/layout/hierarchy3"/>
    <dgm:cxn modelId="{312CEE88-BB93-4C96-962E-2A7B99CED258}" type="presOf" srcId="{2199E590-A466-443A-B43D-5CA7DA30B3AC}" destId="{8402CCB8-5F3F-4B37-9533-2CEF8B977F02}" srcOrd="0" destOrd="0" presId="urn:microsoft.com/office/officeart/2005/8/layout/hierarchy3"/>
    <dgm:cxn modelId="{9752D32E-1F47-4F6A-ADB7-6466AB70011C}" type="presParOf" srcId="{F8EA77B5-FD36-4D9F-8881-E02597338EBD}" destId="{6FC5009F-DE3F-4EA7-8B97-755BF90691C6}" srcOrd="2" destOrd="1" presId="urn:microsoft.com/office/officeart/2005/8/layout/hierarchy3"/>
    <dgm:cxn modelId="{666A8887-9756-49C6-B18C-9978515DE023}" type="presOf" srcId="{23807AB1-DC98-4728-B950-3E60934BA7E7}" destId="{6FC5009F-DE3F-4EA7-8B97-755BF90691C6}" srcOrd="0" destOrd="0" presId="urn:microsoft.com/office/officeart/2005/8/layout/hierarchy3"/>
    <dgm:cxn modelId="{587C06C7-921D-4982-A2D2-05038884716B}" type="presParOf" srcId="{F8EA77B5-FD36-4D9F-8881-E02597338EBD}" destId="{8ED2A45B-0F28-4738-BACC-E7567F498BC0}" srcOrd="3" destOrd="1" presId="urn:microsoft.com/office/officeart/2005/8/layout/hierarchy3"/>
    <dgm:cxn modelId="{B83D579B-FCE4-4B79-B559-B458823CF980}" type="presOf" srcId="{6410EC4E-6AA5-4F68-930B-680495E49A0B}" destId="{8ED2A45B-0F28-4738-BACC-E7567F498BC0}" srcOrd="0" destOrd="0" presId="urn:microsoft.com/office/officeart/2005/8/layout/hierarchy3"/>
    <dgm:cxn modelId="{38DFCAD8-83C2-4E94-81D3-02152E6CCFBE}" type="presParOf" srcId="{BA99965A-2D40-4D79-8990-EDFF24C85EE8}" destId="{3172787D-DB04-43ED-8026-C65F67B371C2}" srcOrd="1" destOrd="0" presId="urn:microsoft.com/office/officeart/2005/8/layout/hierarchy3"/>
    <dgm:cxn modelId="{F9C0D30D-5DAC-4466-AB8C-41A007C0DCAE}" type="presParOf" srcId="{3172787D-DB04-43ED-8026-C65F67B371C2}" destId="{5E7B529B-3791-4C92-8A8D-42B5FE64B1B8}" srcOrd="0" destOrd="1" presId="urn:microsoft.com/office/officeart/2005/8/layout/hierarchy3"/>
    <dgm:cxn modelId="{0AD9E920-36EB-41F5-89C3-C757ACC7A3D3}" type="presOf" srcId="{867279BA-BE37-4115-B52A-17E4F0F535FD}" destId="{5E7B529B-3791-4C92-8A8D-42B5FE64B1B8}" srcOrd="0" destOrd="0" presId="urn:microsoft.com/office/officeart/2005/8/layout/hierarchy3"/>
    <dgm:cxn modelId="{B4D7DF83-7107-4479-AD79-097D9DF9377F}" type="presParOf" srcId="{5E7B529B-3791-4C92-8A8D-42B5FE64B1B8}" destId="{E3FF03EB-8647-4636-BC5C-E9BEC6C29553}" srcOrd="0" destOrd="0" presId="urn:microsoft.com/office/officeart/2005/8/layout/hierarchy3"/>
    <dgm:cxn modelId="{7A4FC0FA-5CD3-4BBF-A9F8-4662D98C7198}" type="presOf" srcId="{867279BA-BE37-4115-B52A-17E4F0F535FD}" destId="{E3FF03EB-8647-4636-BC5C-E9BEC6C29553}" srcOrd="0" destOrd="0" presId="urn:microsoft.com/office/officeart/2005/8/layout/hierarchy3"/>
    <dgm:cxn modelId="{BE93FB21-A380-43BC-B729-E339BFBA92B3}" type="presParOf" srcId="{5E7B529B-3791-4C92-8A8D-42B5FE64B1B8}" destId="{020E4746-3A8C-42B4-AC17-0FB7CA4B2811}" srcOrd="1" destOrd="0" presId="urn:microsoft.com/office/officeart/2005/8/layout/hierarchy3"/>
    <dgm:cxn modelId="{0D9ADCA8-BC86-4A9D-8669-1E900E7626FE}" type="presOf" srcId="{867279BA-BE37-4115-B52A-17E4F0F535FD}" destId="{020E4746-3A8C-42B4-AC17-0FB7CA4B2811}" srcOrd="0" destOrd="0" presId="urn:microsoft.com/office/officeart/2005/8/layout/hierarchy3"/>
    <dgm:cxn modelId="{E8867181-8E39-4BAF-84B7-CEF94B5374B9}" type="presParOf" srcId="{3172787D-DB04-43ED-8026-C65F67B371C2}" destId="{A994A7C3-AEF7-4426-B7EF-877C67834B7F}" srcOrd="1" destOrd="1" presId="urn:microsoft.com/office/officeart/2005/8/layout/hierarchy3"/>
    <dgm:cxn modelId="{924D5B8B-BFF7-41C4-9313-98FB62D982DD}" type="presParOf" srcId="{A994A7C3-AEF7-4426-B7EF-877C67834B7F}" destId="{3F5EB287-4C34-456C-B985-2B774B3D9EF1}" srcOrd="0" destOrd="1" presId="urn:microsoft.com/office/officeart/2005/8/layout/hierarchy3"/>
    <dgm:cxn modelId="{C939C5B2-F7B8-4151-ACB9-51CCC71ED0E4}" type="presOf" srcId="{57380257-9F95-43E2-B330-46970CC8990C}" destId="{3F5EB287-4C34-456C-B985-2B774B3D9EF1}" srcOrd="0" destOrd="0" presId="urn:microsoft.com/office/officeart/2005/8/layout/hierarchy3"/>
    <dgm:cxn modelId="{618ECE8B-F273-4A48-8850-E70D2B552B0C}" type="presParOf" srcId="{A994A7C3-AEF7-4426-B7EF-877C67834B7F}" destId="{A9454E12-1A81-4CCD-AB01-CC69284C8769}" srcOrd="1" destOrd="1" presId="urn:microsoft.com/office/officeart/2005/8/layout/hierarchy3"/>
    <dgm:cxn modelId="{562CC46F-C5B6-4242-887A-15FC790D6BC1}" type="presOf" srcId="{849175CF-F593-437D-924E-CA0E96CBD1E1}" destId="{A9454E12-1A81-4CCD-AB01-CC69284C8769}" srcOrd="0" destOrd="0" presId="urn:microsoft.com/office/officeart/2005/8/layout/hierarchy3"/>
    <dgm:cxn modelId="{7D773EEC-586E-4D1D-860B-A93CF5D6BB51}" type="presParOf" srcId="{BA99965A-2D40-4D79-8990-EDFF24C85EE8}" destId="{7DE1E8E5-94CD-45F0-A9DA-8FBDA41409B7}" srcOrd="2" destOrd="0" presId="urn:microsoft.com/office/officeart/2005/8/layout/hierarchy3"/>
    <dgm:cxn modelId="{3D11A98E-8022-414C-B536-CD6D08C1FBBF}" type="presParOf" srcId="{7DE1E8E5-94CD-45F0-A9DA-8FBDA41409B7}" destId="{D8FBD1B0-DE4F-418F-9BC6-FF0286E3AF18}" srcOrd="0" destOrd="2" presId="urn:microsoft.com/office/officeart/2005/8/layout/hierarchy3"/>
    <dgm:cxn modelId="{9C381894-BE56-4744-8FA2-478CA8053F9A}" type="presOf" srcId="{4CC4A29F-F4CC-4DD5-8763-0DE712EBF1A0}" destId="{D8FBD1B0-DE4F-418F-9BC6-FF0286E3AF18}" srcOrd="0" destOrd="0" presId="urn:microsoft.com/office/officeart/2005/8/layout/hierarchy3"/>
    <dgm:cxn modelId="{B40691EF-6275-41B5-A5FF-0A68788F8F46}" type="presParOf" srcId="{D8FBD1B0-DE4F-418F-9BC6-FF0286E3AF18}" destId="{5309B0D1-99FF-40CC-A1D9-0B023ECD9E1E}" srcOrd="0" destOrd="0" presId="urn:microsoft.com/office/officeart/2005/8/layout/hierarchy3"/>
    <dgm:cxn modelId="{A8718652-DF3C-468D-8310-1D63625B2A0E}" type="presOf" srcId="{4CC4A29F-F4CC-4DD5-8763-0DE712EBF1A0}" destId="{5309B0D1-99FF-40CC-A1D9-0B023ECD9E1E}" srcOrd="0" destOrd="0" presId="urn:microsoft.com/office/officeart/2005/8/layout/hierarchy3"/>
    <dgm:cxn modelId="{165E4506-B95E-4FD0-BDC6-A42AB663D32C}" type="presParOf" srcId="{D8FBD1B0-DE4F-418F-9BC6-FF0286E3AF18}" destId="{656A9787-E6C5-4A37-A5A6-025E8C00CEF0}" srcOrd="1" destOrd="0" presId="urn:microsoft.com/office/officeart/2005/8/layout/hierarchy3"/>
    <dgm:cxn modelId="{26A115C4-31AA-4BD1-810D-4017EB67A2E6}" type="presOf" srcId="{4CC4A29F-F4CC-4DD5-8763-0DE712EBF1A0}" destId="{656A9787-E6C5-4A37-A5A6-025E8C00CEF0}" srcOrd="0" destOrd="0" presId="urn:microsoft.com/office/officeart/2005/8/layout/hierarchy3"/>
    <dgm:cxn modelId="{96F98FB8-787B-48A3-9852-CC2AE67DEEF0}" type="presParOf" srcId="{7DE1E8E5-94CD-45F0-A9DA-8FBDA41409B7}" destId="{32B15A97-B57D-4B9D-B599-4E04E25692B2}" srcOrd="1" destOrd="2" presId="urn:microsoft.com/office/officeart/2005/8/layout/hierarchy3"/>
    <dgm:cxn modelId="{D8DADF5A-1AA9-4421-A456-F9765102073C}" type="presParOf" srcId="{32B15A97-B57D-4B9D-B599-4E04E25692B2}" destId="{1F8B2B7F-451F-4822-BD29-EC2E46C28DEB}" srcOrd="0" destOrd="1" presId="urn:microsoft.com/office/officeart/2005/8/layout/hierarchy3"/>
    <dgm:cxn modelId="{564DCBF9-477B-48F6-ADBA-BD9B5E1A3DFD}" type="presOf" srcId="{C389F766-9DF4-4347-807E-5B48D23E5161}" destId="{1F8B2B7F-451F-4822-BD29-EC2E46C28DEB}" srcOrd="0" destOrd="0" presId="urn:microsoft.com/office/officeart/2005/8/layout/hierarchy3"/>
    <dgm:cxn modelId="{8ECEEB4F-6418-43BE-A198-2B36A15E3EFC}" type="presParOf" srcId="{32B15A97-B57D-4B9D-B599-4E04E25692B2}" destId="{D5FBB9E3-B789-4287-8A4B-763E6CC9990D}" srcOrd="1" destOrd="1" presId="urn:microsoft.com/office/officeart/2005/8/layout/hierarchy3"/>
    <dgm:cxn modelId="{36B960DB-69CB-49CC-A61F-2F91F293D2DC}" type="presOf" srcId="{A7A537C9-4B08-41D3-80E5-F8C02344F110}" destId="{D5FBB9E3-B789-4287-8A4B-763E6CC9990D}" srcOrd="0" destOrd="0" presId="urn:microsoft.com/office/officeart/2005/8/layout/hierarchy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527559-FDD8-4274-B634-C7FBCF5BC573}" type="doc">
      <dgm:prSet loTypeId="urn:microsoft.com/office/officeart/2005/8/layout/chevron1" loCatId="process" qsTypeId="urn:microsoft.com/office/officeart/2005/8/quickstyle/simple1" qsCatId="simple" csTypeId="urn:microsoft.com/office/officeart/2005/8/colors/accent1_2" csCatId="accent1" phldr="0"/>
      <dgm:spPr/>
    </dgm:pt>
    <dgm:pt modelId="{870E4F47-8CC4-4F59-B4C1-42B5AAA5CEFE}">
      <dgm:prSet phldrT="[文本]" phldr="0" custT="0"/>
      <dgm:spPr/>
      <dgm:t>
        <a:bodyPr vert="horz" wrap="square"/>
        <a:p>
          <a:pPr>
            <a:lnSpc>
              <a:spcPct val="100000"/>
            </a:lnSpc>
            <a:spcBef>
              <a:spcPct val="0"/>
            </a:spcBef>
            <a:spcAft>
              <a:spcPct val="35000"/>
            </a:spcAft>
          </a:pPr>
          <a:r>
            <a:rPr lang="zh-CN" altLang="en-US">
              <a:sym typeface="+mn-ea"/>
            </a:rPr>
            <a:t>从音频信号中提取</a:t>
          </a:r>
          <a:r>
            <a:rPr lang="en-US" altLang="zh-CN">
              <a:sym typeface="+mn-ea"/>
            </a:rPr>
            <a:t> MFCC </a:t>
          </a:r>
          <a:r>
            <a:rPr lang="zh-CN" altLang="en-US">
              <a:sym typeface="+mn-ea"/>
            </a:rPr>
            <a:t>特征</a:t>
          </a:r>
          <a:r>
            <a:rPr lang="zh-CN" altLang="en-US"/>
            <a:t/>
          </a:r>
          <a:endParaRPr lang="zh-CN" altLang="en-US"/>
        </a:p>
      </dgm:t>
    </dgm:pt>
    <dgm:pt modelId="{3D1AB2CA-88A4-4E4C-9A8A-508DF0E06639}" cxnId="{9DD632EF-5D87-4562-9ADF-84C8DFFEED52}" type="parTrans">
      <dgm:prSet/>
      <dgm:spPr/>
    </dgm:pt>
    <dgm:pt modelId="{856E2728-BF00-49C7-82BA-8F4DCB00940B}" cxnId="{9DD632EF-5D87-4562-9ADF-84C8DFFEED52}" type="sibTrans">
      <dgm:prSet/>
      <dgm:spPr/>
    </dgm:pt>
    <dgm:pt modelId="{1AA64000-5F0F-47A8-A435-2AF8D82F28B1}">
      <dgm:prSet phldrT="[文本]" phldr="0" custT="0"/>
      <dgm:spPr/>
      <dgm:t>
        <a:bodyPr vert="horz" wrap="square"/>
        <a:p>
          <a:pPr>
            <a:lnSpc>
              <a:spcPct val="100000"/>
            </a:lnSpc>
            <a:spcBef>
              <a:spcPct val="0"/>
            </a:spcBef>
            <a:spcAft>
              <a:spcPct val="35000"/>
            </a:spcAft>
          </a:pPr>
          <a:r>
            <a:rPr lang="zh-CN" altLang="en-US">
              <a:sym typeface="+mn-ea"/>
            </a:rPr>
            <a:t>计算</a:t>
          </a:r>
          <a:r>
            <a:rPr lang="en-US" altLang="zh-CN">
              <a:sym typeface="+mn-ea"/>
            </a:rPr>
            <a:t> MFCC </a:t>
          </a:r>
          <a:r>
            <a:rPr lang="zh-CN" altLang="en-US">
              <a:sym typeface="+mn-ea"/>
            </a:rPr>
            <a:t>特征的一阶差分和二阶差分</a:t>
          </a:r>
          <a:r>
            <a:rPr lang="zh-CN" altLang="en-US"/>
            <a:t/>
          </a:r>
          <a:endParaRPr lang="zh-CN" altLang="en-US"/>
        </a:p>
      </dgm:t>
    </dgm:pt>
    <dgm:pt modelId="{845A32C3-0E8A-4EED-972E-FC6F9A8364F8}" cxnId="{B2F8BA4E-3727-4FFC-9002-2698BE44D955}" type="parTrans">
      <dgm:prSet/>
      <dgm:spPr/>
    </dgm:pt>
    <dgm:pt modelId="{C0D86BAE-7711-4781-A574-7BE0EA273229}" cxnId="{B2F8BA4E-3727-4FFC-9002-2698BE44D955}" type="sibTrans">
      <dgm:prSet/>
      <dgm:spPr/>
    </dgm:pt>
    <dgm:pt modelId="{9C12F5BE-AC2F-4662-8DFA-C79428950CF2}">
      <dgm:prSet phldrT="[文本]" phldr="0" custT="0"/>
      <dgm:spPr/>
      <dgm:t>
        <a:bodyPr vert="horz" wrap="square"/>
        <a:p>
          <a:pPr>
            <a:lnSpc>
              <a:spcPct val="100000"/>
            </a:lnSpc>
            <a:spcBef>
              <a:spcPct val="0"/>
            </a:spcBef>
            <a:spcAft>
              <a:spcPct val="35000"/>
            </a:spcAft>
          </a:pPr>
          <a:r>
            <a:rPr lang="zh-CN" altLang="en-US">
              <a:sym typeface="+mn-ea"/>
            </a:rPr>
            <a:t>将</a:t>
          </a:r>
          <a:r>
            <a:rPr lang="en-US" altLang="zh-CN">
              <a:sym typeface="+mn-ea"/>
            </a:rPr>
            <a:t> MFCC </a:t>
          </a:r>
          <a:r>
            <a:rPr lang="zh-CN" altLang="en-US">
              <a:sym typeface="+mn-ea"/>
            </a:rPr>
            <a:t>特征及其差分特征拼接形成特征矩阵</a:t>
          </a:r>
          <a:r>
            <a:rPr lang="zh-CN" altLang="en-US"/>
            <a:t/>
          </a:r>
          <a:endParaRPr lang="zh-CN" altLang="en-US"/>
        </a:p>
      </dgm:t>
    </dgm:pt>
    <dgm:pt modelId="{E2B7565C-BEBF-47B7-AC71-10023CB96091}" cxnId="{AE81A945-7A8A-4187-9330-40087B96F91C}" type="parTrans">
      <dgm:prSet/>
      <dgm:spPr/>
    </dgm:pt>
    <dgm:pt modelId="{BE48B07B-4C6F-4C50-9D7F-CE1D6590BF95}" cxnId="{AE81A945-7A8A-4187-9330-40087B96F91C}" type="sibTrans">
      <dgm:prSet/>
      <dgm:spPr/>
    </dgm:pt>
    <dgm:pt modelId="{2D511A75-BD64-4261-96C5-714AB45A5226}">
      <dgm:prSet phldr="0" custT="0"/>
      <dgm:spPr/>
      <dgm:t>
        <a:bodyPr vert="horz" wrap="square"/>
        <a:p>
          <a:pPr>
            <a:lnSpc>
              <a:spcPct val="100000"/>
            </a:lnSpc>
            <a:spcBef>
              <a:spcPct val="0"/>
            </a:spcBef>
            <a:spcAft>
              <a:spcPct val="35000"/>
            </a:spcAft>
          </a:pPr>
          <a:r>
            <a:rPr>
              <a:sym typeface="+mn-ea"/>
            </a:rPr>
            <a:t>对</a:t>
          </a:r>
          <a:r>
            <a:rPr lang="zh-CN" altLang="en-US">
              <a:sym typeface="+mn-ea"/>
            </a:rPr>
            <a:t>特征矩阵进行截取或填充，使其形状一致</a:t>
          </a:r>
          <a:r>
            <a:rPr lang="zh-CN" altLang="en-US"/>
            <a:t/>
          </a:r>
          <a:endParaRPr lang="zh-CN" altLang="en-US"/>
        </a:p>
      </dgm:t>
    </dgm:pt>
    <dgm:pt modelId="{47668259-1C8C-4F69-8046-1FF08688F0C0}" cxnId="{8B7E8C0E-E18A-48A3-BE00-9E7EFBA64CA2}" type="parTrans">
      <dgm:prSet/>
      <dgm:spPr/>
    </dgm:pt>
    <dgm:pt modelId="{D11036C1-375F-45FC-85F5-EA4ECD8D3142}" cxnId="{8B7E8C0E-E18A-48A3-BE00-9E7EFBA64CA2}" type="sibTrans">
      <dgm:prSet/>
      <dgm:spPr/>
    </dgm:pt>
    <dgm:pt modelId="{DE703778-0491-4CCF-9DB0-983D3C83E47A}">
      <dgm:prSet phldr="0" custT="0"/>
      <dgm:spPr/>
      <dgm:t>
        <a:bodyPr vert="horz" wrap="square"/>
        <a:p>
          <a:pPr>
            <a:lnSpc>
              <a:spcPct val="100000"/>
            </a:lnSpc>
            <a:spcBef>
              <a:spcPct val="0"/>
            </a:spcBef>
            <a:spcAft>
              <a:spcPct val="35000"/>
            </a:spcAft>
          </a:pPr>
          <a:r>
            <a:rPr>
              <a:sym typeface="+mn-ea"/>
            </a:rPr>
            <a:t>将</a:t>
          </a:r>
          <a:r>
            <a:rPr lang="zh-CN" altLang="en-US">
              <a:sym typeface="+mn-ea"/>
            </a:rPr>
            <a:t>特征矩阵转置并添加空维度，以符合</a:t>
          </a:r>
          <a:r>
            <a:rPr>
              <a:sym typeface="+mn-ea"/>
            </a:rPr>
            <a:t> </a:t>
          </a:r>
          <a:r>
            <a:rPr lang="en-US" altLang="zh-CN">
              <a:sym typeface="+mn-ea"/>
            </a:rPr>
            <a:t>CNN </a:t>
          </a:r>
          <a:r>
            <a:rPr>
              <a:sym typeface="+mn-ea"/>
            </a:rPr>
            <a:t>的</a:t>
          </a:r>
          <a:r>
            <a:rPr lang="zh-CN" altLang="en-US">
              <a:sym typeface="+mn-ea"/>
            </a:rPr>
            <a:t>输入要求</a:t>
          </a:r>
          <a:r>
            <a:rPr lang="zh-CN" altLang="en-US"/>
            <a:t/>
          </a:r>
          <a:endParaRPr lang="zh-CN" altLang="en-US"/>
        </a:p>
      </dgm:t>
    </dgm:pt>
    <dgm:pt modelId="{C3E97783-7A12-46C1-B75E-9A0E999086D2}" cxnId="{5D474EEB-ECB1-4426-AC45-75FF7C8B8ACC}" type="parTrans">
      <dgm:prSet/>
      <dgm:spPr/>
    </dgm:pt>
    <dgm:pt modelId="{B8A7BD35-A03B-4D34-BF71-2D385A75DF36}" cxnId="{5D474EEB-ECB1-4426-AC45-75FF7C8B8ACC}" type="sibTrans">
      <dgm:prSet/>
      <dgm:spPr/>
    </dgm:pt>
    <dgm:pt modelId="{60E81CF5-4537-4C2F-8762-598D2E914097}" type="pres">
      <dgm:prSet presAssocID="{9D527559-FDD8-4274-B634-C7FBCF5BC573}" presName="Name0" presStyleCnt="0">
        <dgm:presLayoutVars>
          <dgm:dir/>
          <dgm:animLvl val="lvl"/>
          <dgm:resizeHandles val="exact"/>
        </dgm:presLayoutVars>
      </dgm:prSet>
      <dgm:spPr/>
    </dgm:pt>
    <dgm:pt modelId="{67FF3BB9-6612-4697-87EE-EC66312779BE}" type="pres">
      <dgm:prSet presAssocID="{870E4F47-8CC4-4F59-B4C1-42B5AAA5CEFE}" presName="parTxOnly" presStyleLbl="node1" presStyleIdx="0" presStyleCnt="5">
        <dgm:presLayoutVars>
          <dgm:chMax val="0"/>
          <dgm:chPref val="0"/>
          <dgm:bulletEnabled val="1"/>
        </dgm:presLayoutVars>
      </dgm:prSet>
      <dgm:spPr/>
    </dgm:pt>
    <dgm:pt modelId="{E484CEA2-673C-4A85-8A00-8580D721B29A}" type="pres">
      <dgm:prSet presAssocID="{856E2728-BF00-49C7-82BA-8F4DCB00940B}" presName="parTxOnlySpace" presStyleCnt="0"/>
      <dgm:spPr/>
    </dgm:pt>
    <dgm:pt modelId="{D3000CD6-B08B-4D3B-8D2A-7F1C26A23961}" type="pres">
      <dgm:prSet presAssocID="{1AA64000-5F0F-47A8-A435-2AF8D82F28B1}" presName="parTxOnly" presStyleLbl="node1" presStyleIdx="1" presStyleCnt="5">
        <dgm:presLayoutVars>
          <dgm:chMax val="0"/>
          <dgm:chPref val="0"/>
          <dgm:bulletEnabled val="1"/>
        </dgm:presLayoutVars>
      </dgm:prSet>
      <dgm:spPr/>
    </dgm:pt>
    <dgm:pt modelId="{1773A515-DFFE-41F0-B581-98757CBEC16E}" type="pres">
      <dgm:prSet presAssocID="{C0D86BAE-7711-4781-A574-7BE0EA273229}" presName="parTxOnlySpace" presStyleCnt="0"/>
      <dgm:spPr/>
    </dgm:pt>
    <dgm:pt modelId="{74437C11-3810-488A-B265-8C8037793D77}" type="pres">
      <dgm:prSet presAssocID="{9C12F5BE-AC2F-4662-8DFA-C79428950CF2}" presName="parTxOnly" presStyleLbl="node1" presStyleIdx="2" presStyleCnt="5">
        <dgm:presLayoutVars>
          <dgm:chMax val="0"/>
          <dgm:chPref val="0"/>
          <dgm:bulletEnabled val="1"/>
        </dgm:presLayoutVars>
      </dgm:prSet>
      <dgm:spPr/>
    </dgm:pt>
    <dgm:pt modelId="{7834D0AC-E540-4BD1-89F5-9DC572623C1B}" type="pres">
      <dgm:prSet presAssocID="{BE48B07B-4C6F-4C50-9D7F-CE1D6590BF95}" presName="parTxOnlySpace" presStyleCnt="0"/>
      <dgm:spPr/>
    </dgm:pt>
    <dgm:pt modelId="{C341A46F-F4E6-4A87-89C0-5148BE229964}" type="pres">
      <dgm:prSet presAssocID="{2D511A75-BD64-4261-96C5-714AB45A5226}" presName="parTxOnly" presStyleLbl="node1" presStyleIdx="3" presStyleCnt="5">
        <dgm:presLayoutVars>
          <dgm:chMax val="0"/>
          <dgm:chPref val="0"/>
          <dgm:bulletEnabled val="1"/>
        </dgm:presLayoutVars>
      </dgm:prSet>
      <dgm:spPr/>
    </dgm:pt>
    <dgm:pt modelId="{4725A14B-EA5D-4767-A3E5-676677699733}" type="pres">
      <dgm:prSet presAssocID="{D11036C1-375F-45FC-85F5-EA4ECD8D3142}" presName="parTxOnlySpace" presStyleCnt="0"/>
      <dgm:spPr/>
    </dgm:pt>
    <dgm:pt modelId="{68DD500A-E6A7-47F9-AABA-9D8793C0540E}" type="pres">
      <dgm:prSet presAssocID="{DE703778-0491-4CCF-9DB0-983D3C83E47A}" presName="parTxOnly" presStyleLbl="node1" presStyleIdx="4" presStyleCnt="5">
        <dgm:presLayoutVars>
          <dgm:chMax val="0"/>
          <dgm:chPref val="0"/>
          <dgm:bulletEnabled val="1"/>
        </dgm:presLayoutVars>
      </dgm:prSet>
      <dgm:spPr/>
    </dgm:pt>
  </dgm:ptLst>
  <dgm:cxnLst>
    <dgm:cxn modelId="{9DD632EF-5D87-4562-9ADF-84C8DFFEED52}" srcId="{9D527559-FDD8-4274-B634-C7FBCF5BC573}" destId="{870E4F47-8CC4-4F59-B4C1-42B5AAA5CEFE}" srcOrd="0" destOrd="0" parTransId="{3D1AB2CA-88A4-4E4C-9A8A-508DF0E06639}" sibTransId="{856E2728-BF00-49C7-82BA-8F4DCB00940B}"/>
    <dgm:cxn modelId="{B2F8BA4E-3727-4FFC-9002-2698BE44D955}" srcId="{9D527559-FDD8-4274-B634-C7FBCF5BC573}" destId="{1AA64000-5F0F-47A8-A435-2AF8D82F28B1}" srcOrd="1" destOrd="0" parTransId="{845A32C3-0E8A-4EED-972E-FC6F9A8364F8}" sibTransId="{C0D86BAE-7711-4781-A574-7BE0EA273229}"/>
    <dgm:cxn modelId="{AE81A945-7A8A-4187-9330-40087B96F91C}" srcId="{9D527559-FDD8-4274-B634-C7FBCF5BC573}" destId="{9C12F5BE-AC2F-4662-8DFA-C79428950CF2}" srcOrd="2" destOrd="0" parTransId="{E2B7565C-BEBF-47B7-AC71-10023CB96091}" sibTransId="{BE48B07B-4C6F-4C50-9D7F-CE1D6590BF95}"/>
    <dgm:cxn modelId="{8B7E8C0E-E18A-48A3-BE00-9E7EFBA64CA2}" srcId="{9D527559-FDD8-4274-B634-C7FBCF5BC573}" destId="{2D511A75-BD64-4261-96C5-714AB45A5226}" srcOrd="3" destOrd="0" parTransId="{47668259-1C8C-4F69-8046-1FF08688F0C0}" sibTransId="{D11036C1-375F-45FC-85F5-EA4ECD8D3142}"/>
    <dgm:cxn modelId="{5D474EEB-ECB1-4426-AC45-75FF7C8B8ACC}" srcId="{9D527559-FDD8-4274-B634-C7FBCF5BC573}" destId="{DE703778-0491-4CCF-9DB0-983D3C83E47A}" srcOrd="4" destOrd="0" parTransId="{C3E97783-7A12-46C1-B75E-9A0E999086D2}" sibTransId="{B8A7BD35-A03B-4D34-BF71-2D385A75DF36}"/>
    <dgm:cxn modelId="{F423DC3C-FD79-4723-AED1-A86C309982A8}" type="presOf" srcId="{9D527559-FDD8-4274-B634-C7FBCF5BC573}" destId="{60E81CF5-4537-4C2F-8762-598D2E914097}" srcOrd="0" destOrd="0" presId="urn:microsoft.com/office/officeart/2005/8/layout/chevron1"/>
    <dgm:cxn modelId="{F6B6D97F-12C4-4727-A54A-54F9DC4903EB}" type="presParOf" srcId="{60E81CF5-4537-4C2F-8762-598D2E914097}" destId="{67FF3BB9-6612-4697-87EE-EC66312779BE}" srcOrd="0" destOrd="0" presId="urn:microsoft.com/office/officeart/2005/8/layout/chevron1"/>
    <dgm:cxn modelId="{CEAFA44F-9BAD-40AA-87D5-E65F7D598559}" type="presOf" srcId="{870E4F47-8CC4-4F59-B4C1-42B5AAA5CEFE}" destId="{67FF3BB9-6612-4697-87EE-EC66312779BE}" srcOrd="0" destOrd="0" presId="urn:microsoft.com/office/officeart/2005/8/layout/chevron1"/>
    <dgm:cxn modelId="{9F2A4B77-5696-4510-944C-55A9528A8829}" type="presParOf" srcId="{60E81CF5-4537-4C2F-8762-598D2E914097}" destId="{E484CEA2-673C-4A85-8A00-8580D721B29A}" srcOrd="1" destOrd="0" presId="urn:microsoft.com/office/officeart/2005/8/layout/chevron1"/>
    <dgm:cxn modelId="{97714A4D-419D-4A71-9C58-61D42CCF3A04}" type="presParOf" srcId="{60E81CF5-4537-4C2F-8762-598D2E914097}" destId="{D3000CD6-B08B-4D3B-8D2A-7F1C26A23961}" srcOrd="2" destOrd="0" presId="urn:microsoft.com/office/officeart/2005/8/layout/chevron1"/>
    <dgm:cxn modelId="{DF7CC44C-20B7-4515-B32B-FB2DC760A48E}" type="presOf" srcId="{1AA64000-5F0F-47A8-A435-2AF8D82F28B1}" destId="{D3000CD6-B08B-4D3B-8D2A-7F1C26A23961}" srcOrd="0" destOrd="0" presId="urn:microsoft.com/office/officeart/2005/8/layout/chevron1"/>
    <dgm:cxn modelId="{B225DAB4-91E2-45B4-9550-21E1460BD6F8}" type="presParOf" srcId="{60E81CF5-4537-4C2F-8762-598D2E914097}" destId="{1773A515-DFFE-41F0-B581-98757CBEC16E}" srcOrd="3" destOrd="0" presId="urn:microsoft.com/office/officeart/2005/8/layout/chevron1"/>
    <dgm:cxn modelId="{DBF6D1FC-F7CB-4D17-91F2-0CBDD24994F0}" type="presParOf" srcId="{60E81CF5-4537-4C2F-8762-598D2E914097}" destId="{74437C11-3810-488A-B265-8C8037793D77}" srcOrd="4" destOrd="0" presId="urn:microsoft.com/office/officeart/2005/8/layout/chevron1"/>
    <dgm:cxn modelId="{8B1E3679-33D3-4C7D-A338-FD66AE998B7A}" type="presOf" srcId="{9C12F5BE-AC2F-4662-8DFA-C79428950CF2}" destId="{74437C11-3810-488A-B265-8C8037793D77}" srcOrd="0" destOrd="0" presId="urn:microsoft.com/office/officeart/2005/8/layout/chevron1"/>
    <dgm:cxn modelId="{31591DAA-6C67-485A-8868-49BB7880CD8C}" type="presParOf" srcId="{60E81CF5-4537-4C2F-8762-598D2E914097}" destId="{7834D0AC-E540-4BD1-89F5-9DC572623C1B}" srcOrd="5" destOrd="0" presId="urn:microsoft.com/office/officeart/2005/8/layout/chevron1"/>
    <dgm:cxn modelId="{68DD78F9-9EF7-4C6E-B296-DCF2705A4160}" type="presParOf" srcId="{60E81CF5-4537-4C2F-8762-598D2E914097}" destId="{C341A46F-F4E6-4A87-89C0-5148BE229964}" srcOrd="6" destOrd="0" presId="urn:microsoft.com/office/officeart/2005/8/layout/chevron1"/>
    <dgm:cxn modelId="{CA2B7911-08FF-4EE7-8B50-767CCF6E8FED}" type="presOf" srcId="{2D511A75-BD64-4261-96C5-714AB45A5226}" destId="{C341A46F-F4E6-4A87-89C0-5148BE229964}" srcOrd="0" destOrd="0" presId="urn:microsoft.com/office/officeart/2005/8/layout/chevron1"/>
    <dgm:cxn modelId="{A7C65DEF-09EE-43CB-9FC1-7812A165263D}" type="presParOf" srcId="{60E81CF5-4537-4C2F-8762-598D2E914097}" destId="{4725A14B-EA5D-4767-A3E5-676677699733}" srcOrd="7" destOrd="0" presId="urn:microsoft.com/office/officeart/2005/8/layout/chevron1"/>
    <dgm:cxn modelId="{0B0773EA-93F8-47E0-9128-D525486AC883}" type="presParOf" srcId="{60E81CF5-4537-4C2F-8762-598D2E914097}" destId="{68DD500A-E6A7-47F9-AABA-9D8793C0540E}" srcOrd="8" destOrd="0" presId="urn:microsoft.com/office/officeart/2005/8/layout/chevron1"/>
    <dgm:cxn modelId="{5F1DD990-5C25-4FD1-9296-392BF25A6F3D}" type="presOf" srcId="{DE703778-0491-4CCF-9DB0-983D3C83E47A}" destId="{68DD500A-E6A7-47F9-AABA-9D8793C0540E}" srcOrd="0"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ED11FAF-F249-4AD8-81EE-DE1AF2564EB5}" type="doc">
      <dgm:prSet loTypeId="hierarchy" loCatId="hierarchy" qsTypeId="urn:microsoft.com/office/officeart/2005/8/quickstyle/simple1" qsCatId="simple" csTypeId="urn:microsoft.com/office/officeart/2005/8/colors/accent1_2" csCatId="accent1" phldr="0"/>
      <dgm:spPr/>
      <dgm:t>
        <a:bodyPr/>
        <a:p>
          <a:endParaRPr lang="zh-CN" altLang="en-US"/>
        </a:p>
      </dgm:t>
    </dgm:pt>
    <dgm:pt modelId="{279B103B-3EF0-4EBD-866E-85F63AE29D65}">
      <dgm:prSet phldrT="[文本]" phldr="0" custT="0"/>
      <dgm:spPr/>
      <dgm:t>
        <a:bodyPr vert="horz" wrap="square"/>
        <a:p>
          <a:pPr>
            <a:lnSpc>
              <a:spcPct val="100000"/>
            </a:lnSpc>
            <a:spcBef>
              <a:spcPct val="0"/>
            </a:spcBef>
            <a:spcAft>
              <a:spcPct val="35000"/>
            </a:spcAft>
          </a:pPr>
          <a:r>
            <a:rPr lang="zh-CN" altLang="en-US">
              <a:sym typeface="+mn-ea"/>
            </a:rPr>
            <a:t>卷积层和批归一化层</a:t>
          </a:r>
          <a:endParaRPr lang="zh-CN" altLang="en-US">
            <a:sym typeface="+mn-ea"/>
          </a:endParaRPr>
        </a:p>
        <a:p>
          <a:pPr>
            <a:lnSpc>
              <a:spcPct val="100000"/>
            </a:lnSpc>
            <a:spcBef>
              <a:spcPct val="0"/>
            </a:spcBef>
            <a:spcAft>
              <a:spcPct val="35000"/>
            </a:spcAft>
          </a:pPr>
          <a:r>
            <a:rPr lang="zh-CN" altLang="en-US">
              <a:sym typeface="+mn-ea"/>
            </a:rPr>
            <a:t>网络包含多个卷积层，每层之后接一个批归一化层，以加速收敛和提高模型稳定性</a:t>
          </a:r>
          <a:r>
            <a:rPr lang="zh-CN" altLang="en-US"/>
            <a:t/>
          </a:r>
          <a:endParaRPr lang="zh-CN" altLang="en-US"/>
        </a:p>
      </dgm:t>
    </dgm:pt>
    <dgm:pt modelId="{23A428E2-7436-4875-B687-115F44990015}" cxnId="{C2AFF75B-D37E-4B84-93CE-32762B7A5A6F}" type="parTrans">
      <dgm:prSet/>
      <dgm:spPr/>
      <dgm:t>
        <a:bodyPr/>
        <a:p>
          <a:endParaRPr lang="zh-CN" altLang="en-US"/>
        </a:p>
      </dgm:t>
    </dgm:pt>
    <dgm:pt modelId="{A0F7AFDE-37EE-4590-B516-72A7DE6B722E}" cxnId="{C2AFF75B-D37E-4B84-93CE-32762B7A5A6F}" type="sibTrans">
      <dgm:prSet/>
      <dgm:spPr/>
      <dgm:t>
        <a:bodyPr/>
        <a:p>
          <a:endParaRPr lang="zh-CN" altLang="en-US"/>
        </a:p>
      </dgm:t>
    </dgm:pt>
    <dgm:pt modelId="{E42ED75B-2131-4179-ABB3-81C04455A0FE}">
      <dgm:prSet phldrT="[文本]" phldr="0" custT="0"/>
      <dgm:spPr/>
      <dgm:t>
        <a:bodyPr vert="horz" wrap="square"/>
        <a:p>
          <a:pPr>
            <a:lnSpc>
              <a:spcPct val="100000"/>
            </a:lnSpc>
            <a:spcBef>
              <a:spcPct val="0"/>
            </a:spcBef>
            <a:spcAft>
              <a:spcPct val="35000"/>
            </a:spcAft>
          </a:pPr>
          <a:r>
            <a:rPr lang="zh-CN" altLang="en-US">
              <a:sym typeface="+mn-ea"/>
            </a:rPr>
            <a:t>激活函数</a:t>
          </a:r>
          <a:endParaRPr lang="zh-CN" altLang="en-US">
            <a:sym typeface="+mn-ea"/>
          </a:endParaRPr>
        </a:p>
        <a:p>
          <a:pPr>
            <a:lnSpc>
              <a:spcPct val="100000"/>
            </a:lnSpc>
            <a:spcBef>
              <a:spcPct val="0"/>
            </a:spcBef>
            <a:spcAft>
              <a:spcPct val="35000"/>
            </a:spcAft>
          </a:pPr>
          <a:r>
            <a:rPr lang="zh-CN" altLang="en-US">
              <a:sym typeface="+mn-ea"/>
            </a:rPr>
            <a:t>每个卷积层后应用</a:t>
          </a:r>
          <a:r>
            <a:rPr lang="en-US" altLang="zh-CN">
              <a:sym typeface="+mn-ea"/>
            </a:rPr>
            <a:t> ReLU </a:t>
          </a:r>
          <a:r>
            <a:rPr lang="zh-CN" altLang="en-US">
              <a:sym typeface="+mn-ea"/>
            </a:rPr>
            <a:t>激活函数，以引入非线性</a:t>
          </a:r>
          <a:r>
            <a:rPr lang="zh-CN" altLang="en-US"/>
            <a:t/>
          </a:r>
          <a:endParaRPr lang="zh-CN" altLang="en-US"/>
        </a:p>
      </dgm:t>
    </dgm:pt>
    <dgm:pt modelId="{811AD7EC-422A-4894-B347-AE527E734FDB}" cxnId="{CCC0F66B-91A7-487C-8324-CE48362E4397}" type="parTrans">
      <dgm:prSet/>
      <dgm:spPr/>
      <dgm:t>
        <a:bodyPr/>
        <a:p>
          <a:endParaRPr lang="zh-CN" altLang="en-US"/>
        </a:p>
      </dgm:t>
    </dgm:pt>
    <dgm:pt modelId="{08979843-BCC0-4CCC-A73F-0C305B3C7561}" cxnId="{CCC0F66B-91A7-487C-8324-CE48362E4397}" type="sibTrans">
      <dgm:prSet/>
      <dgm:spPr/>
      <dgm:t>
        <a:bodyPr/>
        <a:p>
          <a:endParaRPr lang="zh-CN" altLang="en-US"/>
        </a:p>
      </dgm:t>
    </dgm:pt>
    <dgm:pt modelId="{C9DB0E9F-C107-4032-BFB2-F82CDD296E03}">
      <dgm:prSet phldr="0" custT="0"/>
      <dgm:spPr/>
      <dgm:t>
        <a:bodyPr vert="horz" wrap="square"/>
        <a:p>
          <a:pPr>
            <a:lnSpc>
              <a:spcPct val="100000"/>
            </a:lnSpc>
            <a:spcBef>
              <a:spcPct val="0"/>
            </a:spcBef>
            <a:spcAft>
              <a:spcPct val="35000"/>
            </a:spcAft>
          </a:pPr>
          <a:r>
            <a:rPr>
              <a:sym typeface="+mn-ea"/>
            </a:rPr>
            <a:t>全</a:t>
          </a:r>
          <a:r>
            <a:rPr>
              <a:sym typeface="+mn-ea"/>
            </a:rPr>
            <a:t>连</a:t>
          </a:r>
          <a:r>
            <a:rPr>
              <a:sym typeface="+mn-ea"/>
            </a:rPr>
            <a:t>接</a:t>
          </a:r>
          <a:r>
            <a:rPr lang="zh-CN" altLang="en-US">
              <a:sym typeface="+mn-ea"/>
            </a:rPr>
            <a:t>层</a:t>
          </a:r>
          <a:r>
            <a:rPr lang="zh-CN" altLang="en-US">
              <a:sym typeface="+mn-ea"/>
            </a:rPr>
            <a:t/>
          </a:r>
          <a:endParaRPr lang="zh-CN" altLang="en-US">
            <a:sym typeface="+mn-ea"/>
          </a:endParaRPr>
        </a:p>
        <a:p>
          <a:pPr>
            <a:lnSpc>
              <a:spcPct val="100000"/>
            </a:lnSpc>
            <a:spcBef>
              <a:spcPct val="0"/>
            </a:spcBef>
            <a:spcAft>
              <a:spcPct val="35000"/>
            </a:spcAft>
          </a:pPr>
          <a:r>
            <a:rPr>
              <a:sym typeface="+mn-ea"/>
            </a:rPr>
            <a:t>卷</a:t>
          </a:r>
          <a:r>
            <a:rPr>
              <a:sym typeface="+mn-ea"/>
            </a:rPr>
            <a:t>积</a:t>
          </a:r>
          <a:r>
            <a:rPr lang="zh-CN" altLang="en-US">
              <a:sym typeface="+mn-ea"/>
            </a:rPr>
            <a:t>层输出的特征经过全连接层进行分类</a:t>
          </a:r>
          <a:r>
            <a:rPr lang="zh-CN" altLang="en-US"/>
            <a:t/>
          </a:r>
          <a:endParaRPr lang="zh-CN" altLang="en-US"/>
        </a:p>
      </dgm:t>
    </dgm:pt>
    <dgm:pt modelId="{B0584B93-23A4-433D-A6A0-785862FF8D3B}" cxnId="{401D5477-8E86-4294-87B4-2782C366D644}" type="parTrans">
      <dgm:prSet/>
      <dgm:spPr/>
    </dgm:pt>
    <dgm:pt modelId="{50576BFA-8C40-495C-B87C-24F58E0072FF}" cxnId="{401D5477-8E86-4294-87B4-2782C366D644}" type="sibTrans">
      <dgm:prSet/>
      <dgm:spPr/>
    </dgm:pt>
    <dgm:pt modelId="{983D3AE7-F403-4EF9-925D-7A212E0C051D}">
      <dgm:prSet phldr="0" custT="0"/>
      <dgm:spPr/>
      <dgm:t>
        <a:bodyPr vert="horz" wrap="square"/>
        <a:p>
          <a:pPr>
            <a:lnSpc>
              <a:spcPct val="100000"/>
            </a:lnSpc>
            <a:spcBef>
              <a:spcPct val="0"/>
            </a:spcBef>
            <a:spcAft>
              <a:spcPct val="35000"/>
            </a:spcAft>
          </a:pPr>
          <a:r>
            <a:rPr>
              <a:sym typeface="+mn-ea"/>
            </a:rPr>
            <a:t>D</a:t>
          </a:r>
          <a:r>
            <a:rPr>
              <a:sym typeface="+mn-ea"/>
            </a:rPr>
            <a:t>r</a:t>
          </a:r>
          <a:r>
            <a:rPr lang="en-US" altLang="zh-CN">
              <a:sym typeface="+mn-ea"/>
            </a:rPr>
            <a:t>opout </a:t>
          </a:r>
          <a:r>
            <a:rPr>
              <a:sym typeface="+mn-ea"/>
            </a:rPr>
            <a:t>层</a:t>
          </a:r>
          <a:r>
            <a:rPr>
              <a:sym typeface="+mn-ea"/>
            </a:rPr>
            <a:t/>
          </a:r>
          <a:endParaRPr>
            <a:sym typeface="+mn-ea"/>
          </a:endParaRPr>
        </a:p>
        <a:p>
          <a:pPr>
            <a:lnSpc>
              <a:spcPct val="100000"/>
            </a:lnSpc>
            <a:spcBef>
              <a:spcPct val="0"/>
            </a:spcBef>
            <a:spcAft>
              <a:spcPct val="35000"/>
            </a:spcAft>
          </a:pPr>
          <a:r>
            <a:rPr>
              <a:sym typeface="+mn-ea"/>
            </a:rPr>
            <a:t>在</a:t>
          </a:r>
          <a:r>
            <a:rPr lang="zh-CN" altLang="en-US">
              <a:sym typeface="+mn-ea"/>
            </a:rPr>
            <a:t>全连接层后添加</a:t>
          </a:r>
          <a:r>
            <a:rPr>
              <a:sym typeface="+mn-ea"/>
            </a:rPr>
            <a:t> </a:t>
          </a:r>
          <a:r>
            <a:rPr>
              <a:sym typeface="+mn-ea"/>
            </a:rPr>
            <a:t>D</a:t>
          </a:r>
          <a:r>
            <a:rPr lang="en-US" altLang="zh-CN">
              <a:sym typeface="+mn-ea"/>
            </a:rPr>
            <a:t>ropout </a:t>
          </a:r>
          <a:r>
            <a:rPr>
              <a:sym typeface="+mn-ea"/>
            </a:rPr>
            <a:t>层</a:t>
          </a:r>
          <a:r>
            <a:rPr>
              <a:sym typeface="+mn-ea"/>
            </a:rPr>
            <a:t>，</a:t>
          </a:r>
          <a:r>
            <a:rPr lang="zh-CN" altLang="en-US">
              <a:sym typeface="+mn-ea"/>
            </a:rPr>
            <a:t>防止过拟合</a:t>
          </a:r>
          <a:r>
            <a:rPr lang="zh-CN" altLang="en-US"/>
            <a:t/>
          </a:r>
          <a:endParaRPr lang="zh-CN" altLang="en-US"/>
        </a:p>
      </dgm:t>
    </dgm:pt>
    <dgm:pt modelId="{E1D0B963-59F0-46E5-9CE3-496A49F72C07}" cxnId="{3876320F-1B2D-4702-BCCF-79B129F19CE9}" type="parTrans">
      <dgm:prSet/>
      <dgm:spPr/>
    </dgm:pt>
    <dgm:pt modelId="{800CC393-3E82-415E-941D-9B5FC3E2B454}" cxnId="{3876320F-1B2D-4702-BCCF-79B129F19CE9}" type="sibTrans">
      <dgm:prSet/>
      <dgm:spPr/>
    </dgm:pt>
    <dgm:pt modelId="{F4CF7D25-EC55-4CC2-A191-A180F9892444}" type="pres">
      <dgm:prSet presAssocID="{3ED11FAF-F249-4AD8-81EE-DE1AF2564EB5}" presName="Name0" presStyleCnt="0">
        <dgm:presLayoutVars>
          <dgm:chPref val="1"/>
          <dgm:dir/>
          <dgm:animOne val="branch"/>
          <dgm:animLvl val="lvl"/>
          <dgm:resizeHandles/>
        </dgm:presLayoutVars>
      </dgm:prSet>
      <dgm:spPr/>
    </dgm:pt>
    <dgm:pt modelId="{86628150-E81F-407C-BBDA-DD41D73A1D58}" type="pres">
      <dgm:prSet presAssocID="{279B103B-3EF0-4EBD-866E-85F63AE29D65}" presName="vertOne" presStyleCnt="0"/>
      <dgm:spPr/>
    </dgm:pt>
    <dgm:pt modelId="{70E11759-2403-454F-AA72-C47A7039B843}" type="pres">
      <dgm:prSet presAssocID="{279B103B-3EF0-4EBD-866E-85F63AE29D65}" presName="txOne" presStyleLbl="node0" presStyleIdx="0" presStyleCnt="2">
        <dgm:presLayoutVars>
          <dgm:chPref val="3"/>
        </dgm:presLayoutVars>
      </dgm:prSet>
      <dgm:spPr/>
    </dgm:pt>
    <dgm:pt modelId="{BBBCE7EB-C57C-467B-90FF-ADA7EBD4EAE6}" type="pres">
      <dgm:prSet presAssocID="{279B103B-3EF0-4EBD-866E-85F63AE29D65}" presName="parTransOne" presStyleCnt="0"/>
      <dgm:spPr/>
    </dgm:pt>
    <dgm:pt modelId="{AC5D52D0-4933-4D7F-A8E4-251E11D165BA}" type="pres">
      <dgm:prSet presAssocID="{279B103B-3EF0-4EBD-866E-85F63AE29D65}" presName="horzOne" presStyleCnt="0"/>
      <dgm:spPr/>
    </dgm:pt>
    <dgm:pt modelId="{35801378-86A5-4DFC-913B-010801B8973E}" type="pres">
      <dgm:prSet presAssocID="{E42ED75B-2131-4179-ABB3-81C04455A0FE}" presName="vertTwo" presStyleCnt="0"/>
      <dgm:spPr/>
    </dgm:pt>
    <dgm:pt modelId="{A273FBB4-03FE-41EA-8D26-B5EFDA20D4B1}" type="pres">
      <dgm:prSet presAssocID="{E42ED75B-2131-4179-ABB3-81C04455A0FE}" presName="txTwo" presStyleLbl="node2" presStyleIdx="0" presStyleCnt="2">
        <dgm:presLayoutVars>
          <dgm:chPref val="3"/>
        </dgm:presLayoutVars>
      </dgm:prSet>
      <dgm:spPr/>
    </dgm:pt>
    <dgm:pt modelId="{C2772AE6-2B82-4A44-BBD6-CE57ACF0586D}" type="pres">
      <dgm:prSet presAssocID="{E42ED75B-2131-4179-ABB3-81C04455A0FE}" presName="horzTwo" presStyleCnt="0"/>
      <dgm:spPr/>
    </dgm:pt>
    <dgm:pt modelId="{0541E385-6A60-43E2-800B-28B327B87373}" type="pres">
      <dgm:prSet presAssocID="{A0F7AFDE-37EE-4590-B516-72A7DE6B722E}" presName="sibSpaceOne" presStyleCnt="0"/>
      <dgm:spPr/>
    </dgm:pt>
    <dgm:pt modelId="{C107E8FA-4DCA-4B07-8DBC-355D8FF7AF3B}" type="pres">
      <dgm:prSet presAssocID="{C9DB0E9F-C107-4032-BFB2-F82CDD296E03}" presName="vertOne" presStyleCnt="0"/>
      <dgm:spPr/>
    </dgm:pt>
    <dgm:pt modelId="{828D93AA-A30E-44A7-9962-1AD12BFEEBB3}" type="pres">
      <dgm:prSet presAssocID="{C9DB0E9F-C107-4032-BFB2-F82CDD296E03}" presName="txOne" presStyleLbl="node0" presStyleIdx="1" presStyleCnt="2">
        <dgm:presLayoutVars>
          <dgm:chPref val="3"/>
        </dgm:presLayoutVars>
      </dgm:prSet>
      <dgm:spPr/>
    </dgm:pt>
    <dgm:pt modelId="{A04D3EC1-C59E-47C8-8F01-104A673DD7B1}" type="pres">
      <dgm:prSet presAssocID="{C9DB0E9F-C107-4032-BFB2-F82CDD296E03}" presName="parTransOne" presStyleCnt="0"/>
      <dgm:spPr/>
    </dgm:pt>
    <dgm:pt modelId="{51CB2108-A3D6-43D9-B849-EF5C75CEB19D}" type="pres">
      <dgm:prSet presAssocID="{C9DB0E9F-C107-4032-BFB2-F82CDD296E03}" presName="horzOne" presStyleCnt="0"/>
      <dgm:spPr/>
    </dgm:pt>
    <dgm:pt modelId="{67272B74-49E5-4F89-B592-278ABDF5E98A}" type="pres">
      <dgm:prSet presAssocID="{983D3AE7-F403-4EF9-925D-7A212E0C051D}" presName="vertTwo" presStyleCnt="0"/>
      <dgm:spPr/>
    </dgm:pt>
    <dgm:pt modelId="{1BC52CDC-7532-47DB-B9C5-B593E07AD50C}" type="pres">
      <dgm:prSet presAssocID="{983D3AE7-F403-4EF9-925D-7A212E0C051D}" presName="txTwo" presStyleLbl="node2" presStyleIdx="1" presStyleCnt="2">
        <dgm:presLayoutVars>
          <dgm:chPref val="3"/>
        </dgm:presLayoutVars>
      </dgm:prSet>
      <dgm:spPr/>
    </dgm:pt>
    <dgm:pt modelId="{F37BC57A-4259-411C-B304-17090B71F7FD}" type="pres">
      <dgm:prSet presAssocID="{983D3AE7-F403-4EF9-925D-7A212E0C051D}" presName="horzTwo" presStyleCnt="0"/>
      <dgm:spPr/>
    </dgm:pt>
  </dgm:ptLst>
  <dgm:cxnLst>
    <dgm:cxn modelId="{C2AFF75B-D37E-4B84-93CE-32762B7A5A6F}" srcId="{3ED11FAF-F249-4AD8-81EE-DE1AF2564EB5}" destId="{279B103B-3EF0-4EBD-866E-85F63AE29D65}" srcOrd="0" destOrd="0" parTransId="{23A428E2-7436-4875-B687-115F44990015}" sibTransId="{A0F7AFDE-37EE-4590-B516-72A7DE6B722E}"/>
    <dgm:cxn modelId="{CCC0F66B-91A7-487C-8324-CE48362E4397}" srcId="{279B103B-3EF0-4EBD-866E-85F63AE29D65}" destId="{E42ED75B-2131-4179-ABB3-81C04455A0FE}" srcOrd="0" destOrd="0" parTransId="{811AD7EC-422A-4894-B347-AE527E734FDB}" sibTransId="{08979843-BCC0-4CCC-A73F-0C305B3C7561}"/>
    <dgm:cxn modelId="{401D5477-8E86-4294-87B4-2782C366D644}" srcId="{3ED11FAF-F249-4AD8-81EE-DE1AF2564EB5}" destId="{C9DB0E9F-C107-4032-BFB2-F82CDD296E03}" srcOrd="1" destOrd="0" parTransId="{B0584B93-23A4-433D-A6A0-785862FF8D3B}" sibTransId="{50576BFA-8C40-495C-B87C-24F58E0072FF}"/>
    <dgm:cxn modelId="{3876320F-1B2D-4702-BCCF-79B129F19CE9}" srcId="{C9DB0E9F-C107-4032-BFB2-F82CDD296E03}" destId="{983D3AE7-F403-4EF9-925D-7A212E0C051D}" srcOrd="0" destOrd="1" parTransId="{E1D0B963-59F0-46E5-9CE3-496A49F72C07}" sibTransId="{800CC393-3E82-415E-941D-9B5FC3E2B454}"/>
    <dgm:cxn modelId="{FA7A737D-E14C-4290-96DB-A28183EDA411}" type="presOf" srcId="{3ED11FAF-F249-4AD8-81EE-DE1AF2564EB5}" destId="{F4CF7D25-EC55-4CC2-A191-A180F9892444}" srcOrd="0" destOrd="0" presId="urn:microsoft.com/office/officeart/2005/8/layout/hierarchy4"/>
    <dgm:cxn modelId="{D70B4876-647B-4806-9BD3-F9FA8253345A}" type="presParOf" srcId="{F4CF7D25-EC55-4CC2-A191-A180F9892444}" destId="{86628150-E81F-407C-BBDA-DD41D73A1D58}" srcOrd="0" destOrd="0" presId="urn:microsoft.com/office/officeart/2005/8/layout/hierarchy4"/>
    <dgm:cxn modelId="{CEA3169F-C5E4-4ED8-A08E-4D19D5B2D6C4}" type="presParOf" srcId="{86628150-E81F-407C-BBDA-DD41D73A1D58}" destId="{70E11759-2403-454F-AA72-C47A7039B843}" srcOrd="0" destOrd="0" presId="urn:microsoft.com/office/officeart/2005/8/layout/hierarchy4"/>
    <dgm:cxn modelId="{8942AD83-DE5B-418D-91D9-AADDB744B18D}" type="presOf" srcId="{279B103B-3EF0-4EBD-866E-85F63AE29D65}" destId="{70E11759-2403-454F-AA72-C47A7039B843}" srcOrd="0" destOrd="0" presId="urn:microsoft.com/office/officeart/2005/8/layout/hierarchy4"/>
    <dgm:cxn modelId="{E5E24C34-F034-436D-8D26-205F771410FE}" type="presParOf" srcId="{86628150-E81F-407C-BBDA-DD41D73A1D58}" destId="{BBBCE7EB-C57C-467B-90FF-ADA7EBD4EAE6}" srcOrd="1" destOrd="0" presId="urn:microsoft.com/office/officeart/2005/8/layout/hierarchy4"/>
    <dgm:cxn modelId="{5E0CF7B9-EB72-4DB3-8B02-AD9AFCCFB165}" type="presParOf" srcId="{86628150-E81F-407C-BBDA-DD41D73A1D58}" destId="{AC5D52D0-4933-4D7F-A8E4-251E11D165BA}" srcOrd="2" destOrd="0" presId="urn:microsoft.com/office/officeart/2005/8/layout/hierarchy4"/>
    <dgm:cxn modelId="{9C8FB11E-491E-4301-8A56-8B8F10D421AD}" type="presParOf" srcId="{AC5D52D0-4933-4D7F-A8E4-251E11D165BA}" destId="{35801378-86A5-4DFC-913B-010801B8973E}" srcOrd="0" destOrd="2" presId="urn:microsoft.com/office/officeart/2005/8/layout/hierarchy4"/>
    <dgm:cxn modelId="{01163E40-574D-4893-A10F-FABFC0AA681A}" type="presParOf" srcId="{35801378-86A5-4DFC-913B-010801B8973E}" destId="{A273FBB4-03FE-41EA-8D26-B5EFDA20D4B1}" srcOrd="0" destOrd="0" presId="urn:microsoft.com/office/officeart/2005/8/layout/hierarchy4"/>
    <dgm:cxn modelId="{3B704574-730D-4639-BD70-DF937066E253}" type="presOf" srcId="{E42ED75B-2131-4179-ABB3-81C04455A0FE}" destId="{A273FBB4-03FE-41EA-8D26-B5EFDA20D4B1}" srcOrd="0" destOrd="0" presId="urn:microsoft.com/office/officeart/2005/8/layout/hierarchy4"/>
    <dgm:cxn modelId="{8D5235CA-DB11-4876-BD87-FC9EE9020EB3}" type="presParOf" srcId="{35801378-86A5-4DFC-913B-010801B8973E}" destId="{C2772AE6-2B82-4A44-BBD6-CE57ACF0586D}" srcOrd="1" destOrd="0" presId="urn:microsoft.com/office/officeart/2005/8/layout/hierarchy4"/>
    <dgm:cxn modelId="{25664D63-5043-4B56-8500-62010D3426FE}" type="presParOf" srcId="{F4CF7D25-EC55-4CC2-A191-A180F9892444}" destId="{0541E385-6A60-43E2-800B-28B327B87373}" srcOrd="1" destOrd="0" presId="urn:microsoft.com/office/officeart/2005/8/layout/hierarchy4"/>
    <dgm:cxn modelId="{F7AC201B-92D0-4337-B608-5A1315E2D876}" type="presParOf" srcId="{F4CF7D25-EC55-4CC2-A191-A180F9892444}" destId="{C107E8FA-4DCA-4B07-8DBC-355D8FF7AF3B}" srcOrd="2" destOrd="0" presId="urn:microsoft.com/office/officeart/2005/8/layout/hierarchy4"/>
    <dgm:cxn modelId="{CF99F267-3609-4C8D-BF1C-4A0E3F2B52E8}" type="presParOf" srcId="{C107E8FA-4DCA-4B07-8DBC-355D8FF7AF3B}" destId="{828D93AA-A30E-44A7-9962-1AD12BFEEBB3}" srcOrd="0" destOrd="2" presId="urn:microsoft.com/office/officeart/2005/8/layout/hierarchy4"/>
    <dgm:cxn modelId="{70C46DAB-1280-4575-A7C4-BEEFB286D45D}" type="presOf" srcId="{C9DB0E9F-C107-4032-BFB2-F82CDD296E03}" destId="{828D93AA-A30E-44A7-9962-1AD12BFEEBB3}" srcOrd="0" destOrd="0" presId="urn:microsoft.com/office/officeart/2005/8/layout/hierarchy4"/>
    <dgm:cxn modelId="{F9BCCE32-1007-45A0-80BF-E324CD7303B7}" type="presParOf" srcId="{C107E8FA-4DCA-4B07-8DBC-355D8FF7AF3B}" destId="{A04D3EC1-C59E-47C8-8F01-104A673DD7B1}" srcOrd="1" destOrd="2" presId="urn:microsoft.com/office/officeart/2005/8/layout/hierarchy4"/>
    <dgm:cxn modelId="{851DDF9C-A3DC-45B3-A7B6-9CAF692CA5D6}" type="presParOf" srcId="{C107E8FA-4DCA-4B07-8DBC-355D8FF7AF3B}" destId="{51CB2108-A3D6-43D9-B849-EF5C75CEB19D}" srcOrd="2" destOrd="2" presId="urn:microsoft.com/office/officeart/2005/8/layout/hierarchy4"/>
    <dgm:cxn modelId="{3B5CD691-4945-4EC3-A171-1426B5AACCD1}" type="presParOf" srcId="{51CB2108-A3D6-43D9-B849-EF5C75CEB19D}" destId="{67272B74-49E5-4F89-B592-278ABDF5E98A}" srcOrd="0" destOrd="2" presId="urn:microsoft.com/office/officeart/2005/8/layout/hierarchy4"/>
    <dgm:cxn modelId="{9D8879C3-B32D-412A-BDBF-C6FE752933FB}" type="presParOf" srcId="{67272B74-49E5-4F89-B592-278ABDF5E98A}" destId="{1BC52CDC-7532-47DB-B9C5-B593E07AD50C}" srcOrd="0" destOrd="0" presId="urn:microsoft.com/office/officeart/2005/8/layout/hierarchy4"/>
    <dgm:cxn modelId="{99A49899-FCF7-4F50-A3D4-C50BF8032E4A}" type="presOf" srcId="{983D3AE7-F403-4EF9-925D-7A212E0C051D}" destId="{1BC52CDC-7532-47DB-B9C5-B593E07AD50C}" srcOrd="0" destOrd="0" presId="urn:microsoft.com/office/officeart/2005/8/layout/hierarchy4"/>
    <dgm:cxn modelId="{71C23289-7CB1-4732-90FB-BD611D26D809}" type="presParOf" srcId="{67272B74-49E5-4F89-B592-278ABDF5E98A}" destId="{F37BC57A-4259-411C-B304-17090B71F7FD}" srcOrd="1" destOrd="0" presId="urn:microsoft.com/office/officeart/2005/8/layout/hierarchy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86805" cy="1671955"/>
        <a:chOff x="0" y="0"/>
        <a:chExt cx="6186805" cy="1671955"/>
      </a:xfrm>
    </dsp:grpSpPr>
    <dsp:sp modelId="{111DEAC9-5D4C-4A6A-A44E-082A26F60596}">
      <dsp:nvSpPr>
        <dsp:cNvPr id="3" name="圆角矩形 2"/>
        <dsp:cNvSpPr/>
      </dsp:nvSpPr>
      <dsp:spPr bwMode="white">
        <a:xfrm>
          <a:off x="0" y="315913"/>
          <a:ext cx="1189770" cy="1040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a:t>预加重、</a:t>
          </a:r>
          <a:r>
            <a:rPr lang="zh-CN" altLang="en-US"/>
            <a:t>分帧、</a:t>
          </a:r>
          <a:r>
            <a:rPr lang="zh-CN" altLang="en-US"/>
            <a:t>加窗</a:t>
          </a:r>
          <a:endParaRPr lang="zh-CN" altLang="en-US"/>
        </a:p>
      </dsp:txBody>
      <dsp:txXfrm>
        <a:off x="0" y="315913"/>
        <a:ext cx="1189770" cy="1040130"/>
      </dsp:txXfrm>
    </dsp:sp>
    <dsp:sp modelId="{8A5CF0CE-3323-464D-9C63-05C1BDB053F5}">
      <dsp:nvSpPr>
        <dsp:cNvPr id="4" name="右箭头 3"/>
        <dsp:cNvSpPr/>
      </dsp:nvSpPr>
      <dsp:spPr bwMode="white">
        <a:xfrm>
          <a:off x="1301609" y="688446"/>
          <a:ext cx="252231" cy="29506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0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endParaRPr lang="zh-CN" altLang="en-US"/>
        </a:p>
      </dsp:txBody>
      <dsp:txXfrm>
        <a:off x="1301609" y="688446"/>
        <a:ext cx="252231" cy="295063"/>
      </dsp:txXfrm>
    </dsp:sp>
    <dsp:sp modelId="{552FB8E7-A5FB-4CC3-94C3-CE0BDF19F9F1}">
      <dsp:nvSpPr>
        <dsp:cNvPr id="5" name="圆角矩形 4"/>
        <dsp:cNvSpPr/>
      </dsp:nvSpPr>
      <dsp:spPr bwMode="white">
        <a:xfrm>
          <a:off x="1665678" y="315913"/>
          <a:ext cx="1189770" cy="1040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altLang="zh-CN"/>
            <a:t>FFT</a:t>
          </a:r>
          <a:endParaRPr lang="zh-CN" altLang="en-US"/>
        </a:p>
      </dsp:txBody>
      <dsp:txXfrm>
        <a:off x="1665678" y="315913"/>
        <a:ext cx="1189770" cy="1040130"/>
      </dsp:txXfrm>
    </dsp:sp>
    <dsp:sp modelId="{353C3794-50AA-4D44-83C9-CE28317C3317}">
      <dsp:nvSpPr>
        <dsp:cNvPr id="6" name="右箭头 5"/>
        <dsp:cNvSpPr/>
      </dsp:nvSpPr>
      <dsp:spPr bwMode="white">
        <a:xfrm>
          <a:off x="2967287" y="688446"/>
          <a:ext cx="252231" cy="29506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0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endParaRPr lang="zh-CN" altLang="en-US"/>
        </a:p>
      </dsp:txBody>
      <dsp:txXfrm>
        <a:off x="2967287" y="688446"/>
        <a:ext cx="252231" cy="295063"/>
      </dsp:txXfrm>
    </dsp:sp>
    <dsp:sp modelId="{A1E15D63-E1FF-4A28-A04F-A2B65927BC31}">
      <dsp:nvSpPr>
        <dsp:cNvPr id="7" name="圆角矩形 6"/>
        <dsp:cNvSpPr/>
      </dsp:nvSpPr>
      <dsp:spPr bwMode="white">
        <a:xfrm>
          <a:off x="3331357" y="315913"/>
          <a:ext cx="1189770" cy="1040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altLang="zh-CN">
              <a:sym typeface="+mn-ea"/>
            </a:rPr>
            <a:t> Mel</a:t>
          </a:r>
          <a:r>
            <a:rPr lang="zh-CN" altLang="en-US">
              <a:sym typeface="+mn-ea"/>
            </a:rPr>
            <a:t>滤波组、</a:t>
          </a:r>
          <a:r>
            <a:rPr lang="zh-CN" altLang="en-US">
              <a:sym typeface="+mn-ea"/>
            </a:rPr>
            <a:t>取对数</a:t>
          </a:r>
          <a:endParaRPr lang="zh-CN" altLang="en-US"/>
        </a:p>
      </dsp:txBody>
      <dsp:txXfrm>
        <a:off x="3331357" y="315913"/>
        <a:ext cx="1189770" cy="1040130"/>
      </dsp:txXfrm>
    </dsp:sp>
    <dsp:sp modelId="{1A77FADE-EE42-4F62-871C-D97619E5B9B6}">
      <dsp:nvSpPr>
        <dsp:cNvPr id="8" name="右箭头 7"/>
        <dsp:cNvSpPr/>
      </dsp:nvSpPr>
      <dsp:spPr bwMode="white">
        <a:xfrm>
          <a:off x="4632965" y="688446"/>
          <a:ext cx="252231" cy="295063"/>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0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p>
      </dsp:txBody>
      <dsp:txXfrm>
        <a:off x="4632965" y="688446"/>
        <a:ext cx="252231" cy="295063"/>
      </dsp:txXfrm>
    </dsp:sp>
    <dsp:sp modelId="{738A7790-E6B1-4D66-B56B-E1B3BAA90C3B}">
      <dsp:nvSpPr>
        <dsp:cNvPr id="9" name="圆角矩形 8"/>
        <dsp:cNvSpPr/>
      </dsp:nvSpPr>
      <dsp:spPr bwMode="white">
        <a:xfrm>
          <a:off x="4997035" y="315913"/>
          <a:ext cx="1189770" cy="1040130"/>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a:t>DCT(</a:t>
          </a:r>
          <a:r>
            <a:rPr lang="zh-CN" altLang="en-US"/>
            <a:t>离散余弦变换</a:t>
          </a:r>
          <a:r>
            <a:rPr lang="en-US" altLang="zh-CN"/>
            <a:t>)</a:t>
          </a:r>
          <a:endParaRPr lang="en-US" altLang="zh-CN"/>
        </a:p>
      </dsp:txBody>
      <dsp:txXfrm>
        <a:off x="4997035" y="315913"/>
        <a:ext cx="1189770" cy="104013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123045" cy="4335780"/>
        <a:chOff x="0" y="0"/>
        <a:chExt cx="9123045" cy="4335780"/>
      </a:xfrm>
    </dsp:grpSpPr>
    <dsp:sp modelId="{F7165120-5FFC-451F-A676-9DCAA5026EF0}">
      <dsp:nvSpPr>
        <dsp:cNvPr id="3" name="圆角矩形 2"/>
        <dsp:cNvSpPr/>
      </dsp:nvSpPr>
      <dsp:spPr bwMode="white">
        <a:xfrm>
          <a:off x="225743" y="0"/>
          <a:ext cx="2477589" cy="123879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53340" tIns="35560" rIns="53340" bIns="355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a:sym typeface="+mn-ea"/>
            </a:rPr>
            <a:t>音频预处理</a:t>
          </a:r>
          <a:endParaRPr lang="zh-CN" altLang="en-US" sz="2800">
            <a:sym typeface="+mn-ea"/>
          </a:endParaRPr>
        </a:p>
      </dsp:txBody>
      <dsp:txXfrm>
        <a:off x="225743" y="0"/>
        <a:ext cx="2477589" cy="1238794"/>
      </dsp:txXfrm>
    </dsp:sp>
    <dsp:sp modelId="{A8F86FA2-285E-4466-A13D-4ECC369B5275}">
      <dsp:nvSpPr>
        <dsp:cNvPr id="5" name="任意多边形 4"/>
        <dsp:cNvSpPr/>
      </dsp:nvSpPr>
      <dsp:spPr bwMode="white">
        <a:xfrm>
          <a:off x="473501" y="1238794"/>
          <a:ext cx="247759" cy="929096"/>
        </a:xfrm>
        <a:custGeom>
          <a:avLst/>
          <a:gdLst/>
          <a:ahLst/>
          <a:cxnLst/>
          <a:pathLst>
            <a:path w="390" h="1463">
              <a:moveTo>
                <a:pt x="0" y="0"/>
              </a:moveTo>
              <a:lnTo>
                <a:pt x="0" y="1463"/>
              </a:lnTo>
              <a:lnTo>
                <a:pt x="390" y="1463"/>
              </a:lnTo>
            </a:path>
          </a:pathLst>
        </a:custGeom>
      </dsp:spPr>
      <dsp:style>
        <a:lnRef idx="2">
          <a:schemeClr val="accent1">
            <a:shade val="60000"/>
          </a:schemeClr>
        </a:lnRef>
        <a:fillRef idx="0">
          <a:schemeClr val="accent1"/>
        </a:fillRef>
        <a:effectRef idx="0">
          <a:scrgbClr r="0" g="0" b="0"/>
        </a:effectRef>
        <a:fontRef idx="minor"/>
      </dsp:style>
      <dsp:txXfrm>
        <a:off x="473501" y="1238794"/>
        <a:ext cx="247759" cy="929096"/>
      </dsp:txXfrm>
    </dsp:sp>
    <dsp:sp modelId="{8402CCB8-5F3F-4B37-9533-2CEF8B977F02}">
      <dsp:nvSpPr>
        <dsp:cNvPr id="6" name="圆角矩形 5"/>
        <dsp:cNvSpPr/>
      </dsp:nvSpPr>
      <dsp:spPr bwMode="white">
        <a:xfrm>
          <a:off x="721260" y="1548493"/>
          <a:ext cx="1982071" cy="12387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加载音频文件读取音频文件并将其转换为适当的采样率</a:t>
          </a:r>
          <a:endParaRPr lang="zh-CN" altLang="en-US">
            <a:solidFill>
              <a:schemeClr val="dk1"/>
            </a:solidFill>
          </a:endParaRPr>
        </a:p>
      </dsp:txBody>
      <dsp:txXfrm>
        <a:off x="721260" y="1548493"/>
        <a:ext cx="1982071" cy="1238794"/>
      </dsp:txXfrm>
    </dsp:sp>
    <dsp:sp modelId="{6FC5009F-DE3F-4EA7-8B97-755BF90691C6}">
      <dsp:nvSpPr>
        <dsp:cNvPr id="7" name="任意多边形 6"/>
        <dsp:cNvSpPr/>
      </dsp:nvSpPr>
      <dsp:spPr bwMode="white">
        <a:xfrm>
          <a:off x="473501" y="1238794"/>
          <a:ext cx="247759" cy="2477589"/>
        </a:xfrm>
        <a:custGeom>
          <a:avLst/>
          <a:gdLst/>
          <a:ahLst/>
          <a:cxnLst/>
          <a:pathLst>
            <a:path w="390" h="3902">
              <a:moveTo>
                <a:pt x="0" y="0"/>
              </a:moveTo>
              <a:lnTo>
                <a:pt x="0" y="3902"/>
              </a:lnTo>
              <a:lnTo>
                <a:pt x="390" y="3902"/>
              </a:lnTo>
            </a:path>
          </a:pathLst>
        </a:custGeom>
      </dsp:spPr>
      <dsp:style>
        <a:lnRef idx="2">
          <a:schemeClr val="accent1">
            <a:shade val="60000"/>
          </a:schemeClr>
        </a:lnRef>
        <a:fillRef idx="0">
          <a:schemeClr val="accent1"/>
        </a:fillRef>
        <a:effectRef idx="0">
          <a:scrgbClr r="0" g="0" b="0"/>
        </a:effectRef>
        <a:fontRef idx="minor"/>
      </dsp:style>
      <dsp:txXfrm>
        <a:off x="473501" y="1238794"/>
        <a:ext cx="247759" cy="2477589"/>
      </dsp:txXfrm>
    </dsp:sp>
    <dsp:sp modelId="{8ED2A45B-0F28-4738-BACC-E7567F498BC0}">
      <dsp:nvSpPr>
        <dsp:cNvPr id="8" name="圆角矩形 7"/>
        <dsp:cNvSpPr/>
      </dsp:nvSpPr>
      <dsp:spPr bwMode="white">
        <a:xfrm>
          <a:off x="721260" y="3096986"/>
          <a:ext cx="1982071" cy="12387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噪声抑制</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对音频信号进行噪声抑制处理，以减少背景噪声的影响</a:t>
          </a:r>
          <a:endParaRPr lang="zh-CN" altLang="en-US">
            <a:solidFill>
              <a:schemeClr val="dk1"/>
            </a:solidFill>
          </a:endParaRPr>
        </a:p>
      </dsp:txBody>
      <dsp:txXfrm>
        <a:off x="721260" y="3096986"/>
        <a:ext cx="1982071" cy="1238794"/>
      </dsp:txXfrm>
    </dsp:sp>
    <dsp:sp modelId="{E3FF03EB-8647-4636-BC5C-E9BEC6C29553}">
      <dsp:nvSpPr>
        <dsp:cNvPr id="9" name="圆角矩形 8"/>
        <dsp:cNvSpPr/>
      </dsp:nvSpPr>
      <dsp:spPr bwMode="white">
        <a:xfrm>
          <a:off x="3322728" y="0"/>
          <a:ext cx="2477589" cy="123879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53340" tIns="35560" rIns="53340" bIns="355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a:sym typeface="+mn-ea"/>
            </a:rPr>
            <a:t>特征提取</a:t>
          </a:r>
          <a:endParaRPr lang="zh-CN" altLang="en-US" sz="2800">
            <a:sym typeface="+mn-ea"/>
          </a:endParaRPr>
        </a:p>
      </dsp:txBody>
      <dsp:txXfrm>
        <a:off x="3322728" y="0"/>
        <a:ext cx="2477589" cy="1238794"/>
      </dsp:txXfrm>
    </dsp:sp>
    <dsp:sp modelId="{3F5EB287-4C34-456C-B985-2B774B3D9EF1}">
      <dsp:nvSpPr>
        <dsp:cNvPr id="11" name="任意多边形 10"/>
        <dsp:cNvSpPr/>
      </dsp:nvSpPr>
      <dsp:spPr bwMode="white">
        <a:xfrm>
          <a:off x="3570487" y="1238794"/>
          <a:ext cx="247759" cy="928390"/>
        </a:xfrm>
        <a:custGeom>
          <a:avLst/>
          <a:gdLst/>
          <a:ahLst/>
          <a:cxnLst/>
          <a:pathLst>
            <a:path w="390" h="1462">
              <a:moveTo>
                <a:pt x="0" y="0"/>
              </a:moveTo>
              <a:lnTo>
                <a:pt x="0" y="1462"/>
              </a:lnTo>
              <a:lnTo>
                <a:pt x="390" y="1462"/>
              </a:lnTo>
            </a:path>
          </a:pathLst>
        </a:custGeom>
      </dsp:spPr>
      <dsp:style>
        <a:lnRef idx="2">
          <a:schemeClr val="accent1">
            <a:shade val="60000"/>
          </a:schemeClr>
        </a:lnRef>
        <a:fillRef idx="0">
          <a:schemeClr val="accent1"/>
        </a:fillRef>
        <a:effectRef idx="0">
          <a:scrgbClr r="0" g="0" b="0"/>
        </a:effectRef>
        <a:fontRef idx="minor"/>
      </dsp:style>
      <dsp:txXfrm>
        <a:off x="3570487" y="1238794"/>
        <a:ext cx="247759" cy="928390"/>
      </dsp:txXfrm>
    </dsp:sp>
    <dsp:sp modelId="{A9454E12-1A81-4CCD-AB01-CC69284C8769}">
      <dsp:nvSpPr>
        <dsp:cNvPr id="12" name="圆角矩形 11"/>
        <dsp:cNvSpPr/>
      </dsp:nvSpPr>
      <dsp:spPr bwMode="white">
        <a:xfrm>
          <a:off x="3818246" y="1547787"/>
          <a:ext cx="1982071" cy="12387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短时傅里叶变换</a:t>
          </a:r>
          <a:r>
            <a:rPr lang="en-US" altLang="zh-CN">
              <a:solidFill>
                <a:schemeClr val="dk1"/>
              </a:solidFill>
              <a:sym typeface="+mn-ea"/>
            </a:rPr>
            <a:t>(</a:t>
          </a:r>
          <a:r>
            <a:rPr lang="en-US" altLang="zh-CN">
              <a:solidFill>
                <a:schemeClr val="dk1"/>
              </a:solidFill>
              <a:sym typeface="+mn-ea"/>
            </a:rPr>
            <a:t>STFT</a:t>
          </a:r>
          <a:r>
            <a:rPr lang="en-US" altLang="zh-CN">
              <a:solidFill>
                <a:schemeClr val="dk1"/>
              </a:solidFill>
              <a:sym typeface="+mn-ea"/>
            </a:rPr>
            <a:t>)</a:t>
          </a:r>
          <a:r>
            <a:rPr lang="zh-CN" altLang="en-US">
              <a:solidFill>
                <a:schemeClr val="dk1"/>
              </a:solidFill>
              <a:sym typeface="+mn-ea"/>
            </a:rPr>
            <a:t>将音频信号分割成短时帧，并对每帧进行傅里叶变换</a:t>
          </a:r>
          <a:endParaRPr lang="zh-CN" altLang="en-US">
            <a:solidFill>
              <a:schemeClr val="dk1"/>
            </a:solidFill>
          </a:endParaRPr>
        </a:p>
      </dsp:txBody>
      <dsp:txXfrm>
        <a:off x="3818246" y="1547787"/>
        <a:ext cx="1982071" cy="1238794"/>
      </dsp:txXfrm>
    </dsp:sp>
    <dsp:sp modelId="{56903B70-44BE-4DEE-B3D8-8D6F309E69EE}">
      <dsp:nvSpPr>
        <dsp:cNvPr id="13" name="任意多边形 12"/>
        <dsp:cNvSpPr/>
      </dsp:nvSpPr>
      <dsp:spPr bwMode="white">
        <a:xfrm>
          <a:off x="3570487" y="1238794"/>
          <a:ext cx="247759" cy="2477589"/>
        </a:xfrm>
        <a:custGeom>
          <a:avLst/>
          <a:gdLst/>
          <a:ahLst/>
          <a:cxnLst/>
          <a:pathLst>
            <a:path w="390" h="3902">
              <a:moveTo>
                <a:pt x="0" y="0"/>
              </a:moveTo>
              <a:lnTo>
                <a:pt x="0" y="3902"/>
              </a:lnTo>
              <a:lnTo>
                <a:pt x="390" y="3902"/>
              </a:lnTo>
            </a:path>
          </a:pathLst>
        </a:custGeom>
      </dsp:spPr>
      <dsp:style>
        <a:lnRef idx="2">
          <a:schemeClr val="accent1">
            <a:shade val="60000"/>
          </a:schemeClr>
        </a:lnRef>
        <a:fillRef idx="0">
          <a:schemeClr val="accent1"/>
        </a:fillRef>
        <a:effectRef idx="0">
          <a:scrgbClr r="0" g="0" b="0"/>
        </a:effectRef>
        <a:fontRef idx="minor"/>
      </dsp:style>
      <dsp:txXfrm>
        <a:off x="3570487" y="1238794"/>
        <a:ext cx="247759" cy="2477589"/>
      </dsp:txXfrm>
    </dsp:sp>
    <dsp:sp modelId="{CD3CDA12-D3B0-45EC-A723-612A0493B711}">
      <dsp:nvSpPr>
        <dsp:cNvPr id="14" name="圆角矩形 13"/>
        <dsp:cNvSpPr/>
      </dsp:nvSpPr>
      <dsp:spPr bwMode="white">
        <a:xfrm>
          <a:off x="3818246" y="3096986"/>
          <a:ext cx="1982071" cy="12387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梅尔频率倒谱系数</a:t>
          </a:r>
          <a:r>
            <a:rPr lang="en-US" altLang="zh-CN">
              <a:solidFill>
                <a:schemeClr val="dk1"/>
              </a:solidFill>
              <a:sym typeface="+mn-ea"/>
            </a:rPr>
            <a:t>(</a:t>
          </a:r>
          <a:r>
            <a:rPr lang="en-US" altLang="zh-CN">
              <a:solidFill>
                <a:schemeClr val="dk1"/>
              </a:solidFill>
              <a:sym typeface="+mn-ea"/>
            </a:rPr>
            <a:t>MFCC)</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从每一帧的频谱中提取</a:t>
          </a:r>
          <a:r>
            <a:rPr lang="en-US" altLang="zh-CN">
              <a:solidFill>
                <a:schemeClr val="dk1"/>
              </a:solidFill>
              <a:sym typeface="+mn-ea"/>
            </a:rPr>
            <a:t> MFCC </a:t>
          </a:r>
          <a:r>
            <a:rPr lang="zh-CN" altLang="en-US">
              <a:solidFill>
                <a:schemeClr val="dk1"/>
              </a:solidFill>
              <a:sym typeface="+mn-ea"/>
            </a:rPr>
            <a:t>特征，这些特征模拟了人耳对声音</a:t>
          </a:r>
          <a:r>
            <a:rPr lang="en-US" altLang="zh-CN">
              <a:solidFill>
                <a:schemeClr val="dk1"/>
              </a:solidFill>
              <a:sym typeface="+mn-ea"/>
            </a:rPr>
            <a:t>   </a:t>
          </a:r>
          <a:r>
            <a:rPr lang="zh-CN" altLang="en-US">
              <a:solidFill>
                <a:schemeClr val="dk1"/>
              </a:solidFill>
              <a:sym typeface="+mn-ea"/>
            </a:rPr>
            <a:t>的感知方式</a:t>
          </a:r>
          <a:endParaRPr lang="zh-CN" altLang="en-US">
            <a:solidFill>
              <a:schemeClr val="dk1"/>
            </a:solidFill>
          </a:endParaRPr>
        </a:p>
      </dsp:txBody>
      <dsp:txXfrm>
        <a:off x="3818246" y="3096986"/>
        <a:ext cx="1982071" cy="1238794"/>
      </dsp:txXfrm>
    </dsp:sp>
    <dsp:sp modelId="{5309B0D1-99FF-40CC-A1D9-0B023ECD9E1E}">
      <dsp:nvSpPr>
        <dsp:cNvPr id="15" name="圆角矩形 14"/>
        <dsp:cNvSpPr/>
      </dsp:nvSpPr>
      <dsp:spPr bwMode="white">
        <a:xfrm>
          <a:off x="6419714" y="0"/>
          <a:ext cx="2477589" cy="1238794"/>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53340" tIns="35560" rIns="53340" bIns="355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sz="2800">
              <a:sym typeface="+mn-ea"/>
            </a:rPr>
            <a:t>聚</a:t>
          </a:r>
          <a:r>
            <a:rPr lang="zh-CN" altLang="en-US" sz="2800">
              <a:sym typeface="+mn-ea"/>
            </a:rPr>
            <a:t>类分析</a:t>
          </a:r>
          <a:endParaRPr lang="zh-CN" altLang="en-US" sz="2800"/>
        </a:p>
      </dsp:txBody>
      <dsp:txXfrm>
        <a:off x="6419714" y="0"/>
        <a:ext cx="2477589" cy="1238794"/>
      </dsp:txXfrm>
    </dsp:sp>
    <dsp:sp modelId="{1F8B2B7F-451F-4822-BD29-EC2E46C28DEB}">
      <dsp:nvSpPr>
        <dsp:cNvPr id="17" name="任意多边形 16"/>
        <dsp:cNvSpPr/>
      </dsp:nvSpPr>
      <dsp:spPr bwMode="white">
        <a:xfrm>
          <a:off x="6667473" y="1238794"/>
          <a:ext cx="247759" cy="929096"/>
        </a:xfrm>
        <a:custGeom>
          <a:avLst/>
          <a:gdLst/>
          <a:ahLst/>
          <a:cxnLst/>
          <a:pathLst>
            <a:path w="390" h="1463">
              <a:moveTo>
                <a:pt x="0" y="0"/>
              </a:moveTo>
              <a:lnTo>
                <a:pt x="0" y="1463"/>
              </a:lnTo>
              <a:lnTo>
                <a:pt x="390" y="1463"/>
              </a:lnTo>
            </a:path>
          </a:pathLst>
        </a:custGeom>
      </dsp:spPr>
      <dsp:style>
        <a:lnRef idx="2">
          <a:schemeClr val="accent1">
            <a:shade val="60000"/>
          </a:schemeClr>
        </a:lnRef>
        <a:fillRef idx="0">
          <a:schemeClr val="accent1"/>
        </a:fillRef>
        <a:effectRef idx="0">
          <a:scrgbClr r="0" g="0" b="0"/>
        </a:effectRef>
        <a:fontRef idx="minor"/>
      </dsp:style>
      <dsp:txXfrm>
        <a:off x="6667473" y="1238794"/>
        <a:ext cx="247759" cy="929096"/>
      </dsp:txXfrm>
    </dsp:sp>
    <dsp:sp modelId="{D5FBB9E3-B789-4287-8A4B-763E6CC9990D}">
      <dsp:nvSpPr>
        <dsp:cNvPr id="18" name="圆角矩形 17"/>
        <dsp:cNvSpPr/>
      </dsp:nvSpPr>
      <dsp:spPr bwMode="white">
        <a:xfrm>
          <a:off x="6915232" y="1548493"/>
          <a:ext cx="1982071" cy="12387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a:solidFill>
                <a:schemeClr val="dk1"/>
              </a:solidFill>
              <a:sym typeface="+mn-ea"/>
            </a:rPr>
            <a:t>K</a:t>
          </a:r>
          <a:r>
            <a:rPr lang="en-US" altLang="zh-CN">
              <a:solidFill>
                <a:schemeClr val="dk1"/>
              </a:solidFill>
              <a:sym typeface="+mn-ea"/>
            </a:rPr>
            <a:t>Means </a:t>
          </a:r>
          <a:r>
            <a:rPr>
              <a:solidFill>
                <a:schemeClr val="dk1"/>
              </a:solidFill>
              <a:sym typeface="+mn-ea"/>
            </a:rPr>
            <a:t>聚</a:t>
          </a:r>
          <a:r>
            <a:rPr lang="zh-CN" altLang="en-US">
              <a:solidFill>
                <a:schemeClr val="dk1"/>
              </a:solidFill>
              <a:sym typeface="+mn-ea"/>
            </a:rPr>
            <a:t>类</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对提取的</a:t>
          </a:r>
          <a:r>
            <a:rPr>
              <a:solidFill>
                <a:schemeClr val="dk1"/>
              </a:solidFill>
              <a:sym typeface="+mn-ea"/>
            </a:rPr>
            <a:t> </a:t>
          </a:r>
          <a:r>
            <a:rPr lang="en-US" altLang="zh-CN">
              <a:solidFill>
                <a:schemeClr val="dk1"/>
              </a:solidFill>
              <a:sym typeface="+mn-ea"/>
            </a:rPr>
            <a:t>MFCC </a:t>
          </a:r>
          <a:r>
            <a:rPr>
              <a:solidFill>
                <a:schemeClr val="dk1"/>
              </a:solidFill>
              <a:sym typeface="+mn-ea"/>
            </a:rPr>
            <a:t>特</a:t>
          </a:r>
          <a:r>
            <a:rPr lang="zh-CN" altLang="en-US">
              <a:solidFill>
                <a:schemeClr val="dk1"/>
              </a:solidFill>
              <a:sym typeface="+mn-ea"/>
            </a:rPr>
            <a:t>征进行</a:t>
          </a:r>
          <a:r>
            <a:rPr>
              <a:solidFill>
                <a:schemeClr val="dk1"/>
              </a:solidFill>
              <a:sym typeface="+mn-ea"/>
            </a:rPr>
            <a:t> </a:t>
          </a:r>
          <a:r>
            <a:rPr lang="en-US" altLang="zh-CN">
              <a:solidFill>
                <a:schemeClr val="dk1"/>
              </a:solidFill>
              <a:sym typeface="+mn-ea"/>
            </a:rPr>
            <a:t>KMeans </a:t>
          </a:r>
          <a:r>
            <a:rPr>
              <a:solidFill>
                <a:schemeClr val="dk1"/>
              </a:solidFill>
              <a:sym typeface="+mn-ea"/>
            </a:rPr>
            <a:t>聚</a:t>
          </a:r>
          <a:r>
            <a:rPr lang="zh-CN" altLang="en-US">
              <a:solidFill>
                <a:schemeClr val="dk1"/>
              </a:solidFill>
              <a:sym typeface="+mn-ea"/>
            </a:rPr>
            <a:t>类，将特征分为语音和非语音两类</a:t>
          </a:r>
          <a:endParaRPr lang="zh-CN" altLang="en-US">
            <a:solidFill>
              <a:schemeClr val="dk1"/>
            </a:solidFill>
          </a:endParaRPr>
        </a:p>
      </dsp:txBody>
      <dsp:txXfrm>
        <a:off x="6915232" y="1548493"/>
        <a:ext cx="1982071" cy="1238794"/>
      </dsp:txXfrm>
    </dsp:sp>
    <dsp:sp modelId="{288BCB88-8815-4BD2-9DC2-A2C75C72C378}">
      <dsp:nvSpPr>
        <dsp:cNvPr id="19" name="任意多边形 18"/>
        <dsp:cNvSpPr/>
      </dsp:nvSpPr>
      <dsp:spPr bwMode="white">
        <a:xfrm>
          <a:off x="6667473" y="1238794"/>
          <a:ext cx="247759" cy="2477589"/>
        </a:xfrm>
        <a:custGeom>
          <a:avLst/>
          <a:gdLst/>
          <a:ahLst/>
          <a:cxnLst/>
          <a:pathLst>
            <a:path w="390" h="3902">
              <a:moveTo>
                <a:pt x="0" y="0"/>
              </a:moveTo>
              <a:lnTo>
                <a:pt x="0" y="3902"/>
              </a:lnTo>
              <a:lnTo>
                <a:pt x="390" y="3902"/>
              </a:lnTo>
            </a:path>
          </a:pathLst>
        </a:custGeom>
      </dsp:spPr>
      <dsp:style>
        <a:lnRef idx="2">
          <a:schemeClr val="accent1">
            <a:shade val="60000"/>
          </a:schemeClr>
        </a:lnRef>
        <a:fillRef idx="0">
          <a:schemeClr val="accent1"/>
        </a:fillRef>
        <a:effectRef idx="0">
          <a:scrgbClr r="0" g="0" b="0"/>
        </a:effectRef>
        <a:fontRef idx="minor"/>
      </dsp:style>
      <dsp:txXfrm>
        <a:off x="6667473" y="1238794"/>
        <a:ext cx="247759" cy="2477589"/>
      </dsp:txXfrm>
    </dsp:sp>
    <dsp:sp modelId="{3A850846-9D19-439E-95DC-B755CC0167E0}">
      <dsp:nvSpPr>
        <dsp:cNvPr id="20" name="圆角矩形 19"/>
        <dsp:cNvSpPr/>
      </dsp:nvSpPr>
      <dsp:spPr bwMode="white">
        <a:xfrm>
          <a:off x="6915232" y="3096986"/>
          <a:ext cx="1982071" cy="1238794"/>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a:solidFill>
                <a:schemeClr val="dk1"/>
              </a:solidFill>
              <a:sym typeface="+mn-ea"/>
            </a:rPr>
            <a:t>高</a:t>
          </a:r>
          <a:r>
            <a:rPr lang="zh-CN" altLang="en-US">
              <a:solidFill>
                <a:schemeClr val="dk1"/>
              </a:solidFill>
              <a:sym typeface="+mn-ea"/>
            </a:rPr>
            <a:t>斯混合模型</a:t>
          </a:r>
          <a:r>
            <a:rPr lang="en-US" altLang="zh-CN">
              <a:solidFill>
                <a:schemeClr val="dk1"/>
              </a:solidFill>
              <a:sym typeface="+mn-ea"/>
            </a:rPr>
            <a:t>(</a:t>
          </a:r>
          <a:r>
            <a:rPr>
              <a:solidFill>
                <a:schemeClr val="dk1"/>
              </a:solidFill>
              <a:sym typeface="+mn-ea"/>
            </a:rPr>
            <a:t>G</a:t>
          </a:r>
          <a:r>
            <a:rPr lang="en-US" altLang="zh-CN">
              <a:solidFill>
                <a:schemeClr val="dk1"/>
              </a:solidFill>
              <a:sym typeface="+mn-ea"/>
            </a:rPr>
            <a:t>MM)</a:t>
          </a:r>
          <a:r>
            <a:rPr lang="zh-CN" altLang="en-US">
              <a:solidFill>
                <a:schemeClr val="dk1"/>
              </a:solidFill>
              <a:sym typeface="+mn-ea"/>
            </a:rPr>
            <a:t>聚类（可选）</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使用</a:t>
          </a:r>
          <a:r>
            <a:rPr>
              <a:solidFill>
                <a:schemeClr val="dk1"/>
              </a:solidFill>
              <a:sym typeface="+mn-ea"/>
            </a:rPr>
            <a:t> </a:t>
          </a:r>
          <a:r>
            <a:rPr lang="en-US" altLang="zh-CN">
              <a:solidFill>
                <a:schemeClr val="dk1"/>
              </a:solidFill>
              <a:sym typeface="+mn-ea"/>
            </a:rPr>
            <a:t>GMM </a:t>
          </a:r>
          <a:r>
            <a:rPr>
              <a:solidFill>
                <a:schemeClr val="dk1"/>
              </a:solidFill>
              <a:sym typeface="+mn-ea"/>
            </a:rPr>
            <a:t>对</a:t>
          </a:r>
          <a:r>
            <a:rPr lang="zh-CN" altLang="en-US">
              <a:solidFill>
                <a:schemeClr val="dk1"/>
              </a:solidFill>
              <a:sym typeface="+mn-ea"/>
            </a:rPr>
            <a:t>特征进行聚类分析，作为</a:t>
          </a:r>
          <a:r>
            <a:rPr>
              <a:solidFill>
                <a:schemeClr val="dk1"/>
              </a:solidFill>
              <a:sym typeface="+mn-ea"/>
            </a:rPr>
            <a:t> </a:t>
          </a:r>
          <a:r>
            <a:rPr lang="en-US" altLang="zh-CN">
              <a:solidFill>
                <a:schemeClr val="dk1"/>
              </a:solidFill>
              <a:sym typeface="+mn-ea"/>
            </a:rPr>
            <a:t>KMeans </a:t>
          </a:r>
          <a:r>
            <a:rPr>
              <a:solidFill>
                <a:schemeClr val="dk1"/>
              </a:solidFill>
              <a:sym typeface="+mn-ea"/>
            </a:rPr>
            <a:t>聚</a:t>
          </a:r>
          <a:r>
            <a:rPr lang="zh-CN" altLang="en-US">
              <a:solidFill>
                <a:schemeClr val="dk1"/>
              </a:solidFill>
              <a:sym typeface="+mn-ea"/>
            </a:rPr>
            <a:t>类的替代方法</a:t>
          </a:r>
          <a:endParaRPr lang="zh-CN" altLang="en-US">
            <a:solidFill>
              <a:schemeClr val="dk1"/>
            </a:solidFill>
          </a:endParaRPr>
        </a:p>
      </dsp:txBody>
      <dsp:txXfrm>
        <a:off x="6915232" y="3096986"/>
        <a:ext cx="1982071" cy="1238794"/>
      </dsp:txXfrm>
    </dsp:sp>
    <dsp:sp modelId="{76A4EA41-4C04-4672-9E66-C332C13D0A8A}">
      <dsp:nvSpPr>
        <dsp:cNvPr id="4" name="圆角矩形 3" hidden="1"/>
        <dsp:cNvSpPr/>
      </dsp:nvSpPr>
      <dsp:spPr>
        <a:xfrm>
          <a:off x="225743" y="0"/>
          <a:ext cx="495518" cy="1238794"/>
        </a:xfrm>
        <a:prstGeom prst="roundRect">
          <a:avLst>
            <a:gd name="adj" fmla="val 10000"/>
          </a:avLst>
        </a:prstGeom>
      </dsp:spPr>
      <dsp:txXfrm>
        <a:off x="225743" y="0"/>
        <a:ext cx="495518" cy="1238794"/>
      </dsp:txXfrm>
    </dsp:sp>
    <dsp:sp modelId="{020E4746-3A8C-42B4-AC17-0FB7CA4B2811}">
      <dsp:nvSpPr>
        <dsp:cNvPr id="10" name="圆角矩形 9" hidden="1"/>
        <dsp:cNvSpPr/>
      </dsp:nvSpPr>
      <dsp:spPr>
        <a:xfrm>
          <a:off x="3322728" y="0"/>
          <a:ext cx="495518" cy="1238794"/>
        </a:xfrm>
        <a:prstGeom prst="roundRect">
          <a:avLst>
            <a:gd name="adj" fmla="val 10000"/>
          </a:avLst>
        </a:prstGeom>
      </dsp:spPr>
      <dsp:txXfrm>
        <a:off x="3322728" y="0"/>
        <a:ext cx="495518" cy="1238794"/>
      </dsp:txXfrm>
    </dsp:sp>
    <dsp:sp modelId="{656A9787-E6C5-4A37-A5A6-025E8C00CEF0}">
      <dsp:nvSpPr>
        <dsp:cNvPr id="16" name="圆角矩形 15" hidden="1"/>
        <dsp:cNvSpPr/>
      </dsp:nvSpPr>
      <dsp:spPr>
        <a:xfrm>
          <a:off x="6419714" y="0"/>
          <a:ext cx="495518" cy="1238794"/>
        </a:xfrm>
        <a:prstGeom prst="roundRect">
          <a:avLst>
            <a:gd name="adj" fmla="val 10000"/>
          </a:avLst>
        </a:prstGeom>
      </dsp:spPr>
      <dsp:txXfrm>
        <a:off x="6419714" y="0"/>
        <a:ext cx="495518" cy="123879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77580" cy="4532630"/>
        <a:chOff x="0" y="0"/>
        <a:chExt cx="8577580" cy="4532630"/>
      </a:xfrm>
    </dsp:grpSpPr>
    <dsp:sp modelId="{F7165120-5FFC-451F-A676-9DCAA5026EF0}">
      <dsp:nvSpPr>
        <dsp:cNvPr id="3" name="圆角矩形 2"/>
        <dsp:cNvSpPr/>
      </dsp:nvSpPr>
      <dsp:spPr bwMode="white">
        <a:xfrm>
          <a:off x="0" y="121920"/>
          <a:ext cx="2450737" cy="122536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53340" tIns="35560" rIns="53340" bIns="355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a:sym typeface="+mn-ea"/>
            </a:rPr>
            <a:t>语音段检测</a:t>
          </a:r>
          <a:endParaRPr lang="zh-CN" altLang="en-US" sz="2800">
            <a:sym typeface="+mn-ea"/>
          </a:endParaRPr>
        </a:p>
      </dsp:txBody>
      <dsp:txXfrm>
        <a:off x="0" y="121920"/>
        <a:ext cx="2450737" cy="1225369"/>
      </dsp:txXfrm>
    </dsp:sp>
    <dsp:sp modelId="{A8F86FA2-285E-4466-A13D-4ECC369B5275}">
      <dsp:nvSpPr>
        <dsp:cNvPr id="5" name="任意多边形 4"/>
        <dsp:cNvSpPr/>
      </dsp:nvSpPr>
      <dsp:spPr bwMode="white">
        <a:xfrm>
          <a:off x="245074" y="1347289"/>
          <a:ext cx="245074" cy="919026"/>
        </a:xfrm>
        <a:custGeom>
          <a:avLst/>
          <a:gdLst/>
          <a:ahLst/>
          <a:cxnLst/>
          <a:pathLst>
            <a:path w="386" h="1447">
              <a:moveTo>
                <a:pt x="0" y="0"/>
              </a:moveTo>
              <a:lnTo>
                <a:pt x="0" y="1447"/>
              </a:lnTo>
              <a:lnTo>
                <a:pt x="386" y="1447"/>
              </a:lnTo>
            </a:path>
          </a:pathLst>
        </a:custGeom>
      </dsp:spPr>
      <dsp:style>
        <a:lnRef idx="2">
          <a:schemeClr val="accent1">
            <a:shade val="60000"/>
          </a:schemeClr>
        </a:lnRef>
        <a:fillRef idx="0">
          <a:schemeClr val="accent1"/>
        </a:fillRef>
        <a:effectRef idx="0">
          <a:scrgbClr r="0" g="0" b="0"/>
        </a:effectRef>
        <a:fontRef idx="minor"/>
      </dsp:style>
      <dsp:txXfrm>
        <a:off x="245074" y="1347289"/>
        <a:ext cx="245074" cy="919026"/>
      </dsp:txXfrm>
    </dsp:sp>
    <dsp:sp modelId="{8402CCB8-5F3F-4B37-9533-2CEF8B977F02}">
      <dsp:nvSpPr>
        <dsp:cNvPr id="6" name="圆角矩形 5"/>
        <dsp:cNvSpPr/>
      </dsp:nvSpPr>
      <dsp:spPr bwMode="white">
        <a:xfrm>
          <a:off x="490147" y="1653631"/>
          <a:ext cx="1960590" cy="12253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能量计算</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计算每个聚类类别的平均能量，用于区分语音段和非语音段</a:t>
          </a:r>
          <a:endParaRPr lang="zh-CN" altLang="en-US">
            <a:solidFill>
              <a:schemeClr val="dk1"/>
            </a:solidFill>
          </a:endParaRPr>
        </a:p>
      </dsp:txBody>
      <dsp:txXfrm>
        <a:off x="490147" y="1653631"/>
        <a:ext cx="1960590" cy="1225369"/>
      </dsp:txXfrm>
    </dsp:sp>
    <dsp:sp modelId="{6FC5009F-DE3F-4EA7-8B97-755BF90691C6}">
      <dsp:nvSpPr>
        <dsp:cNvPr id="7" name="任意多边形 6"/>
        <dsp:cNvSpPr/>
      </dsp:nvSpPr>
      <dsp:spPr bwMode="white">
        <a:xfrm>
          <a:off x="245074" y="1347289"/>
          <a:ext cx="245074" cy="2450737"/>
        </a:xfrm>
        <a:custGeom>
          <a:avLst/>
          <a:gdLst/>
          <a:ahLst/>
          <a:cxnLst/>
          <a:pathLst>
            <a:path w="386" h="3859">
              <a:moveTo>
                <a:pt x="0" y="0"/>
              </a:moveTo>
              <a:lnTo>
                <a:pt x="0" y="3859"/>
              </a:lnTo>
              <a:lnTo>
                <a:pt x="386" y="3859"/>
              </a:lnTo>
            </a:path>
          </a:pathLst>
        </a:custGeom>
      </dsp:spPr>
      <dsp:style>
        <a:lnRef idx="2">
          <a:schemeClr val="accent1">
            <a:shade val="60000"/>
          </a:schemeClr>
        </a:lnRef>
        <a:fillRef idx="0">
          <a:schemeClr val="accent1"/>
        </a:fillRef>
        <a:effectRef idx="0">
          <a:scrgbClr r="0" g="0" b="0"/>
        </a:effectRef>
        <a:fontRef idx="minor"/>
      </dsp:style>
      <dsp:txXfrm>
        <a:off x="245074" y="1347289"/>
        <a:ext cx="245074" cy="2450737"/>
      </dsp:txXfrm>
    </dsp:sp>
    <dsp:sp modelId="{8ED2A45B-0F28-4738-BACC-E7567F498BC0}">
      <dsp:nvSpPr>
        <dsp:cNvPr id="8" name="圆角矩形 7"/>
        <dsp:cNvSpPr/>
      </dsp:nvSpPr>
      <dsp:spPr bwMode="white">
        <a:xfrm>
          <a:off x="490147" y="3185341"/>
          <a:ext cx="1960590" cy="12253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标签分析</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通过分析聚类标签，识别出音频信号中的语音段</a:t>
          </a:r>
          <a:endParaRPr lang="zh-CN" altLang="en-US">
            <a:solidFill>
              <a:schemeClr val="dk1"/>
            </a:solidFill>
          </a:endParaRPr>
        </a:p>
      </dsp:txBody>
      <dsp:txXfrm>
        <a:off x="490147" y="3185341"/>
        <a:ext cx="1960590" cy="1225369"/>
      </dsp:txXfrm>
    </dsp:sp>
    <dsp:sp modelId="{E3FF03EB-8647-4636-BC5C-E9BEC6C29553}">
      <dsp:nvSpPr>
        <dsp:cNvPr id="9" name="圆角矩形 8"/>
        <dsp:cNvSpPr/>
      </dsp:nvSpPr>
      <dsp:spPr bwMode="white">
        <a:xfrm>
          <a:off x="3063421" y="121920"/>
          <a:ext cx="2450737" cy="122536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53340" tIns="35560" rIns="53340" bIns="355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a:sym typeface="+mn-ea"/>
            </a:rPr>
            <a:t>后处理</a:t>
          </a:r>
          <a:endParaRPr lang="zh-CN" altLang="en-US" sz="2800">
            <a:sym typeface="+mn-ea"/>
          </a:endParaRPr>
        </a:p>
      </dsp:txBody>
      <dsp:txXfrm>
        <a:off x="3063421" y="121920"/>
        <a:ext cx="2450737" cy="1225369"/>
      </dsp:txXfrm>
    </dsp:sp>
    <dsp:sp modelId="{3F5EB287-4C34-456C-B985-2B774B3D9EF1}">
      <dsp:nvSpPr>
        <dsp:cNvPr id="11" name="任意多边形 10"/>
        <dsp:cNvSpPr/>
      </dsp:nvSpPr>
      <dsp:spPr bwMode="white">
        <a:xfrm>
          <a:off x="3308495" y="1347289"/>
          <a:ext cx="245074" cy="918328"/>
        </a:xfrm>
        <a:custGeom>
          <a:avLst/>
          <a:gdLst/>
          <a:ahLst/>
          <a:cxnLst/>
          <a:pathLst>
            <a:path w="386" h="1446">
              <a:moveTo>
                <a:pt x="0" y="0"/>
              </a:moveTo>
              <a:lnTo>
                <a:pt x="0" y="1446"/>
              </a:lnTo>
              <a:lnTo>
                <a:pt x="386" y="1446"/>
              </a:lnTo>
            </a:path>
          </a:pathLst>
        </a:custGeom>
      </dsp:spPr>
      <dsp:style>
        <a:lnRef idx="2">
          <a:schemeClr val="accent1">
            <a:shade val="60000"/>
          </a:schemeClr>
        </a:lnRef>
        <a:fillRef idx="0">
          <a:schemeClr val="accent1"/>
        </a:fillRef>
        <a:effectRef idx="0">
          <a:scrgbClr r="0" g="0" b="0"/>
        </a:effectRef>
        <a:fontRef idx="minor"/>
      </dsp:style>
      <dsp:txXfrm>
        <a:off x="3308495" y="1347289"/>
        <a:ext cx="245074" cy="918328"/>
      </dsp:txXfrm>
    </dsp:sp>
    <dsp:sp modelId="{A9454E12-1A81-4CCD-AB01-CC69284C8769}">
      <dsp:nvSpPr>
        <dsp:cNvPr id="12" name="圆角矩形 11"/>
        <dsp:cNvSpPr/>
      </dsp:nvSpPr>
      <dsp:spPr bwMode="white">
        <a:xfrm>
          <a:off x="3553569" y="1652932"/>
          <a:ext cx="1960590" cy="12253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合并相近的语音段</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将相隔较近的语音段合并，以避免将连续的语音段误认为多个独立的语音段</a:t>
          </a:r>
          <a:endParaRPr lang="zh-CN" altLang="en-US">
            <a:solidFill>
              <a:schemeClr val="dk1"/>
            </a:solidFill>
          </a:endParaRPr>
        </a:p>
      </dsp:txBody>
      <dsp:txXfrm>
        <a:off x="3553569" y="1652932"/>
        <a:ext cx="1960590" cy="1225369"/>
      </dsp:txXfrm>
    </dsp:sp>
    <dsp:sp modelId="{5309B0D1-99FF-40CC-A1D9-0B023ECD9E1E}">
      <dsp:nvSpPr>
        <dsp:cNvPr id="13" name="圆角矩形 12"/>
        <dsp:cNvSpPr/>
      </dsp:nvSpPr>
      <dsp:spPr bwMode="white">
        <a:xfrm>
          <a:off x="6126843" y="121920"/>
          <a:ext cx="2450737" cy="122536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53340" tIns="35560" rIns="53340" bIns="355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a:sym typeface="+mn-ea"/>
            </a:rPr>
            <a:t>结果保存</a:t>
          </a:r>
          <a:endParaRPr lang="zh-CN" altLang="en-US" sz="2800"/>
        </a:p>
      </dsp:txBody>
      <dsp:txXfrm>
        <a:off x="6126843" y="121920"/>
        <a:ext cx="2450737" cy="1225369"/>
      </dsp:txXfrm>
    </dsp:sp>
    <dsp:sp modelId="{1F8B2B7F-451F-4822-BD29-EC2E46C28DEB}">
      <dsp:nvSpPr>
        <dsp:cNvPr id="15" name="任意多边形 14"/>
        <dsp:cNvSpPr/>
      </dsp:nvSpPr>
      <dsp:spPr bwMode="white">
        <a:xfrm>
          <a:off x="6371917" y="1347289"/>
          <a:ext cx="245074" cy="919026"/>
        </a:xfrm>
        <a:custGeom>
          <a:avLst/>
          <a:gdLst/>
          <a:ahLst/>
          <a:cxnLst/>
          <a:pathLst>
            <a:path w="386" h="1447">
              <a:moveTo>
                <a:pt x="0" y="0"/>
              </a:moveTo>
              <a:lnTo>
                <a:pt x="0" y="1447"/>
              </a:lnTo>
              <a:lnTo>
                <a:pt x="386" y="1447"/>
              </a:lnTo>
            </a:path>
          </a:pathLst>
        </a:custGeom>
      </dsp:spPr>
      <dsp:style>
        <a:lnRef idx="2">
          <a:schemeClr val="accent1">
            <a:shade val="60000"/>
          </a:schemeClr>
        </a:lnRef>
        <a:fillRef idx="0">
          <a:schemeClr val="accent1"/>
        </a:fillRef>
        <a:effectRef idx="0">
          <a:scrgbClr r="0" g="0" b="0"/>
        </a:effectRef>
        <a:fontRef idx="minor"/>
      </dsp:style>
      <dsp:txXfrm>
        <a:off x="6371917" y="1347289"/>
        <a:ext cx="245074" cy="919026"/>
      </dsp:txXfrm>
    </dsp:sp>
    <dsp:sp modelId="{D5FBB9E3-B789-4287-8A4B-763E6CC9990D}">
      <dsp:nvSpPr>
        <dsp:cNvPr id="16" name="圆角矩形 15"/>
        <dsp:cNvSpPr/>
      </dsp:nvSpPr>
      <dsp:spPr bwMode="white">
        <a:xfrm>
          <a:off x="6616990" y="1653631"/>
          <a:ext cx="1960590" cy="122536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vert="horz" wrap="square" lIns="24765" tIns="16510" rIns="24765"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olidFill>
                <a:schemeClr val="dk1"/>
              </a:solidFill>
              <a:sym typeface="+mn-ea"/>
            </a:rPr>
            <a:t>保存语音段信息</a:t>
          </a:r>
          <a:endParaRPr lang="zh-CN" altLang="en-US">
            <a:solidFill>
              <a:schemeClr val="dk1"/>
            </a:solidFill>
            <a:sym typeface="+mn-ea"/>
          </a:endParaRPr>
        </a:p>
        <a:p>
          <a:pPr lvl="0">
            <a:lnSpc>
              <a:spcPct val="100000"/>
            </a:lnSpc>
            <a:spcBef>
              <a:spcPct val="0"/>
            </a:spcBef>
            <a:spcAft>
              <a:spcPct val="35000"/>
            </a:spcAft>
          </a:pPr>
          <a:r>
            <a:rPr lang="zh-CN" altLang="en-US">
              <a:solidFill>
                <a:schemeClr val="dk1"/>
              </a:solidFill>
              <a:sym typeface="+mn-ea"/>
            </a:rPr>
            <a:t>将检测到的语音段的起始和结束时间索引保存到文件中，供后续分析和处理使用</a:t>
          </a:r>
          <a:endParaRPr lang="zh-CN" altLang="en-US">
            <a:solidFill>
              <a:schemeClr val="dk1"/>
            </a:solidFill>
          </a:endParaRPr>
        </a:p>
      </dsp:txBody>
      <dsp:txXfrm>
        <a:off x="6616990" y="1653631"/>
        <a:ext cx="1960590" cy="1225369"/>
      </dsp:txXfrm>
    </dsp:sp>
    <dsp:sp modelId="{76A4EA41-4C04-4672-9E66-C332C13D0A8A}">
      <dsp:nvSpPr>
        <dsp:cNvPr id="4" name="圆角矩形 3" hidden="1"/>
        <dsp:cNvSpPr/>
      </dsp:nvSpPr>
      <dsp:spPr>
        <a:xfrm>
          <a:off x="0" y="121920"/>
          <a:ext cx="490147" cy="1225369"/>
        </a:xfrm>
        <a:prstGeom prst="roundRect">
          <a:avLst>
            <a:gd name="adj" fmla="val 10000"/>
          </a:avLst>
        </a:prstGeom>
      </dsp:spPr>
      <dsp:txXfrm>
        <a:off x="0" y="121920"/>
        <a:ext cx="490147" cy="1225369"/>
      </dsp:txXfrm>
    </dsp:sp>
    <dsp:sp modelId="{020E4746-3A8C-42B4-AC17-0FB7CA4B2811}">
      <dsp:nvSpPr>
        <dsp:cNvPr id="10" name="圆角矩形 9" hidden="1"/>
        <dsp:cNvSpPr/>
      </dsp:nvSpPr>
      <dsp:spPr>
        <a:xfrm>
          <a:off x="3063421" y="121920"/>
          <a:ext cx="490147" cy="1225369"/>
        </a:xfrm>
        <a:prstGeom prst="roundRect">
          <a:avLst>
            <a:gd name="adj" fmla="val 10000"/>
          </a:avLst>
        </a:prstGeom>
      </dsp:spPr>
      <dsp:txXfrm>
        <a:off x="3063421" y="121920"/>
        <a:ext cx="490147" cy="1225369"/>
      </dsp:txXfrm>
    </dsp:sp>
    <dsp:sp modelId="{656A9787-E6C5-4A37-A5A6-025E8C00CEF0}">
      <dsp:nvSpPr>
        <dsp:cNvPr id="14" name="圆角矩形 13" hidden="1"/>
        <dsp:cNvSpPr/>
      </dsp:nvSpPr>
      <dsp:spPr>
        <a:xfrm>
          <a:off x="6126843" y="121920"/>
          <a:ext cx="490147" cy="1225369"/>
        </a:xfrm>
        <a:prstGeom prst="roundRect">
          <a:avLst>
            <a:gd name="adj" fmla="val 10000"/>
          </a:avLst>
        </a:prstGeom>
      </dsp:spPr>
      <dsp:txXfrm>
        <a:off x="6126843" y="121920"/>
        <a:ext cx="490147" cy="1225369"/>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445875" cy="1938020"/>
        <a:chOff x="0" y="0"/>
        <a:chExt cx="11445875" cy="1938020"/>
      </a:xfrm>
    </dsp:grpSpPr>
    <dsp:sp modelId="{67FF3BB9-6612-4697-87EE-EC66312779BE}">
      <dsp:nvSpPr>
        <dsp:cNvPr id="3" name="燕尾形 2"/>
        <dsp:cNvSpPr/>
      </dsp:nvSpPr>
      <dsp:spPr bwMode="white">
        <a:xfrm>
          <a:off x="0" y="471363"/>
          <a:ext cx="2488234" cy="995293"/>
        </a:xfrm>
        <a:prstGeom prst="chevron">
          <a:avLst/>
        </a:prstGeom>
      </dsp:spPr>
      <dsp:style>
        <a:lnRef idx="2">
          <a:schemeClr val="lt1"/>
        </a:lnRef>
        <a:fillRef idx="1">
          <a:schemeClr val="accent1"/>
        </a:fillRef>
        <a:effectRef idx="0">
          <a:scrgbClr r="0" g="0" b="0"/>
        </a:effectRef>
        <a:fontRef idx="minor">
          <a:schemeClr val="lt1"/>
        </a:fontRef>
      </dsp:style>
      <dsp:txBody>
        <a:bodyPr vert="horz" wrap="square" lIns="60007" tIns="20002" rIns="20002" bIns="20002"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a:sym typeface="+mn-ea"/>
            </a:rPr>
            <a:t>从音频信号中提取</a:t>
          </a:r>
          <a:r>
            <a:rPr lang="en-US" altLang="zh-CN">
              <a:sym typeface="+mn-ea"/>
            </a:rPr>
            <a:t> MFCC </a:t>
          </a:r>
          <a:r>
            <a:rPr lang="zh-CN" altLang="en-US">
              <a:sym typeface="+mn-ea"/>
            </a:rPr>
            <a:t>特征</a:t>
          </a:r>
          <a:endParaRPr lang="zh-CN" altLang="en-US"/>
        </a:p>
      </dsp:txBody>
      <dsp:txXfrm>
        <a:off x="0" y="471363"/>
        <a:ext cx="2488234" cy="995293"/>
      </dsp:txXfrm>
    </dsp:sp>
    <dsp:sp modelId="{D3000CD6-B08B-4D3B-8D2A-7F1C26A23961}">
      <dsp:nvSpPr>
        <dsp:cNvPr id="4" name="燕尾形 3"/>
        <dsp:cNvSpPr/>
      </dsp:nvSpPr>
      <dsp:spPr bwMode="white">
        <a:xfrm>
          <a:off x="2239410" y="471363"/>
          <a:ext cx="2488234" cy="995293"/>
        </a:xfrm>
        <a:prstGeom prst="chevron">
          <a:avLst/>
        </a:prstGeom>
      </dsp:spPr>
      <dsp:style>
        <a:lnRef idx="2">
          <a:schemeClr val="lt1"/>
        </a:lnRef>
        <a:fillRef idx="1">
          <a:schemeClr val="accent1"/>
        </a:fillRef>
        <a:effectRef idx="0">
          <a:scrgbClr r="0" g="0" b="0"/>
        </a:effectRef>
        <a:fontRef idx="minor">
          <a:schemeClr val="lt1"/>
        </a:fontRef>
      </dsp:style>
      <dsp:txBody>
        <a:bodyPr vert="horz" wrap="square" lIns="60007" tIns="20002" rIns="20002" bIns="20002"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a:sym typeface="+mn-ea"/>
            </a:rPr>
            <a:t>计算</a:t>
          </a:r>
          <a:r>
            <a:rPr lang="en-US" altLang="zh-CN">
              <a:sym typeface="+mn-ea"/>
            </a:rPr>
            <a:t> MFCC </a:t>
          </a:r>
          <a:r>
            <a:rPr lang="zh-CN" altLang="en-US">
              <a:sym typeface="+mn-ea"/>
            </a:rPr>
            <a:t>特征的一阶差分和二阶差分</a:t>
          </a:r>
          <a:endParaRPr lang="zh-CN" altLang="en-US"/>
        </a:p>
      </dsp:txBody>
      <dsp:txXfrm>
        <a:off x="2239410" y="471363"/>
        <a:ext cx="2488234" cy="995293"/>
      </dsp:txXfrm>
    </dsp:sp>
    <dsp:sp modelId="{74437C11-3810-488A-B265-8C8037793D77}">
      <dsp:nvSpPr>
        <dsp:cNvPr id="5" name="燕尾形 4"/>
        <dsp:cNvSpPr/>
      </dsp:nvSpPr>
      <dsp:spPr bwMode="white">
        <a:xfrm>
          <a:off x="4478821" y="471363"/>
          <a:ext cx="2488234" cy="995293"/>
        </a:xfrm>
        <a:prstGeom prst="chevron">
          <a:avLst/>
        </a:prstGeom>
      </dsp:spPr>
      <dsp:style>
        <a:lnRef idx="2">
          <a:schemeClr val="lt1"/>
        </a:lnRef>
        <a:fillRef idx="1">
          <a:schemeClr val="accent1"/>
        </a:fillRef>
        <a:effectRef idx="0">
          <a:scrgbClr r="0" g="0" b="0"/>
        </a:effectRef>
        <a:fontRef idx="minor">
          <a:schemeClr val="lt1"/>
        </a:fontRef>
      </dsp:style>
      <dsp:txBody>
        <a:bodyPr vert="horz" wrap="square" lIns="60007" tIns="20002" rIns="20002" bIns="20002"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a:sym typeface="+mn-ea"/>
            </a:rPr>
            <a:t>将</a:t>
          </a:r>
          <a:r>
            <a:rPr lang="en-US" altLang="zh-CN">
              <a:sym typeface="+mn-ea"/>
            </a:rPr>
            <a:t> MFCC </a:t>
          </a:r>
          <a:r>
            <a:rPr lang="zh-CN" altLang="en-US">
              <a:sym typeface="+mn-ea"/>
            </a:rPr>
            <a:t>特征及其差分特征拼接形成特征矩阵</a:t>
          </a:r>
          <a:endParaRPr lang="zh-CN" altLang="en-US"/>
        </a:p>
      </dsp:txBody>
      <dsp:txXfrm>
        <a:off x="4478821" y="471363"/>
        <a:ext cx="2488234" cy="995293"/>
      </dsp:txXfrm>
    </dsp:sp>
    <dsp:sp modelId="{C341A46F-F4E6-4A87-89C0-5148BE229964}">
      <dsp:nvSpPr>
        <dsp:cNvPr id="6" name="燕尾形 5"/>
        <dsp:cNvSpPr/>
      </dsp:nvSpPr>
      <dsp:spPr bwMode="white">
        <a:xfrm>
          <a:off x="6718231" y="471363"/>
          <a:ext cx="2488234" cy="995293"/>
        </a:xfrm>
        <a:prstGeom prst="chevron">
          <a:avLst/>
        </a:prstGeom>
      </dsp:spPr>
      <dsp:style>
        <a:lnRef idx="2">
          <a:schemeClr val="lt1"/>
        </a:lnRef>
        <a:fillRef idx="1">
          <a:schemeClr val="accent1"/>
        </a:fillRef>
        <a:effectRef idx="0">
          <a:scrgbClr r="0" g="0" b="0"/>
        </a:effectRef>
        <a:fontRef idx="minor">
          <a:schemeClr val="lt1"/>
        </a:fontRef>
      </dsp:style>
      <dsp:txBody>
        <a:bodyPr vert="horz" wrap="square" lIns="60007" tIns="20002" rIns="20002" bIns="20002"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a:sym typeface="+mn-ea"/>
            </a:rPr>
            <a:t>对</a:t>
          </a:r>
          <a:r>
            <a:rPr lang="zh-CN" altLang="en-US">
              <a:sym typeface="+mn-ea"/>
            </a:rPr>
            <a:t>特征矩阵进行截取或填充，使其形状一致</a:t>
          </a:r>
          <a:endParaRPr lang="zh-CN" altLang="en-US"/>
        </a:p>
      </dsp:txBody>
      <dsp:txXfrm>
        <a:off x="6718231" y="471363"/>
        <a:ext cx="2488234" cy="995293"/>
      </dsp:txXfrm>
    </dsp:sp>
    <dsp:sp modelId="{68DD500A-E6A7-47F9-AABA-9D8793C0540E}">
      <dsp:nvSpPr>
        <dsp:cNvPr id="7" name="燕尾形 6"/>
        <dsp:cNvSpPr/>
      </dsp:nvSpPr>
      <dsp:spPr bwMode="white">
        <a:xfrm>
          <a:off x="8957641" y="471363"/>
          <a:ext cx="2488234" cy="995293"/>
        </a:xfrm>
        <a:prstGeom prst="chevron">
          <a:avLst/>
        </a:prstGeom>
      </dsp:spPr>
      <dsp:style>
        <a:lnRef idx="2">
          <a:schemeClr val="lt1"/>
        </a:lnRef>
        <a:fillRef idx="1">
          <a:schemeClr val="accent1"/>
        </a:fillRef>
        <a:effectRef idx="0">
          <a:scrgbClr r="0" g="0" b="0"/>
        </a:effectRef>
        <a:fontRef idx="minor">
          <a:schemeClr val="lt1"/>
        </a:fontRef>
      </dsp:style>
      <dsp:txBody>
        <a:bodyPr vert="horz" wrap="square" lIns="60007" tIns="20002" rIns="20002" bIns="20002"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a:sym typeface="+mn-ea"/>
            </a:rPr>
            <a:t>将</a:t>
          </a:r>
          <a:r>
            <a:rPr lang="zh-CN" altLang="en-US">
              <a:sym typeface="+mn-ea"/>
            </a:rPr>
            <a:t>特征矩阵转置并添加空维度，以符合</a:t>
          </a:r>
          <a:r>
            <a:rPr>
              <a:sym typeface="+mn-ea"/>
            </a:rPr>
            <a:t> </a:t>
          </a:r>
          <a:r>
            <a:rPr lang="en-US" altLang="zh-CN">
              <a:sym typeface="+mn-ea"/>
            </a:rPr>
            <a:t>CNN </a:t>
          </a:r>
          <a:r>
            <a:rPr>
              <a:sym typeface="+mn-ea"/>
            </a:rPr>
            <a:t>的</a:t>
          </a:r>
          <a:r>
            <a:rPr lang="zh-CN" altLang="en-US">
              <a:sym typeface="+mn-ea"/>
            </a:rPr>
            <a:t>输入要求</a:t>
          </a:r>
          <a:endParaRPr lang="zh-CN" altLang="en-US"/>
        </a:p>
      </dsp:txBody>
      <dsp:txXfrm>
        <a:off x="8957641" y="471363"/>
        <a:ext cx="2488234" cy="995293"/>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921750" cy="1926590"/>
        <a:chOff x="0" y="0"/>
        <a:chExt cx="8921750" cy="1926590"/>
      </a:xfrm>
    </dsp:grpSpPr>
    <dsp:sp modelId="{70E11759-2403-454F-AA72-C47A7039B843}">
      <dsp:nvSpPr>
        <dsp:cNvPr id="3" name="圆角矩形 2"/>
        <dsp:cNvSpPr/>
      </dsp:nvSpPr>
      <dsp:spPr bwMode="white">
        <a:xfrm>
          <a:off x="0" y="0"/>
          <a:ext cx="4115198" cy="85272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ym typeface="+mn-ea"/>
            </a:rPr>
            <a:t>卷积层和批归一化层</a:t>
          </a:r>
          <a:endParaRPr lang="zh-CN" altLang="en-US">
            <a:sym typeface="+mn-ea"/>
          </a:endParaRPr>
        </a:p>
        <a:p>
          <a:pPr lvl="0">
            <a:lnSpc>
              <a:spcPct val="100000"/>
            </a:lnSpc>
            <a:spcBef>
              <a:spcPct val="0"/>
            </a:spcBef>
            <a:spcAft>
              <a:spcPct val="35000"/>
            </a:spcAft>
          </a:pPr>
          <a:r>
            <a:rPr lang="zh-CN" altLang="en-US">
              <a:sym typeface="+mn-ea"/>
            </a:rPr>
            <a:t>网络包含多个卷积层，每层之后接一个批归一化层，以加速收敛和提高模型稳定性</a:t>
          </a:r>
          <a:endParaRPr lang="zh-CN" altLang="en-US"/>
        </a:p>
      </dsp:txBody>
      <dsp:txXfrm>
        <a:off x="0" y="0"/>
        <a:ext cx="4115198" cy="852727"/>
      </dsp:txXfrm>
    </dsp:sp>
    <dsp:sp modelId="{A273FBB4-03FE-41EA-8D26-B5EFDA20D4B1}">
      <dsp:nvSpPr>
        <dsp:cNvPr id="4" name="圆角矩形 3"/>
        <dsp:cNvSpPr/>
      </dsp:nvSpPr>
      <dsp:spPr bwMode="white">
        <a:xfrm>
          <a:off x="0" y="1073863"/>
          <a:ext cx="4115198" cy="85272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sym typeface="+mn-ea"/>
            </a:rPr>
            <a:t>激活函数</a:t>
          </a:r>
          <a:endParaRPr lang="zh-CN" altLang="en-US">
            <a:sym typeface="+mn-ea"/>
          </a:endParaRPr>
        </a:p>
        <a:p>
          <a:pPr lvl="0">
            <a:lnSpc>
              <a:spcPct val="100000"/>
            </a:lnSpc>
            <a:spcBef>
              <a:spcPct val="0"/>
            </a:spcBef>
            <a:spcAft>
              <a:spcPct val="35000"/>
            </a:spcAft>
          </a:pPr>
          <a:r>
            <a:rPr lang="zh-CN" altLang="en-US">
              <a:sym typeface="+mn-ea"/>
            </a:rPr>
            <a:t>每个卷积层后应用</a:t>
          </a:r>
          <a:r>
            <a:rPr lang="en-US" altLang="zh-CN">
              <a:sym typeface="+mn-ea"/>
            </a:rPr>
            <a:t> ReLU </a:t>
          </a:r>
          <a:r>
            <a:rPr lang="zh-CN" altLang="en-US">
              <a:sym typeface="+mn-ea"/>
            </a:rPr>
            <a:t>激活函数，以引入非线性</a:t>
          </a:r>
          <a:endParaRPr lang="zh-CN" altLang="en-US"/>
        </a:p>
      </dsp:txBody>
      <dsp:txXfrm>
        <a:off x="0" y="1073863"/>
        <a:ext cx="4115198" cy="852727"/>
      </dsp:txXfrm>
    </dsp:sp>
    <dsp:sp modelId="{828D93AA-A30E-44A7-9962-1AD12BFEEBB3}">
      <dsp:nvSpPr>
        <dsp:cNvPr id="5" name="圆角矩形 4"/>
        <dsp:cNvSpPr/>
      </dsp:nvSpPr>
      <dsp:spPr bwMode="white">
        <a:xfrm>
          <a:off x="4806552" y="0"/>
          <a:ext cx="4115198" cy="85272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a:sym typeface="+mn-ea"/>
            </a:rPr>
            <a:t>全</a:t>
          </a:r>
          <a:r>
            <a:rPr>
              <a:sym typeface="+mn-ea"/>
            </a:rPr>
            <a:t>连</a:t>
          </a:r>
          <a:r>
            <a:rPr>
              <a:sym typeface="+mn-ea"/>
            </a:rPr>
            <a:t>接</a:t>
          </a:r>
          <a:r>
            <a:rPr lang="zh-CN" altLang="en-US">
              <a:sym typeface="+mn-ea"/>
            </a:rPr>
            <a:t>层</a:t>
          </a:r>
          <a:endParaRPr lang="zh-CN" altLang="en-US">
            <a:sym typeface="+mn-ea"/>
          </a:endParaRPr>
        </a:p>
        <a:p>
          <a:pPr lvl="0">
            <a:lnSpc>
              <a:spcPct val="100000"/>
            </a:lnSpc>
            <a:spcBef>
              <a:spcPct val="0"/>
            </a:spcBef>
            <a:spcAft>
              <a:spcPct val="35000"/>
            </a:spcAft>
          </a:pPr>
          <a:r>
            <a:rPr>
              <a:sym typeface="+mn-ea"/>
            </a:rPr>
            <a:t>卷</a:t>
          </a:r>
          <a:r>
            <a:rPr>
              <a:sym typeface="+mn-ea"/>
            </a:rPr>
            <a:t>积</a:t>
          </a:r>
          <a:r>
            <a:rPr lang="zh-CN" altLang="en-US">
              <a:sym typeface="+mn-ea"/>
            </a:rPr>
            <a:t>层输出的特征经过全连接层进行分类</a:t>
          </a:r>
          <a:endParaRPr lang="zh-CN" altLang="en-US"/>
        </a:p>
      </dsp:txBody>
      <dsp:txXfrm>
        <a:off x="4806552" y="0"/>
        <a:ext cx="4115198" cy="852727"/>
      </dsp:txXfrm>
    </dsp:sp>
    <dsp:sp modelId="{1BC52CDC-7532-47DB-B9C5-B593E07AD50C}">
      <dsp:nvSpPr>
        <dsp:cNvPr id="6" name="圆角矩形 5"/>
        <dsp:cNvSpPr/>
      </dsp:nvSpPr>
      <dsp:spPr bwMode="white">
        <a:xfrm>
          <a:off x="4806552" y="1073863"/>
          <a:ext cx="4115198" cy="85272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a:sym typeface="+mn-ea"/>
            </a:rPr>
            <a:t>D</a:t>
          </a:r>
          <a:r>
            <a:rPr>
              <a:sym typeface="+mn-ea"/>
            </a:rPr>
            <a:t>r</a:t>
          </a:r>
          <a:r>
            <a:rPr lang="en-US" altLang="zh-CN">
              <a:sym typeface="+mn-ea"/>
            </a:rPr>
            <a:t>opout </a:t>
          </a:r>
          <a:r>
            <a:rPr>
              <a:sym typeface="+mn-ea"/>
            </a:rPr>
            <a:t>层</a:t>
          </a:r>
          <a:endParaRPr>
            <a:sym typeface="+mn-ea"/>
          </a:endParaRPr>
        </a:p>
        <a:p>
          <a:pPr lvl="0">
            <a:lnSpc>
              <a:spcPct val="100000"/>
            </a:lnSpc>
            <a:spcBef>
              <a:spcPct val="0"/>
            </a:spcBef>
            <a:spcAft>
              <a:spcPct val="35000"/>
            </a:spcAft>
          </a:pPr>
          <a:r>
            <a:rPr>
              <a:sym typeface="+mn-ea"/>
            </a:rPr>
            <a:t>在</a:t>
          </a:r>
          <a:r>
            <a:rPr lang="zh-CN" altLang="en-US">
              <a:sym typeface="+mn-ea"/>
            </a:rPr>
            <a:t>全连接层后添加</a:t>
          </a:r>
          <a:r>
            <a:rPr>
              <a:sym typeface="+mn-ea"/>
            </a:rPr>
            <a:t> </a:t>
          </a:r>
          <a:r>
            <a:rPr>
              <a:sym typeface="+mn-ea"/>
            </a:rPr>
            <a:t>D</a:t>
          </a:r>
          <a:r>
            <a:rPr lang="en-US" altLang="zh-CN">
              <a:sym typeface="+mn-ea"/>
            </a:rPr>
            <a:t>ropout </a:t>
          </a:r>
          <a:r>
            <a:rPr>
              <a:sym typeface="+mn-ea"/>
            </a:rPr>
            <a:t>层</a:t>
          </a:r>
          <a:r>
            <a:rPr>
              <a:sym typeface="+mn-ea"/>
            </a:rPr>
            <a:t>，</a:t>
          </a:r>
          <a:r>
            <a:rPr lang="zh-CN" altLang="en-US">
              <a:sym typeface="+mn-ea"/>
            </a:rPr>
            <a:t>防止过拟合</a:t>
          </a:r>
          <a:endParaRPr lang="zh-CN" altLang="en-US"/>
        </a:p>
      </dsp:txBody>
      <dsp:txXfrm>
        <a:off x="4806552" y="1073863"/>
        <a:ext cx="4115198" cy="85272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rSet csTypeId="urn:microsoft.com/office/officeart/2005/8/colors/accent6_5"/>
        </dgm:pt>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rSet csTypeId="urn:microsoft.com/office/officeart/2005/8/colors/accent6_5"/>
        </dgm:pt>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1BC20-70C3-42D7-B8D0-DC3ADD71258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CD8D2-E38D-4469-AA06-16C607A747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t>附：内容页部分可发挥空间非常大，由于信电模板自身有左上角的边框，所以把标题放在右侧会比较好</a:t>
            </a:r>
            <a:endParaRPr lang="zh-CN" altLang="en-US"/>
          </a:p>
          <a:p>
            <a:endParaRPr lang="zh-CN" altLang="en-US"/>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无边框）">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D9DA6E0-A380-4805-8A2F-F17D549A072A}" type="slidenum">
              <a:rPr lang="zh-CN" altLang="en-US" smtClean="0"/>
            </a:fld>
            <a:endParaRPr lang="zh-CN" altLang="en-US"/>
          </a:p>
        </p:txBody>
      </p:sp>
      <p:pic>
        <p:nvPicPr>
          <p:cNvPr id="7" name="图片 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81337" y="6280150"/>
            <a:ext cx="91106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C:\Documents and Settings\sqz\桌面\图片1.jp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8" t="671" r="19285" b="51665"/>
          <a:stretch>
            <a:fillRect/>
          </a:stretch>
        </p:blipFill>
        <p:spPr bwMode="auto">
          <a:xfrm>
            <a:off x="1" y="0"/>
            <a:ext cx="7388352"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5DC7610-1444-4A60-86C9-C2A99CF3C0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9DA6E0-A380-4805-8A2F-F17D549A072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DC7610-1444-4A60-86C9-C2A99CF3C0C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DA6E0-A380-4805-8A2F-F17D549A072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3" Type="http://schemas.openxmlformats.org/officeDocument/2006/relationships/notesSlide" Target="../notesSlides/notesSlide3.xml"/><Relationship Id="rId22" Type="http://schemas.openxmlformats.org/officeDocument/2006/relationships/slideLayout" Target="../slideLayouts/slideLayout7.xml"/><Relationship Id="rId21" Type="http://schemas.openxmlformats.org/officeDocument/2006/relationships/image" Target="../media/image9.svg"/><Relationship Id="rId20" Type="http://schemas.openxmlformats.org/officeDocument/2006/relationships/image" Target="../media/image8.png"/><Relationship Id="rId2" Type="http://schemas.openxmlformats.org/officeDocument/2006/relationships/tags" Target="../tags/tag11.xml"/><Relationship Id="rId19" Type="http://schemas.openxmlformats.org/officeDocument/2006/relationships/image" Target="../media/image7.svg"/><Relationship Id="rId18" Type="http://schemas.openxmlformats.org/officeDocument/2006/relationships/image" Target="../media/image6.png"/><Relationship Id="rId17" Type="http://schemas.openxmlformats.org/officeDocument/2006/relationships/image" Target="../media/image5.svg"/><Relationship Id="rId16" Type="http://schemas.openxmlformats.org/officeDocument/2006/relationships/image" Target="../media/image4.png"/><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11.jpe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7.xml"/><Relationship Id="rId6" Type="http://schemas.openxmlformats.org/officeDocument/2006/relationships/image" Target="../media/image12.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7.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7.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4500" y="2183765"/>
            <a:ext cx="11316970" cy="1445260"/>
          </a:xfrm>
          <a:prstGeom prst="rect">
            <a:avLst/>
          </a:prstGeom>
        </p:spPr>
        <p:txBody>
          <a:bodyPr wrap="square">
            <a:spAutoFit/>
          </a:bodyPr>
          <a:lstStyle/>
          <a:p>
            <a:pPr algn="ctr"/>
            <a:r>
              <a:rPr lang="zh-CN" altLang="en-US" sz="4400" b="1">
                <a:solidFill>
                  <a:schemeClr val="tx1">
                    <a:lumMod val="75000"/>
                    <a:lumOff val="25000"/>
                  </a:schemeClr>
                </a:solidFill>
                <a:latin typeface="微软雅黑" panose="020B0503020204020204" pitchFamily="34" charset="-122"/>
                <a:ea typeface="微软雅黑" panose="020B0503020204020204" pitchFamily="34" charset="-122"/>
              </a:rPr>
              <a:t>基于</a:t>
            </a:r>
            <a:r>
              <a:rPr lang="en-US" altLang="zh-CN" sz="4400" b="1">
                <a:solidFill>
                  <a:schemeClr val="tx1">
                    <a:lumMod val="75000"/>
                    <a:lumOff val="25000"/>
                  </a:schemeClr>
                </a:solidFill>
                <a:latin typeface="微软雅黑" panose="020B0503020204020204" pitchFamily="34" charset="-122"/>
                <a:ea typeface="微软雅黑" panose="020B0503020204020204" pitchFamily="34" charset="-122"/>
              </a:rPr>
              <a:t> mfcc </a:t>
            </a:r>
            <a:r>
              <a:rPr lang="zh-CN" altLang="en-US" sz="4400" b="1">
                <a:solidFill>
                  <a:schemeClr val="tx1">
                    <a:lumMod val="75000"/>
                    <a:lumOff val="25000"/>
                  </a:schemeClr>
                </a:solidFill>
                <a:latin typeface="微软雅黑" panose="020B0503020204020204" pitchFamily="34" charset="-122"/>
                <a:ea typeface="微软雅黑" panose="020B0503020204020204" pitchFamily="34" charset="-122"/>
              </a:rPr>
              <a:t>特征，</a:t>
            </a:r>
            <a:r>
              <a:rPr lang="en-US" altLang="zh-CN" sz="4400" b="1">
                <a:solidFill>
                  <a:schemeClr val="tx1">
                    <a:lumMod val="75000"/>
                    <a:lumOff val="25000"/>
                  </a:schemeClr>
                </a:solidFill>
                <a:latin typeface="微软雅黑" panose="020B0503020204020204" pitchFamily="34" charset="-122"/>
                <a:ea typeface="微软雅黑" panose="020B0503020204020204" pitchFamily="34" charset="-122"/>
              </a:rPr>
              <a:t>vad </a:t>
            </a:r>
            <a:r>
              <a:rPr lang="zh-CN" altLang="en-US" sz="4400" b="1">
                <a:solidFill>
                  <a:schemeClr val="tx1">
                    <a:lumMod val="75000"/>
                    <a:lumOff val="25000"/>
                  </a:schemeClr>
                </a:solidFill>
                <a:latin typeface="微软雅黑" panose="020B0503020204020204" pitchFamily="34" charset="-122"/>
                <a:ea typeface="微软雅黑" panose="020B0503020204020204" pitchFamily="34" charset="-122"/>
              </a:rPr>
              <a:t>算法和机器学习的连续数字语音识别系统</a:t>
            </a:r>
            <a:endParaRPr lang="zh-CN" altLang="en-US" sz="44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115561" y="4035537"/>
            <a:ext cx="1960880" cy="521970"/>
          </a:xfrm>
          <a:prstGeom prst="rect">
            <a:avLst/>
          </a:prstGeom>
          <a:noFill/>
        </p:spPr>
        <p:txBody>
          <a:bodyPr wrap="none" rtlCol="0">
            <a:spAutoFit/>
          </a:bodyPr>
          <a:lstStyle/>
          <a:p>
            <a:pPr algn="dist"/>
            <a:r>
              <a:rPr kumimoji="1" lang="zh-CN" altLang="en-US" sz="2800" b="1">
                <a:solidFill>
                  <a:schemeClr val="tx1">
                    <a:lumMod val="75000"/>
                    <a:lumOff val="25000"/>
                  </a:schemeClr>
                </a:solidFill>
                <a:latin typeface="微软雅黑" panose="020B0503020204020204" pitchFamily="34" charset="-122"/>
                <a:ea typeface="微软雅黑" panose="020B0503020204020204" pitchFamily="34" charset="-122"/>
              </a:rPr>
              <a:t>小组</a:t>
            </a:r>
            <a:r>
              <a:rPr kumimoji="1" lang="zh-CN" altLang="en-US" sz="2800" b="1">
                <a:solidFill>
                  <a:schemeClr val="tx1">
                    <a:lumMod val="75000"/>
                    <a:lumOff val="25000"/>
                  </a:schemeClr>
                </a:solidFill>
                <a:latin typeface="微软雅黑" panose="020B0503020204020204" pitchFamily="34" charset="-122"/>
                <a:ea typeface="微软雅黑" panose="020B0503020204020204" pitchFamily="34" charset="-122"/>
              </a:rPr>
              <a:t>成员：</a:t>
            </a:r>
            <a:endParaRPr kumimoji="1" lang="zh-CN" altLang="en-US" sz="28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5353686" y="4607129"/>
            <a:ext cx="1484630" cy="460375"/>
          </a:xfrm>
          <a:prstGeom prst="rect">
            <a:avLst/>
          </a:prstGeom>
          <a:noFill/>
        </p:spPr>
        <p:txBody>
          <a:bodyPr wrap="none" rtlCol="0">
            <a:spAutoFit/>
          </a:bodyPr>
          <a:lstStyle/>
          <a:p>
            <a:pPr algn="dist"/>
            <a:r>
              <a:rPr kumimoji="1" lang="en-US" altLang="zh-CN" sz="2400" b="1">
                <a:solidFill>
                  <a:schemeClr val="tx1">
                    <a:lumMod val="75000"/>
                    <a:lumOff val="25000"/>
                  </a:schemeClr>
                </a:solidFill>
                <a:latin typeface="微软雅黑" panose="020B0503020204020204" pitchFamily="34" charset="-122"/>
                <a:ea typeface="微软雅黑" panose="020B0503020204020204" pitchFamily="34" charset="-122"/>
              </a:rPr>
              <a:t>2025.6.2</a:t>
            </a:r>
            <a:endParaRPr kumimoji="1" lang="en-US" altLang="zh-CN" sz="2400" b="1">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6642735" y="1979295"/>
            <a:ext cx="3113405" cy="5835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3200" b="1">
                <a:solidFill>
                  <a:srgbClr val="000000">
                    <a:lumMod val="75000"/>
                    <a:lumOff val="25000"/>
                  </a:srgbClr>
                </a:solidFill>
                <a:latin typeface="Arial" panose="020B0604020202020204"/>
                <a:ea typeface="微软雅黑" panose="020B0503020204020204" pitchFamily="34" charset="-122"/>
              </a:rPr>
              <a:t>设计与</a:t>
            </a:r>
            <a:r>
              <a:rPr lang="zh-CN" altLang="en-US" sz="3200" b="1">
                <a:solidFill>
                  <a:srgbClr val="000000">
                    <a:lumMod val="75000"/>
                    <a:lumOff val="25000"/>
                  </a:srgbClr>
                </a:solidFill>
                <a:latin typeface="Arial" panose="020B0604020202020204"/>
                <a:ea typeface="微软雅黑" panose="020B0503020204020204" pitchFamily="34" charset="-122"/>
              </a:rPr>
              <a:t>问题分析</a:t>
            </a:r>
            <a:endParaRPr lang="zh-CN" altLang="en-US" sz="3200" b="1">
              <a:solidFill>
                <a:srgbClr val="000000">
                  <a:lumMod val="75000"/>
                  <a:lumOff val="25000"/>
                </a:srgbClr>
              </a:solidFill>
              <a:latin typeface="Arial" panose="020B0604020202020204"/>
              <a:ea typeface="微软雅黑" panose="020B0503020204020204" pitchFamily="34" charset="-122"/>
            </a:endParaRPr>
          </a:p>
        </p:txBody>
      </p:sp>
      <p:cxnSp>
        <p:nvCxnSpPr>
          <p:cNvPr id="5" name="直接连接符 4"/>
          <p:cNvCxnSpPr/>
          <p:nvPr>
            <p:custDataLst>
              <p:tags r:id="rId2"/>
            </p:custDataLst>
          </p:nvPr>
        </p:nvCxnSpPr>
        <p:spPr>
          <a:xfrm>
            <a:off x="5839672" y="2767510"/>
            <a:ext cx="47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custDataLst>
              <p:tags r:id="rId3"/>
            </p:custDataLst>
          </p:nvPr>
        </p:nvSpPr>
        <p:spPr>
          <a:xfrm>
            <a:off x="5323202" y="1785999"/>
            <a:ext cx="521970" cy="8299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cs"/>
              </a:rPr>
              <a:t>1</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cs"/>
            </a:endParaRPr>
          </a:p>
        </p:txBody>
      </p:sp>
      <p:sp>
        <p:nvSpPr>
          <p:cNvPr id="7" name="矩形 6"/>
          <p:cNvSpPr/>
          <p:nvPr>
            <p:custDataLst>
              <p:tags r:id="rId4"/>
            </p:custDataLst>
          </p:nvPr>
        </p:nvSpPr>
        <p:spPr>
          <a:xfrm>
            <a:off x="5323202" y="2918024"/>
            <a:ext cx="521970" cy="8299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cs"/>
              </a:rPr>
              <a:t>2</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cs"/>
            </a:endParaRPr>
          </a:p>
        </p:txBody>
      </p:sp>
      <p:sp>
        <p:nvSpPr>
          <p:cNvPr id="9" name="矩形 8"/>
          <p:cNvSpPr/>
          <p:nvPr>
            <p:custDataLst>
              <p:tags r:id="rId5"/>
            </p:custDataLst>
          </p:nvPr>
        </p:nvSpPr>
        <p:spPr>
          <a:xfrm>
            <a:off x="5323202" y="4050049"/>
            <a:ext cx="521970" cy="8299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cs"/>
              </a:rPr>
              <a:t>3</a:t>
            </a:r>
            <a:endParaRPr kumimoji="0" lang="zh-CN" altLang="en-US" sz="4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cs"/>
            </a:endParaRPr>
          </a:p>
        </p:txBody>
      </p:sp>
      <p:cxnSp>
        <p:nvCxnSpPr>
          <p:cNvPr id="12" name="直接连接符 11"/>
          <p:cNvCxnSpPr/>
          <p:nvPr>
            <p:custDataLst>
              <p:tags r:id="rId6"/>
            </p:custDataLst>
          </p:nvPr>
        </p:nvCxnSpPr>
        <p:spPr>
          <a:xfrm>
            <a:off x="5839672" y="3899535"/>
            <a:ext cx="47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5839672" y="5031560"/>
            <a:ext cx="4788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isḻïde"/>
          <p:cNvGrpSpPr/>
          <p:nvPr/>
        </p:nvGrpSpPr>
        <p:grpSpPr>
          <a:xfrm>
            <a:off x="429114" y="1319692"/>
            <a:ext cx="3997322" cy="4218616"/>
            <a:chOff x="1235460" y="1166710"/>
            <a:chExt cx="4321824" cy="4561083"/>
          </a:xfrm>
        </p:grpSpPr>
        <p:grpSp>
          <p:nvGrpSpPr>
            <p:cNvPr id="19" name="ïşļïďê"/>
            <p:cNvGrpSpPr/>
            <p:nvPr/>
          </p:nvGrpSpPr>
          <p:grpSpPr>
            <a:xfrm>
              <a:off x="1235460" y="1395379"/>
              <a:ext cx="4246928" cy="4332414"/>
              <a:chOff x="1235460" y="1395379"/>
              <a:chExt cx="4246928" cy="4332414"/>
            </a:xfrm>
          </p:grpSpPr>
          <p:sp>
            <p:nvSpPr>
              <p:cNvPr id="28" name="íSḻíḍé"/>
              <p:cNvSpPr/>
              <p:nvPr/>
            </p:nvSpPr>
            <p:spPr bwMode="auto">
              <a:xfrm>
                <a:off x="1416824" y="1484784"/>
                <a:ext cx="3888432" cy="3888432"/>
              </a:xfrm>
              <a:prstGeom prst="ellipse">
                <a:avLst/>
              </a:prstGeom>
              <a:noFill/>
              <a:ln w="9525">
                <a:solidFill>
                  <a:schemeClr val="bg1">
                    <a:lumMod val="50000"/>
                  </a:schemeClr>
                </a:solid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29" name="íṧļiḍê"/>
              <p:cNvSpPr/>
              <p:nvPr/>
            </p:nvSpPr>
            <p:spPr bwMode="auto">
              <a:xfrm rot="13206116">
                <a:off x="2820860" y="1395379"/>
                <a:ext cx="2661528" cy="1476164"/>
              </a:xfrm>
              <a:prstGeom prst="triangle">
                <a:avLst/>
              </a:prstGeom>
              <a:solidFill>
                <a:schemeClr val="bg1"/>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30" name="îṡḷïďê"/>
              <p:cNvSpPr/>
              <p:nvPr/>
            </p:nvSpPr>
            <p:spPr bwMode="auto">
              <a:xfrm rot="18830594">
                <a:off x="3881287" y="3593598"/>
                <a:ext cx="1712350" cy="1476164"/>
              </a:xfrm>
              <a:prstGeom prst="triangle">
                <a:avLst/>
              </a:prstGeom>
              <a:solidFill>
                <a:schemeClr val="bg1"/>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31" name="îs1îḑé"/>
              <p:cNvSpPr/>
              <p:nvPr/>
            </p:nvSpPr>
            <p:spPr bwMode="auto">
              <a:xfrm rot="5400000">
                <a:off x="709627" y="2169529"/>
                <a:ext cx="2845654" cy="1476164"/>
              </a:xfrm>
              <a:prstGeom prst="triangle">
                <a:avLst/>
              </a:prstGeom>
              <a:solidFill>
                <a:schemeClr val="bg1"/>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32" name="iṧḷíďè"/>
              <p:cNvSpPr/>
              <p:nvPr/>
            </p:nvSpPr>
            <p:spPr bwMode="auto">
              <a:xfrm rot="902836">
                <a:off x="1235460" y="4251629"/>
                <a:ext cx="2845654" cy="1476164"/>
              </a:xfrm>
              <a:prstGeom prst="triangle">
                <a:avLst/>
              </a:prstGeom>
              <a:solidFill>
                <a:schemeClr val="bg1"/>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grpSp>
        <p:cxnSp>
          <p:nvCxnSpPr>
            <p:cNvPr id="20" name="Straight Connector 10"/>
            <p:cNvCxnSpPr/>
            <p:nvPr/>
          </p:nvCxnSpPr>
          <p:spPr>
            <a:xfrm flipV="1">
              <a:off x="4341418" y="1299733"/>
              <a:ext cx="792088" cy="7920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11"/>
            <p:cNvCxnSpPr/>
            <p:nvPr/>
          </p:nvCxnSpPr>
          <p:spPr>
            <a:xfrm flipV="1">
              <a:off x="4765196" y="1166710"/>
              <a:ext cx="792088" cy="7920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12"/>
            <p:cNvCxnSpPr/>
            <p:nvPr/>
          </p:nvCxnSpPr>
          <p:spPr>
            <a:xfrm flipV="1">
              <a:off x="2261188" y="5105350"/>
              <a:ext cx="520676" cy="5206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14"/>
            <p:cNvCxnSpPr/>
            <p:nvPr/>
          </p:nvCxnSpPr>
          <p:spPr>
            <a:xfrm flipV="1">
              <a:off x="1973156" y="5155702"/>
              <a:ext cx="520676" cy="5206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ïŝlïdê"/>
            <p:cNvSpPr/>
            <p:nvPr/>
          </p:nvSpPr>
          <p:spPr bwMode="auto">
            <a:xfrm>
              <a:off x="1927201" y="5611873"/>
              <a:ext cx="114857" cy="114857"/>
            </a:xfrm>
            <a:prstGeom prst="ellipse">
              <a:avLst/>
            </a:prstGeom>
            <a:solidFill>
              <a:schemeClr val="tx1">
                <a:lumMod val="60000"/>
                <a:lumOff val="40000"/>
              </a:schemeClr>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25" name="ïśḻíďe"/>
            <p:cNvSpPr/>
            <p:nvPr/>
          </p:nvSpPr>
          <p:spPr bwMode="auto">
            <a:xfrm>
              <a:off x="2714922" y="5062532"/>
              <a:ext cx="114857" cy="114857"/>
            </a:xfrm>
            <a:prstGeom prst="ellipse">
              <a:avLst/>
            </a:prstGeom>
            <a:solidFill>
              <a:schemeClr val="tx1">
                <a:lumMod val="60000"/>
                <a:lumOff val="40000"/>
              </a:schemeClr>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26" name="islïḍe"/>
            <p:cNvSpPr/>
            <p:nvPr/>
          </p:nvSpPr>
          <p:spPr bwMode="auto">
            <a:xfrm>
              <a:off x="4707767" y="1879200"/>
              <a:ext cx="114857" cy="114857"/>
            </a:xfrm>
            <a:prstGeom prst="ellipse">
              <a:avLst/>
            </a:prstGeom>
            <a:solidFill>
              <a:schemeClr val="tx1">
                <a:lumMod val="60000"/>
                <a:lumOff val="40000"/>
              </a:schemeClr>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27" name="îsḻïḓè"/>
            <p:cNvSpPr/>
            <p:nvPr/>
          </p:nvSpPr>
          <p:spPr bwMode="auto">
            <a:xfrm>
              <a:off x="5070168" y="1244689"/>
              <a:ext cx="114857" cy="114857"/>
            </a:xfrm>
            <a:prstGeom prst="ellipse">
              <a:avLst/>
            </a:prstGeom>
            <a:solidFill>
              <a:schemeClr val="tx1">
                <a:lumMod val="60000"/>
                <a:lumOff val="40000"/>
              </a:schemeClr>
            </a:solid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grpSp>
      <p:sp>
        <p:nvSpPr>
          <p:cNvPr id="16" name="ïṧļiḍé"/>
          <p:cNvSpPr/>
          <p:nvPr/>
        </p:nvSpPr>
        <p:spPr bwMode="auto">
          <a:xfrm>
            <a:off x="863266" y="1880288"/>
            <a:ext cx="3063661" cy="3063660"/>
          </a:xfrm>
          <a:prstGeom prst="ellipse">
            <a:avLst/>
          </a:prstGeom>
          <a:solidFill>
            <a:schemeClr val="bg1">
              <a:lumMod val="95000"/>
            </a:schemeClr>
          </a:solidFill>
          <a:ln w="19050">
            <a:noFill/>
            <a:round/>
          </a:ln>
        </p:spPr>
        <p:txBody>
          <a:bodyPr rot="0" spcFirstLastPara="0" vert="horz" wrap="square" lIns="91440" tIns="45720" rIns="91440" bIns="45720" anchor="ctr" anchorCtr="1" forceAA="0" compatLnSpc="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br>
              <a:rPr kumimoji="0" lang="zh-CN" altLang="en-US" sz="4000" b="1" i="0" u="none" strike="noStrike" kern="1200" cap="none" spc="300" normalizeH="0" baseline="0" noProof="0">
                <a:ln>
                  <a:noFill/>
                </a:ln>
                <a:solidFill>
                  <a:srgbClr val="000000"/>
                </a:solidFill>
                <a:effectLst/>
                <a:uLnTx/>
                <a:uFillTx/>
                <a:latin typeface="Arial" panose="020B0604020202020204"/>
                <a:ea typeface="微软雅黑" panose="020B0503020204020204" pitchFamily="34" charset="-122"/>
                <a:cs typeface="+mn-cs"/>
              </a:rPr>
            </a:br>
            <a:endParaRPr kumimoji="0" lang="zh-CN" altLang="en-US" sz="4000" b="1" i="0" u="none" strike="noStrike" kern="1200" cap="none" spc="30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17" name="íšḷîḓe"/>
          <p:cNvSpPr/>
          <p:nvPr/>
        </p:nvSpPr>
        <p:spPr>
          <a:xfrm>
            <a:off x="1181205" y="3766084"/>
            <a:ext cx="2412389" cy="341601"/>
          </a:xfrm>
          <a:prstGeom prst="rect">
            <a:avLst/>
          </a:prstGeom>
        </p:spPr>
        <p:txBody>
          <a:bodyPr wrap="non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30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CONTENT</a:t>
            </a:r>
            <a:endParaRPr kumimoji="0" lang="en-US" altLang="zh-CN" sz="2000" b="0" i="0" u="none" strike="noStrike" kern="1200" cap="none" spc="30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1530233" y="2738769"/>
            <a:ext cx="1714330" cy="948891"/>
          </a:xfrm>
          <a:prstGeom prst="rect">
            <a:avLst/>
          </a:prstGeom>
        </p:spPr>
        <p:txBody>
          <a:bodyPr wrap="non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500" b="1" i="0" u="none" strike="noStrike" kern="1200" cap="none" spc="30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目录</a:t>
            </a:r>
            <a:endParaRPr kumimoji="0" lang="zh-CN" altLang="en-US" sz="550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6" name="矩形 35"/>
          <p:cNvSpPr/>
          <p:nvPr>
            <p:custDataLst>
              <p:tags r:id="rId8"/>
            </p:custDataLst>
          </p:nvPr>
        </p:nvSpPr>
        <p:spPr>
          <a:xfrm>
            <a:off x="6642735" y="4173855"/>
            <a:ext cx="3265805" cy="583565"/>
          </a:xfrm>
          <a:prstGeom prst="rect">
            <a:avLst/>
          </a:prstGeom>
        </p:spPr>
        <p:txBody>
          <a:bodyPr wrap="square">
            <a:spAutoFit/>
          </a:bodyPr>
          <a:lstStyle/>
          <a:p>
            <a:pPr marL="0" marR="0" lvl="0" algn="dist" defTabSz="914400" rtl="0" eaLnBrk="1" fontAlgn="auto" latinLnBrk="0" hangingPunct="1">
              <a:lnSpc>
                <a:spcPct val="100000"/>
              </a:lnSpc>
              <a:spcBef>
                <a:spcPts val="0"/>
              </a:spcBef>
              <a:spcAft>
                <a:spcPts val="0"/>
              </a:spcAft>
              <a:buClrTx/>
              <a:buSzTx/>
              <a:buFontTx/>
              <a:buNone/>
              <a:defRPr/>
            </a:pPr>
            <a:r>
              <a:rPr lang="zh-CN" altLang="en-US" sz="3200" b="1">
                <a:solidFill>
                  <a:srgbClr val="000000">
                    <a:lumMod val="75000"/>
                    <a:lumOff val="25000"/>
                  </a:srgbClr>
                </a:solidFill>
                <a:latin typeface="Arial" panose="020B0604020202020204"/>
                <a:ea typeface="微软雅黑" panose="020B0503020204020204" pitchFamily="34" charset="-122"/>
              </a:rPr>
              <a:t>实验结果与</a:t>
            </a:r>
            <a:r>
              <a:rPr lang="zh-CN" altLang="en-US" sz="3200" b="1">
                <a:solidFill>
                  <a:srgbClr val="000000">
                    <a:lumMod val="75000"/>
                    <a:lumOff val="25000"/>
                  </a:srgbClr>
                </a:solidFill>
                <a:latin typeface="Arial" panose="020B0604020202020204"/>
                <a:ea typeface="微软雅黑" panose="020B0503020204020204" pitchFamily="34" charset="-122"/>
              </a:rPr>
              <a:t>总结</a:t>
            </a:r>
            <a:endParaRPr lang="zh-CN" altLang="en-US" sz="3200" b="1">
              <a:solidFill>
                <a:srgbClr val="000000">
                  <a:lumMod val="75000"/>
                  <a:lumOff val="25000"/>
                </a:srgbClr>
              </a:solidFill>
              <a:latin typeface="Arial" panose="020B0604020202020204"/>
              <a:ea typeface="微软雅黑" panose="020B0503020204020204" pitchFamily="34" charset="-122"/>
            </a:endParaRPr>
          </a:p>
        </p:txBody>
      </p:sp>
      <p:sp>
        <p:nvSpPr>
          <p:cNvPr id="37" name="矩形 36"/>
          <p:cNvSpPr/>
          <p:nvPr>
            <p:custDataLst>
              <p:tags r:id="rId9"/>
            </p:custDataLst>
          </p:nvPr>
        </p:nvSpPr>
        <p:spPr>
          <a:xfrm>
            <a:off x="6149340" y="3076575"/>
            <a:ext cx="4286885" cy="58356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3200" b="1">
                <a:solidFill>
                  <a:srgbClr val="000000">
                    <a:lumMod val="75000"/>
                    <a:lumOff val="25000"/>
                  </a:srgbClr>
                </a:solidFill>
                <a:latin typeface="Arial" panose="020B0604020202020204"/>
                <a:ea typeface="微软雅黑" panose="020B0503020204020204" pitchFamily="34" charset="-122"/>
              </a:rPr>
              <a:t>功能模块的</a:t>
            </a:r>
            <a:r>
              <a:rPr lang="zh-CN" altLang="en-US" sz="3200" b="1">
                <a:solidFill>
                  <a:srgbClr val="000000">
                    <a:lumMod val="75000"/>
                    <a:lumOff val="25000"/>
                  </a:srgbClr>
                </a:solidFill>
                <a:latin typeface="Arial" panose="020B0604020202020204"/>
                <a:ea typeface="微软雅黑" panose="020B0503020204020204" pitchFamily="34" charset="-122"/>
              </a:rPr>
              <a:t>算法实现</a:t>
            </a:r>
            <a:endParaRPr lang="zh-CN" altLang="en-US" sz="3200" b="1">
              <a:solidFill>
                <a:srgbClr val="000000">
                  <a:lumMod val="75000"/>
                  <a:lumOff val="25000"/>
                </a:srgbClr>
              </a:solidFill>
              <a:latin typeface="Arial" panose="020B0604020202020204"/>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53223" y="1984140"/>
            <a:ext cx="629920" cy="1014730"/>
          </a:xfrm>
          <a:prstGeom prst="rect">
            <a:avLst/>
          </a:prstGeom>
          <a:noFill/>
        </p:spPr>
        <p:txBody>
          <a:bodyPr wrap="none" rtlCol="0">
            <a:spAutoFit/>
          </a:bodyPr>
          <a:lstStyle/>
          <a:p>
            <a:r>
              <a:rPr lang="en-US" altLang="zh-CN" sz="6000" dirty="0">
                <a:solidFill>
                  <a:schemeClr val="tx1">
                    <a:lumMod val="75000"/>
                    <a:lumOff val="25000"/>
                  </a:schemeClr>
                </a:solidFill>
                <a:latin typeface="微软雅黑" panose="020B0503020204020204" pitchFamily="34" charset="-122"/>
                <a:ea typeface="微软雅黑" panose="020B0503020204020204" pitchFamily="34" charset="-122"/>
              </a:rPr>
              <a:t>1</a:t>
            </a:r>
            <a:endParaRPr lang="zh-CN" altLang="en-US" sz="6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747135" y="3661242"/>
            <a:ext cx="4450080" cy="829945"/>
          </a:xfrm>
          <a:prstGeom prst="rect">
            <a:avLst/>
          </a:prstGeom>
          <a:noFill/>
        </p:spPr>
        <p:txBody>
          <a:bodyPr wrap="none" rtlCol="0">
            <a:spAutoFit/>
          </a:bodyPr>
          <a:lstStyle/>
          <a:p>
            <a:pPr algn="ctr"/>
            <a:r>
              <a:rPr lang="zh-CN" altLang="en-US" sz="4800" b="1">
                <a:solidFill>
                  <a:srgbClr val="000000">
                    <a:lumMod val="75000"/>
                    <a:lumOff val="25000"/>
                  </a:srgbClr>
                </a:solidFill>
                <a:latin typeface="Arial" panose="020B0604020202020204"/>
                <a:ea typeface="微软雅黑" panose="020B0503020204020204" pitchFamily="34" charset="-122"/>
                <a:sym typeface="+mn-ea"/>
              </a:rPr>
              <a:t>设计与问题分析</a:t>
            </a:r>
            <a:endParaRPr lang="zh-CN" altLang="en-US" sz="4800" b="1">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28915" y="185420"/>
            <a:ext cx="3808095" cy="645160"/>
          </a:xfrm>
          <a:prstGeom prst="rect">
            <a:avLst/>
          </a:prstGeom>
          <a:noFill/>
        </p:spPr>
        <p:txBody>
          <a:bodyPr wrap="square" rtlCol="0">
            <a:spAutoFit/>
          </a:bodyPr>
          <a:lstStyle/>
          <a:p>
            <a:pPr algn="r"/>
            <a:r>
              <a:rPr lang="zh-CN" altLang="en-US" sz="3600" b="1">
                <a:solidFill>
                  <a:srgbClr val="000000">
                    <a:lumMod val="75000"/>
                    <a:lumOff val="25000"/>
                  </a:srgbClr>
                </a:solidFill>
                <a:latin typeface="Arial" panose="020B0604020202020204"/>
                <a:ea typeface="微软雅黑" panose="020B0503020204020204" pitchFamily="34" charset="-122"/>
                <a:sym typeface="+mn-ea"/>
              </a:rPr>
              <a:t>设计与问题分析</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flipV="1">
            <a:off x="8419665" y="914399"/>
            <a:ext cx="3217545" cy="381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168400" y="1305560"/>
            <a:ext cx="4927600" cy="4246245"/>
          </a:xfrm>
          <a:prstGeom prst="rect">
            <a:avLst/>
          </a:prstGeom>
          <a:noFill/>
        </p:spPr>
        <p:txBody>
          <a:bodyPr wrap="square" rtlCol="0">
            <a:spAutoFit/>
          </a:bodyPr>
          <a:p>
            <a:pPr indent="0" fontAlgn="auto">
              <a:lnSpc>
                <a:spcPct val="150000"/>
              </a:lnSpc>
            </a:pPr>
            <a:r>
              <a:rPr lang="zh-CN" altLang="en-US" sz="2000"/>
              <a:t>在语音识别技术迅速发展的今天，语音识别系统已广泛应用于各个领域，包括语音助手、智能家居、自动客服等。尤其是连续数字串的语音识别在银行账户验证、电话号码输入和智能控制等方面具有重要应用价值。然而，</a:t>
            </a:r>
            <a:r>
              <a:rPr lang="zh-CN" altLang="en-US" sz="2000">
                <a:sym typeface="+mn-ea"/>
              </a:rPr>
              <a:t>单个数字的语音识别中存在识别不准确，泛化性不佳等问题，</a:t>
            </a:r>
            <a:r>
              <a:rPr lang="zh-CN" altLang="en-US" sz="2000"/>
              <a:t>如何有效地提取</a:t>
            </a:r>
            <a:r>
              <a:rPr lang="zh-CN" altLang="en-US" sz="2000"/>
              <a:t>连续语音信号的特征并进行准确的识别仍然具有挑战性。</a:t>
            </a:r>
            <a:endParaRPr lang="zh-CN" altLang="en-US" sz="2000"/>
          </a:p>
        </p:txBody>
      </p:sp>
      <p:pic>
        <p:nvPicPr>
          <p:cNvPr id="5" name="图片 4"/>
          <p:cNvPicPr/>
          <p:nvPr/>
        </p:nvPicPr>
        <p:blipFill>
          <a:blip r:embed="rId1"/>
          <a:stretch>
            <a:fillRect/>
          </a:stretch>
        </p:blipFill>
        <p:spPr>
          <a:xfrm>
            <a:off x="6722110" y="1454785"/>
            <a:ext cx="4914900" cy="35680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28915" y="185420"/>
            <a:ext cx="3808095" cy="645160"/>
          </a:xfrm>
          <a:prstGeom prst="rect">
            <a:avLst/>
          </a:prstGeom>
          <a:noFill/>
        </p:spPr>
        <p:txBody>
          <a:bodyPr wrap="square" rtlCol="0">
            <a:spAutoFit/>
          </a:bodyPr>
          <a:lstStyle/>
          <a:p>
            <a:pPr algn="r"/>
            <a:r>
              <a:rPr lang="zh-CN" altLang="en-US" sz="3600" b="1">
                <a:solidFill>
                  <a:srgbClr val="000000">
                    <a:lumMod val="75000"/>
                    <a:lumOff val="25000"/>
                  </a:srgbClr>
                </a:solidFill>
                <a:latin typeface="Arial" panose="020B0604020202020204"/>
                <a:ea typeface="微软雅黑" panose="020B0503020204020204" pitchFamily="34" charset="-122"/>
                <a:sym typeface="+mn-ea"/>
              </a:rPr>
              <a:t>设计与问题分析</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flipV="1">
            <a:off x="8419665" y="914399"/>
            <a:ext cx="3217545" cy="381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933450" y="1002030"/>
            <a:ext cx="10485120" cy="5077460"/>
          </a:xfrm>
          <a:prstGeom prst="rect">
            <a:avLst/>
          </a:prstGeom>
          <a:noFill/>
        </p:spPr>
        <p:txBody>
          <a:bodyPr wrap="square" rtlCol="0">
            <a:spAutoFit/>
          </a:bodyPr>
          <a:p>
            <a:pPr indent="0" fontAlgn="auto">
              <a:lnSpc>
                <a:spcPct val="150000"/>
              </a:lnSpc>
            </a:pPr>
            <a:r>
              <a:rPr lang="zh-CN" altLang="en-US"/>
              <a:t>在连续数字串的语音识别系统设计中，主要</a:t>
            </a:r>
            <a:r>
              <a:rPr lang="zh-CN" altLang="en-US"/>
              <a:t>存在以下几个关键问题：</a:t>
            </a:r>
            <a:endParaRPr lang="zh-CN" altLang="en-US"/>
          </a:p>
          <a:p>
            <a:pPr indent="0" fontAlgn="auto">
              <a:lnSpc>
                <a:spcPct val="150000"/>
              </a:lnSpc>
            </a:pPr>
            <a:r>
              <a:rPr lang="en-US" altLang="zh-CN"/>
              <a:t>1. </a:t>
            </a:r>
            <a:r>
              <a:rPr lang="zh-CN" altLang="en-US"/>
              <a:t>语音特征提取：语音信号具有非平稳性和复杂性，需要通过有效的特征提取方法将其转换为具有代表性的特征参数。</a:t>
            </a:r>
            <a:endParaRPr lang="zh-CN" altLang="en-US"/>
          </a:p>
          <a:p>
            <a:pPr indent="0" fontAlgn="auto">
              <a:lnSpc>
                <a:spcPct val="150000"/>
              </a:lnSpc>
            </a:pPr>
            <a:r>
              <a:rPr lang="en-US" altLang="zh-CN"/>
              <a:t>2. </a:t>
            </a:r>
            <a:r>
              <a:rPr lang="zh-CN" altLang="en-US"/>
              <a:t>语音活动检测（</a:t>
            </a:r>
            <a:r>
              <a:rPr lang="en-US" altLang="zh-CN"/>
              <a:t>VAD</a:t>
            </a:r>
            <a:r>
              <a:rPr lang="zh-CN" altLang="en-US"/>
              <a:t>）：在连续语音信号中，需要准确地分离出语音段和非语音段。</a:t>
            </a:r>
            <a:endParaRPr lang="zh-CN" altLang="en-US"/>
          </a:p>
          <a:p>
            <a:pPr indent="0" fontAlgn="auto">
              <a:lnSpc>
                <a:spcPct val="150000"/>
              </a:lnSpc>
            </a:pPr>
            <a:r>
              <a:rPr lang="en-US" altLang="zh-CN"/>
              <a:t>3. </a:t>
            </a:r>
            <a:r>
              <a:rPr lang="zh-CN" altLang="en-US"/>
              <a:t>机器学习模型的选择与训练：选择合适的机器学习算法，并对模型进行训练，以实现高效的语音识别。常用的模型包括隐马尔可夫模型（</a:t>
            </a:r>
            <a:r>
              <a:rPr lang="en-US" altLang="zh-CN"/>
              <a:t>HMM</a:t>
            </a:r>
            <a:r>
              <a:rPr lang="zh-CN" altLang="en-US"/>
              <a:t>）、深度神经网络（</a:t>
            </a:r>
            <a:r>
              <a:rPr lang="en-US" altLang="zh-CN"/>
              <a:t>DNN</a:t>
            </a:r>
            <a:r>
              <a:rPr lang="zh-CN" altLang="en-US"/>
              <a:t>）和卷积神经网络（</a:t>
            </a:r>
            <a:r>
              <a:rPr lang="en-US" altLang="zh-CN"/>
              <a:t>CNN</a:t>
            </a:r>
            <a:r>
              <a:rPr lang="zh-CN" altLang="en-US"/>
              <a:t>）等。这些模型需要大量的语音数据进行训练，以提高识别的准确率。</a:t>
            </a:r>
            <a:endParaRPr lang="zh-CN" altLang="en-US"/>
          </a:p>
          <a:p>
            <a:pPr indent="0" fontAlgn="auto">
              <a:lnSpc>
                <a:spcPct val="150000"/>
              </a:lnSpc>
            </a:pPr>
            <a:r>
              <a:rPr lang="en-US" altLang="zh-CN"/>
              <a:t>4. </a:t>
            </a:r>
            <a:r>
              <a:rPr lang="zh-CN" altLang="en-US"/>
              <a:t>连续数字串的识别：在实际应用中，语音信号通常是连续的，包含多个数字串。如何在连续语音信号中准确地识别和分割每个数字，是实现高性能语音识别系统的一个难点。</a:t>
            </a:r>
            <a:endParaRPr lang="zh-CN" altLang="en-US"/>
          </a:p>
          <a:p>
            <a:pPr indent="0" fontAlgn="auto">
              <a:lnSpc>
                <a:spcPct val="150000"/>
              </a:lnSpc>
            </a:pPr>
            <a:r>
              <a:rPr lang="zh-CN" altLang="en-US"/>
              <a:t>基于以上问题，</a:t>
            </a:r>
            <a:r>
              <a:rPr lang="zh-CN" altLang="en-US"/>
              <a:t>我们提出了一种基于</a:t>
            </a:r>
            <a:r>
              <a:rPr lang="en-US" altLang="zh-CN"/>
              <a:t> MFCC </a:t>
            </a:r>
            <a:r>
              <a:rPr lang="zh-CN" altLang="en-US"/>
              <a:t>特征、</a:t>
            </a:r>
            <a:r>
              <a:rPr lang="en-US" altLang="zh-CN"/>
              <a:t>VAD </a:t>
            </a:r>
            <a:r>
              <a:rPr lang="zh-CN" altLang="en-US"/>
              <a:t>算法和机器学习的连续数字串语音识别系统设计方案。该方案旨在通过有效的特征提取、准确的语音活动检测和高效的机器学习模型，实现对连续数字串语音信号的准确识别。</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53223" y="1984140"/>
            <a:ext cx="629920" cy="1014730"/>
          </a:xfrm>
          <a:prstGeom prst="rect">
            <a:avLst/>
          </a:prstGeom>
          <a:noFill/>
        </p:spPr>
        <p:txBody>
          <a:bodyPr wrap="none" rtlCol="0">
            <a:spAutoFit/>
          </a:bodyPr>
          <a:lstStyle/>
          <a:p>
            <a:r>
              <a:rPr lang="en-US" altLang="zh-CN" sz="6000" dirty="0">
                <a:solidFill>
                  <a:schemeClr val="tx1">
                    <a:lumMod val="75000"/>
                    <a:lumOff val="25000"/>
                  </a:schemeClr>
                </a:solidFill>
                <a:latin typeface="微软雅黑" panose="020B0503020204020204" pitchFamily="34" charset="-122"/>
                <a:ea typeface="微软雅黑" panose="020B0503020204020204" pitchFamily="34" charset="-122"/>
              </a:rPr>
              <a:t>2</a:t>
            </a:r>
            <a:endParaRPr lang="zh-CN" altLang="en-US" sz="6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033395" y="3505667"/>
            <a:ext cx="5669280" cy="829945"/>
          </a:xfrm>
          <a:prstGeom prst="rect">
            <a:avLst/>
          </a:prstGeom>
          <a:noFill/>
        </p:spPr>
        <p:txBody>
          <a:bodyPr wrap="none" rtlCol="0">
            <a:spAutoFit/>
          </a:bodyPr>
          <a:lstStyle/>
          <a:p>
            <a:pPr algn="ctr"/>
            <a:r>
              <a:rPr lang="zh-CN" altLang="en-US" sz="4800" b="1">
                <a:solidFill>
                  <a:srgbClr val="000000">
                    <a:lumMod val="75000"/>
                    <a:lumOff val="25000"/>
                  </a:srgbClr>
                </a:solidFill>
                <a:latin typeface="Arial" panose="020B0604020202020204"/>
                <a:ea typeface="微软雅黑" panose="020B0503020204020204" pitchFamily="34" charset="-122"/>
                <a:sym typeface="+mn-ea"/>
              </a:rPr>
              <a:t>功能模块的</a:t>
            </a:r>
            <a:r>
              <a:rPr lang="zh-CN" altLang="en-US" sz="4800" b="1">
                <a:solidFill>
                  <a:srgbClr val="000000">
                    <a:lumMod val="75000"/>
                    <a:lumOff val="25000"/>
                  </a:srgbClr>
                </a:solidFill>
                <a:latin typeface="Arial" panose="020B0604020202020204"/>
                <a:ea typeface="微软雅黑" panose="020B0503020204020204" pitchFamily="34" charset="-122"/>
                <a:sym typeface="+mn-ea"/>
              </a:rPr>
              <a:t>算法实现</a:t>
            </a:r>
            <a:endParaRPr lang="zh-CN" altLang="en-US" sz="4800" b="1">
              <a:solidFill>
                <a:srgbClr val="000000">
                  <a:lumMod val="75000"/>
                  <a:lumOff val="25000"/>
                </a:srgbClr>
              </a:solidFill>
              <a:latin typeface="Arial" panose="020B0604020202020204"/>
              <a:ea typeface="微软雅黑" panose="020B0503020204020204" pitchFamily="34" charset="-122"/>
              <a:sym typeface="+mn-ea"/>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024370" y="210185"/>
            <a:ext cx="4740275"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系统实现</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9675060" y="905509"/>
            <a:ext cx="1962150"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489585" y="4137660"/>
            <a:ext cx="10741025" cy="1938020"/>
          </a:xfrm>
          <a:prstGeom prst="rect">
            <a:avLst/>
          </a:prstGeom>
          <a:noFill/>
        </p:spPr>
        <p:txBody>
          <a:bodyPr wrap="square" rtlCol="0">
            <a:spAutoFit/>
          </a:bodyPr>
          <a:p>
            <a:pPr indent="0" fontAlgn="auto">
              <a:lnSpc>
                <a:spcPct val="150000"/>
              </a:lnSpc>
            </a:pPr>
            <a:r>
              <a:rPr lang="zh-CN" altLang="en-US" sz="2000"/>
              <a:t>系统对输入的音频信号进行下列处理</a:t>
            </a:r>
            <a:endParaRPr lang="zh-CN" altLang="en-US" sz="2000"/>
          </a:p>
          <a:p>
            <a:pPr indent="0" fontAlgn="auto">
              <a:lnSpc>
                <a:spcPct val="150000"/>
              </a:lnSpc>
            </a:pPr>
            <a:r>
              <a:rPr lang="en-US" altLang="zh-CN" sz="2000"/>
              <a:t>1. </a:t>
            </a:r>
            <a:r>
              <a:rPr lang="zh-CN" altLang="en-US" sz="2000"/>
              <a:t>使用</a:t>
            </a:r>
            <a:r>
              <a:rPr lang="en-US" altLang="zh-CN" sz="2000"/>
              <a:t> VAD </a:t>
            </a:r>
            <a:r>
              <a:rPr lang="zh-CN" altLang="en-US" sz="2000"/>
              <a:t>算法将输入音频分为多个语音段，每个段落对应一个数字语音</a:t>
            </a:r>
            <a:endParaRPr lang="zh-CN" altLang="en-US" sz="2000"/>
          </a:p>
          <a:p>
            <a:pPr indent="0" fontAlgn="auto">
              <a:lnSpc>
                <a:spcPct val="150000"/>
              </a:lnSpc>
            </a:pPr>
            <a:r>
              <a:rPr lang="en-US" altLang="zh-CN" sz="2000"/>
              <a:t>2. </a:t>
            </a:r>
            <a:r>
              <a:rPr lang="zh-CN" altLang="en-US" sz="2000"/>
              <a:t>对每段音频提取</a:t>
            </a:r>
            <a:r>
              <a:rPr lang="en-US" altLang="zh-CN" sz="2000"/>
              <a:t> mfcc </a:t>
            </a:r>
            <a:r>
              <a:rPr lang="zh-CN" altLang="en-US" sz="2000"/>
              <a:t>特征</a:t>
            </a:r>
            <a:endParaRPr lang="zh-CN" altLang="en-US" sz="2000"/>
          </a:p>
          <a:p>
            <a:pPr indent="0" fontAlgn="auto">
              <a:lnSpc>
                <a:spcPct val="150000"/>
              </a:lnSpc>
            </a:pPr>
            <a:r>
              <a:rPr lang="en-US" altLang="zh-CN" sz="2000"/>
              <a:t>3. </a:t>
            </a:r>
            <a:r>
              <a:rPr lang="zh-CN" altLang="en-US" sz="2000"/>
              <a:t>将每段音频的</a:t>
            </a:r>
            <a:r>
              <a:rPr lang="en-US" altLang="zh-CN" sz="2000"/>
              <a:t> mfcc </a:t>
            </a:r>
            <a:r>
              <a:rPr lang="zh-CN" altLang="en-US" sz="2000"/>
              <a:t>特征输入神经网络进行推理得到对应的结果</a:t>
            </a:r>
            <a:endParaRPr lang="zh-CN" altLang="en-US" sz="2000"/>
          </a:p>
        </p:txBody>
      </p:sp>
      <p:sp>
        <p:nvSpPr>
          <p:cNvPr id="17" name="Shape 497"/>
          <p:cNvSpPr/>
          <p:nvPr>
            <p:custDataLst>
              <p:tags r:id="rId1"/>
            </p:custDataLst>
          </p:nvPr>
        </p:nvSpPr>
        <p:spPr>
          <a:xfrm>
            <a:off x="489268" y="1380808"/>
            <a:ext cx="3643200" cy="2756535"/>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89" y="0"/>
                </a:moveTo>
                <a:lnTo>
                  <a:pt x="436" y="0"/>
                </a:lnTo>
                <a:lnTo>
                  <a:pt x="864" y="0"/>
                </a:lnTo>
                <a:lnTo>
                  <a:pt x="1572" y="0"/>
                </a:lnTo>
                <a:lnTo>
                  <a:pt x="1736" y="0"/>
                </a:lnTo>
                <a:lnTo>
                  <a:pt x="2135" y="0"/>
                </a:lnTo>
                <a:lnTo>
                  <a:pt x="2135" y="0"/>
                </a:lnTo>
                <a:cubicBezTo>
                  <a:pt x="2135" y="6"/>
                  <a:pt x="2135" y="13"/>
                  <a:pt x="2135" y="19"/>
                </a:cubicBezTo>
                <a:cubicBezTo>
                  <a:pt x="2135" y="425"/>
                  <a:pt x="2463" y="754"/>
                  <a:pt x="2869" y="754"/>
                </a:cubicBezTo>
                <a:cubicBezTo>
                  <a:pt x="3274" y="754"/>
                  <a:pt x="3602" y="425"/>
                  <a:pt x="3602" y="19"/>
                </a:cubicBezTo>
                <a:cubicBezTo>
                  <a:pt x="3602" y="13"/>
                  <a:pt x="3602" y="6"/>
                  <a:pt x="3602" y="0"/>
                </a:cubicBezTo>
                <a:lnTo>
                  <a:pt x="3602" y="0"/>
                </a:lnTo>
                <a:lnTo>
                  <a:pt x="3939" y="0"/>
                </a:lnTo>
                <a:lnTo>
                  <a:pt x="4165" y="0"/>
                </a:lnTo>
                <a:lnTo>
                  <a:pt x="4873" y="0"/>
                </a:lnTo>
                <a:lnTo>
                  <a:pt x="5239" y="0"/>
                </a:lnTo>
                <a:lnTo>
                  <a:pt x="5448" y="0"/>
                </a:lnTo>
                <a:cubicBezTo>
                  <a:pt x="5608" y="0"/>
                  <a:pt x="5737" y="131"/>
                  <a:pt x="5737" y="292"/>
                </a:cubicBezTo>
                <a:lnTo>
                  <a:pt x="5737" y="4049"/>
                </a:lnTo>
                <a:cubicBezTo>
                  <a:pt x="5737" y="4210"/>
                  <a:pt x="5608" y="4341"/>
                  <a:pt x="5448" y="4341"/>
                </a:cubicBezTo>
                <a:lnTo>
                  <a:pt x="4165" y="4341"/>
                </a:lnTo>
                <a:lnTo>
                  <a:pt x="2882" y="4341"/>
                </a:lnTo>
                <a:lnTo>
                  <a:pt x="2855" y="4341"/>
                </a:lnTo>
                <a:lnTo>
                  <a:pt x="1572" y="4341"/>
                </a:lnTo>
                <a:lnTo>
                  <a:pt x="289" y="4341"/>
                </a:lnTo>
                <a:cubicBezTo>
                  <a:pt x="129" y="4341"/>
                  <a:pt x="0" y="4210"/>
                  <a:pt x="0" y="4049"/>
                </a:cubicBezTo>
                <a:lnTo>
                  <a:pt x="0" y="292"/>
                </a:lnTo>
                <a:cubicBezTo>
                  <a:pt x="0" y="131"/>
                  <a:pt x="129" y="0"/>
                  <a:pt x="289" y="0"/>
                </a:cubicBezTo>
                <a:close/>
              </a:path>
            </a:pathLst>
          </a:custGeom>
          <a:gradFill>
            <a:gsLst>
              <a:gs pos="0">
                <a:schemeClr val="accent1">
                  <a:lumMod val="80000"/>
                  <a:lumOff val="20000"/>
                  <a:alpha val="100000"/>
                </a:schemeClr>
              </a:gs>
              <a:gs pos="100000">
                <a:schemeClr val="accent1">
                  <a:alpha val="100000"/>
                </a:schemeClr>
              </a:gs>
            </a:gsLst>
            <a:lin ang="2700000" scaled="0"/>
          </a:gradFill>
          <a:ln w="12700">
            <a:miter lim="400000"/>
          </a:ln>
          <a:effectLst>
            <a:innerShdw blurRad="317500" dist="50800" dir="16200000">
              <a:schemeClr val="accent1">
                <a:lumMod val="20000"/>
                <a:lumOff val="80000"/>
                <a:alpha val="30000"/>
              </a:schemeClr>
            </a:innerShdw>
          </a:effectLst>
        </p:spPr>
        <p:txBody>
          <a:bodyPr wrap="square" lIns="71437" tIns="71437" rIns="71437" bIns="71437" anchor="ctr">
            <a:noAutofit/>
          </a:bodyPr>
          <a:p>
            <a:pPr lvl="0" algn="l">
              <a:buClrTx/>
              <a:buSzTx/>
              <a:buFontTx/>
            </a:pPr>
            <a:endParaRPr sz="2800" dirty="0">
              <a:solidFill>
                <a:schemeClr val="tx1"/>
              </a:solidFill>
              <a:latin typeface="+mj-lt"/>
              <a:ea typeface="微软雅黑" panose="020B0503020204020204" pitchFamily="34" charset="-122"/>
              <a:cs typeface="微软雅黑" panose="020B0503020204020204" pitchFamily="34" charset="-122"/>
              <a:sym typeface="+mn-ea"/>
            </a:endParaRPr>
          </a:p>
        </p:txBody>
      </p:sp>
      <p:sp>
        <p:nvSpPr>
          <p:cNvPr id="45" name="Shape 501"/>
          <p:cNvSpPr/>
          <p:nvPr>
            <p:custDataLst>
              <p:tags r:id="rId2"/>
            </p:custDataLst>
          </p:nvPr>
        </p:nvSpPr>
        <p:spPr>
          <a:xfrm>
            <a:off x="1924368" y="1006158"/>
            <a:ext cx="772795" cy="773430"/>
          </a:xfrm>
          <a:prstGeom prst="ellipse">
            <a:avLst/>
          </a:prstGeom>
          <a:gradFill>
            <a:gsLst>
              <a:gs pos="0">
                <a:schemeClr val="accent1">
                  <a:lumMod val="80000"/>
                  <a:lumOff val="20000"/>
                  <a:alpha val="100000"/>
                </a:schemeClr>
              </a:gs>
              <a:gs pos="100000">
                <a:schemeClr val="accent1">
                  <a:alpha val="100000"/>
                </a:schemeClr>
              </a:gs>
            </a:gsLst>
            <a:lin ang="2700000" scaled="0"/>
          </a:gradFill>
          <a:ln w="12700">
            <a:miter lim="400000"/>
          </a:ln>
          <a:effectLst>
            <a:innerShdw blurRad="317500" dist="50800" dir="16200000">
              <a:schemeClr val="accent1">
                <a:lumMod val="20000"/>
                <a:lumOff val="80000"/>
                <a:alpha val="30000"/>
              </a:schemeClr>
            </a:innerShdw>
          </a:effectLst>
        </p:spPr>
        <p:txBody>
          <a:bodyPr lIns="71437" tIns="71437" rIns="71437" bIns="71437" anchor="ctr">
            <a:noAutofit/>
          </a:bodyPr>
          <a:p>
            <a:pPr lvl="0" algn="l">
              <a:buClrTx/>
              <a:buSzTx/>
              <a:buFontTx/>
            </a:pPr>
            <a:endParaRPr sz="2800" dirty="0">
              <a:solidFill>
                <a:schemeClr val="tx1"/>
              </a:solidFill>
              <a:latin typeface="+mj-lt"/>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47" name="直接连接符 46"/>
          <p:cNvCxnSpPr/>
          <p:nvPr>
            <p:custDataLst>
              <p:tags r:id="rId3"/>
            </p:custDataLst>
          </p:nvPr>
        </p:nvCxnSpPr>
        <p:spPr>
          <a:xfrm>
            <a:off x="2107883" y="2623503"/>
            <a:ext cx="4064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4"/>
            </p:custDataLst>
          </p:nvPr>
        </p:nvSpPr>
        <p:spPr>
          <a:xfrm>
            <a:off x="803593" y="2768918"/>
            <a:ext cx="3014980" cy="1000760"/>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600" kern="0" dirty="0">
                <a:ln>
                  <a:noFill/>
                  <a:prstDash val="sysDot"/>
                </a:ln>
                <a:solidFill>
                  <a:srgbClr val="FFFFFF"/>
                </a:solidFill>
                <a:latin typeface="+mn-ea"/>
                <a:cs typeface="+mn-ea"/>
                <a:sym typeface="+mn-ea"/>
              </a:rPr>
              <a:t>我们对音频信号提取 mfcc 特征，作为 VAD 和机器学习的输入</a:t>
            </a:r>
            <a:endParaRPr lang="zh-CN" altLang="en-US" sz="1600">
              <a:solidFill>
                <a:srgbClr val="FFFFFF"/>
              </a:solidFill>
              <a:latin typeface="+mn-ea"/>
              <a:cs typeface="+mn-ea"/>
              <a:sym typeface="+mn-ea"/>
            </a:endParaRPr>
          </a:p>
        </p:txBody>
      </p:sp>
      <p:sp>
        <p:nvSpPr>
          <p:cNvPr id="7" name="矩形 6"/>
          <p:cNvSpPr/>
          <p:nvPr>
            <p:custDataLst>
              <p:tags r:id="rId5"/>
            </p:custDataLst>
          </p:nvPr>
        </p:nvSpPr>
        <p:spPr>
          <a:xfrm>
            <a:off x="803593" y="1843723"/>
            <a:ext cx="3014980" cy="647700"/>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mn-ea"/>
                <a:cs typeface="+mn-ea"/>
                <a:sym typeface="+mn-ea"/>
              </a:rPr>
              <a:t>音频信号特征提取</a:t>
            </a:r>
            <a:endParaRPr lang="zh-CN" altLang="en-US" sz="2000" b="1">
              <a:solidFill>
                <a:srgbClr val="FFFFFF"/>
              </a:solidFill>
              <a:latin typeface="+mn-ea"/>
              <a:cs typeface="+mn-ea"/>
            </a:endParaRPr>
          </a:p>
        </p:txBody>
      </p:sp>
      <p:sp>
        <p:nvSpPr>
          <p:cNvPr id="29" name="Shape 497"/>
          <p:cNvSpPr/>
          <p:nvPr>
            <p:custDataLst>
              <p:tags r:id="rId6"/>
            </p:custDataLst>
          </p:nvPr>
        </p:nvSpPr>
        <p:spPr>
          <a:xfrm>
            <a:off x="8206423" y="1380808"/>
            <a:ext cx="3643200" cy="2756535"/>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89" y="0"/>
                </a:moveTo>
                <a:lnTo>
                  <a:pt x="529" y="0"/>
                </a:lnTo>
                <a:lnTo>
                  <a:pt x="863" y="0"/>
                </a:lnTo>
                <a:lnTo>
                  <a:pt x="1575" y="0"/>
                </a:lnTo>
                <a:lnTo>
                  <a:pt x="1835" y="0"/>
                </a:lnTo>
                <a:lnTo>
                  <a:pt x="2136" y="0"/>
                </a:lnTo>
                <a:lnTo>
                  <a:pt x="2136" y="0"/>
                </a:lnTo>
                <a:cubicBezTo>
                  <a:pt x="2136" y="6"/>
                  <a:pt x="2136" y="13"/>
                  <a:pt x="2136" y="19"/>
                </a:cubicBezTo>
                <a:cubicBezTo>
                  <a:pt x="2136" y="425"/>
                  <a:pt x="2464" y="754"/>
                  <a:pt x="2870" y="754"/>
                </a:cubicBezTo>
                <a:cubicBezTo>
                  <a:pt x="3275" y="754"/>
                  <a:pt x="3603" y="425"/>
                  <a:pt x="3603" y="19"/>
                </a:cubicBezTo>
                <a:cubicBezTo>
                  <a:pt x="3603" y="13"/>
                  <a:pt x="3603" y="6"/>
                  <a:pt x="3603" y="0"/>
                </a:cubicBezTo>
                <a:lnTo>
                  <a:pt x="3603" y="0"/>
                </a:lnTo>
                <a:lnTo>
                  <a:pt x="3850" y="0"/>
                </a:lnTo>
                <a:lnTo>
                  <a:pt x="4163" y="0"/>
                </a:lnTo>
                <a:lnTo>
                  <a:pt x="4875" y="0"/>
                </a:lnTo>
                <a:lnTo>
                  <a:pt x="5156" y="0"/>
                </a:lnTo>
                <a:lnTo>
                  <a:pt x="5449" y="0"/>
                </a:lnTo>
                <a:cubicBezTo>
                  <a:pt x="5608" y="0"/>
                  <a:pt x="5737" y="131"/>
                  <a:pt x="5737" y="292"/>
                </a:cubicBezTo>
                <a:lnTo>
                  <a:pt x="5737" y="4049"/>
                </a:lnTo>
                <a:cubicBezTo>
                  <a:pt x="5737" y="4210"/>
                  <a:pt x="5608" y="4341"/>
                  <a:pt x="5449" y="4341"/>
                </a:cubicBezTo>
                <a:lnTo>
                  <a:pt x="4163" y="4341"/>
                </a:lnTo>
                <a:lnTo>
                  <a:pt x="2877" y="4341"/>
                </a:lnTo>
                <a:lnTo>
                  <a:pt x="2860" y="4341"/>
                </a:lnTo>
                <a:lnTo>
                  <a:pt x="1575" y="4341"/>
                </a:lnTo>
                <a:lnTo>
                  <a:pt x="289" y="4341"/>
                </a:lnTo>
                <a:cubicBezTo>
                  <a:pt x="129" y="4341"/>
                  <a:pt x="0" y="4210"/>
                  <a:pt x="0" y="4049"/>
                </a:cubicBezTo>
                <a:lnTo>
                  <a:pt x="0" y="292"/>
                </a:lnTo>
                <a:cubicBezTo>
                  <a:pt x="0" y="131"/>
                  <a:pt x="129" y="0"/>
                  <a:pt x="289" y="0"/>
                </a:cubicBezTo>
                <a:close/>
              </a:path>
            </a:pathLst>
          </a:custGeom>
          <a:gradFill>
            <a:gsLst>
              <a:gs pos="0">
                <a:schemeClr val="accent1">
                  <a:lumMod val="80000"/>
                  <a:lumOff val="20000"/>
                  <a:alpha val="100000"/>
                </a:schemeClr>
              </a:gs>
              <a:gs pos="100000">
                <a:schemeClr val="accent1">
                  <a:alpha val="100000"/>
                </a:schemeClr>
              </a:gs>
            </a:gsLst>
            <a:lin ang="2700000" scaled="0"/>
          </a:gradFill>
          <a:ln w="12700">
            <a:miter lim="400000"/>
          </a:ln>
          <a:effectLst>
            <a:innerShdw blurRad="317500" dist="50800" dir="16200000">
              <a:schemeClr val="accent1">
                <a:lumMod val="20000"/>
                <a:lumOff val="80000"/>
                <a:alpha val="30000"/>
              </a:schemeClr>
            </a:innerShdw>
          </a:effectLst>
        </p:spPr>
        <p:txBody>
          <a:bodyPr wrap="square" lIns="71437" tIns="71437" rIns="71437" bIns="71437" anchor="ctr">
            <a:noAutofit/>
          </a:bodyPr>
          <a:p>
            <a:pPr lvl="0" algn="l">
              <a:buClrTx/>
              <a:buSzTx/>
              <a:buFontTx/>
            </a:pPr>
            <a:endParaRPr sz="2800" dirty="0">
              <a:solidFill>
                <a:schemeClr val="tx1"/>
              </a:solidFill>
              <a:latin typeface="+mj-lt"/>
              <a:ea typeface="微软雅黑" panose="020B0503020204020204" pitchFamily="34" charset="-122"/>
              <a:cs typeface="微软雅黑" panose="020B0503020204020204" pitchFamily="34" charset="-122"/>
              <a:sym typeface="+mn-ea"/>
            </a:endParaRPr>
          </a:p>
        </p:txBody>
      </p:sp>
      <p:sp>
        <p:nvSpPr>
          <p:cNvPr id="40" name="Shape 501"/>
          <p:cNvSpPr/>
          <p:nvPr>
            <p:custDataLst>
              <p:tags r:id="rId7"/>
            </p:custDataLst>
          </p:nvPr>
        </p:nvSpPr>
        <p:spPr>
          <a:xfrm>
            <a:off x="9641523" y="1006158"/>
            <a:ext cx="772795" cy="773430"/>
          </a:xfrm>
          <a:prstGeom prst="ellipse">
            <a:avLst/>
          </a:prstGeom>
          <a:gradFill>
            <a:gsLst>
              <a:gs pos="0">
                <a:schemeClr val="accent1">
                  <a:lumMod val="80000"/>
                  <a:lumOff val="20000"/>
                  <a:alpha val="100000"/>
                </a:schemeClr>
              </a:gs>
              <a:gs pos="100000">
                <a:schemeClr val="accent1">
                  <a:alpha val="100000"/>
                </a:schemeClr>
              </a:gs>
            </a:gsLst>
            <a:lin ang="2700000" scaled="0"/>
          </a:gradFill>
          <a:ln w="12700">
            <a:miter lim="400000"/>
          </a:ln>
          <a:effectLst>
            <a:innerShdw blurRad="317500" dist="50800" dir="16200000">
              <a:schemeClr val="accent1">
                <a:lumMod val="20000"/>
                <a:lumOff val="80000"/>
                <a:alpha val="30000"/>
              </a:schemeClr>
            </a:innerShdw>
          </a:effectLst>
        </p:spPr>
        <p:txBody>
          <a:bodyPr lIns="71437" tIns="71437" rIns="71437" bIns="71437" anchor="ctr">
            <a:noAutofit/>
          </a:bodyPr>
          <a:p>
            <a:pPr lvl="0" algn="l">
              <a:buClrTx/>
              <a:buSzTx/>
              <a:buFontTx/>
            </a:pPr>
            <a:endParaRPr sz="2800" dirty="0">
              <a:solidFill>
                <a:schemeClr val="tx1"/>
              </a:solidFill>
              <a:latin typeface="+mj-lt"/>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42" name="直接连接符 41"/>
          <p:cNvCxnSpPr/>
          <p:nvPr>
            <p:custDataLst>
              <p:tags r:id="rId8"/>
            </p:custDataLst>
          </p:nvPr>
        </p:nvCxnSpPr>
        <p:spPr>
          <a:xfrm>
            <a:off x="9825038" y="2623503"/>
            <a:ext cx="4064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9"/>
            </p:custDataLst>
          </p:nvPr>
        </p:nvSpPr>
        <p:spPr>
          <a:xfrm>
            <a:off x="8520748" y="2768918"/>
            <a:ext cx="3014980" cy="1000760"/>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600" kern="0" dirty="0">
                <a:ln>
                  <a:noFill/>
                  <a:prstDash val="sysDot"/>
                </a:ln>
                <a:solidFill>
                  <a:srgbClr val="FFFFFF"/>
                </a:solidFill>
                <a:latin typeface="+mn-ea"/>
                <a:cs typeface="+mn-ea"/>
                <a:sym typeface="+mn-ea"/>
              </a:rPr>
              <a:t>卷积神经网络用于对提取的 MFCC 特征进行分类，使用数据集进行训练</a:t>
            </a:r>
            <a:endParaRPr lang="zh-CN" altLang="en-US" sz="1600" kern="0" dirty="0">
              <a:ln>
                <a:noFill/>
                <a:prstDash val="sysDot"/>
              </a:ln>
              <a:solidFill>
                <a:srgbClr val="FFFFFF"/>
              </a:solidFill>
              <a:latin typeface="+mn-ea"/>
              <a:cs typeface="+mn-ea"/>
              <a:sym typeface="+mn-ea"/>
            </a:endParaRPr>
          </a:p>
        </p:txBody>
      </p:sp>
      <p:sp>
        <p:nvSpPr>
          <p:cNvPr id="9" name="矩形 8"/>
          <p:cNvSpPr/>
          <p:nvPr>
            <p:custDataLst>
              <p:tags r:id="rId10"/>
            </p:custDataLst>
          </p:nvPr>
        </p:nvSpPr>
        <p:spPr>
          <a:xfrm>
            <a:off x="8520748" y="1843723"/>
            <a:ext cx="3014980" cy="647700"/>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mn-ea"/>
                <a:cs typeface="+mn-ea"/>
                <a:sym typeface="+mn-ea"/>
              </a:rPr>
              <a:t>卷积神经网络建模与训练</a:t>
            </a:r>
            <a:endParaRPr lang="zh-CN" altLang="en-US" sz="2000" b="1">
              <a:solidFill>
                <a:srgbClr val="FFFFFF"/>
              </a:solidFill>
              <a:latin typeface="+mn-ea"/>
              <a:cs typeface="+mn-ea"/>
            </a:endParaRPr>
          </a:p>
        </p:txBody>
      </p:sp>
      <p:sp>
        <p:nvSpPr>
          <p:cNvPr id="46" name="Shape 497"/>
          <p:cNvSpPr/>
          <p:nvPr>
            <p:custDataLst>
              <p:tags r:id="rId11"/>
            </p:custDataLst>
          </p:nvPr>
        </p:nvSpPr>
        <p:spPr>
          <a:xfrm>
            <a:off x="4348162" y="1380808"/>
            <a:ext cx="3643200" cy="2756535"/>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90" y="0"/>
                </a:moveTo>
                <a:lnTo>
                  <a:pt x="480" y="0"/>
                </a:lnTo>
                <a:lnTo>
                  <a:pt x="865" y="0"/>
                </a:lnTo>
                <a:lnTo>
                  <a:pt x="1567" y="0"/>
                </a:lnTo>
                <a:lnTo>
                  <a:pt x="1788" y="0"/>
                </a:lnTo>
                <a:lnTo>
                  <a:pt x="2135" y="0"/>
                </a:lnTo>
                <a:lnTo>
                  <a:pt x="2135" y="0"/>
                </a:lnTo>
                <a:cubicBezTo>
                  <a:pt x="2135" y="6"/>
                  <a:pt x="2135" y="13"/>
                  <a:pt x="2135" y="19"/>
                </a:cubicBezTo>
                <a:cubicBezTo>
                  <a:pt x="2135" y="425"/>
                  <a:pt x="2463" y="754"/>
                  <a:pt x="2869" y="754"/>
                </a:cubicBezTo>
                <a:cubicBezTo>
                  <a:pt x="3274" y="754"/>
                  <a:pt x="3602" y="425"/>
                  <a:pt x="3602" y="19"/>
                </a:cubicBezTo>
                <a:cubicBezTo>
                  <a:pt x="3602" y="13"/>
                  <a:pt x="3602" y="6"/>
                  <a:pt x="3602" y="0"/>
                </a:cubicBezTo>
                <a:lnTo>
                  <a:pt x="3602" y="0"/>
                </a:lnTo>
                <a:lnTo>
                  <a:pt x="3870" y="0"/>
                </a:lnTo>
                <a:lnTo>
                  <a:pt x="4163" y="0"/>
                </a:lnTo>
                <a:lnTo>
                  <a:pt x="4872" y="0"/>
                </a:lnTo>
                <a:lnTo>
                  <a:pt x="5178" y="0"/>
                </a:lnTo>
                <a:lnTo>
                  <a:pt x="5448" y="0"/>
                </a:lnTo>
                <a:cubicBezTo>
                  <a:pt x="5608" y="0"/>
                  <a:pt x="5737" y="131"/>
                  <a:pt x="5737" y="292"/>
                </a:cubicBezTo>
                <a:lnTo>
                  <a:pt x="5737" y="4049"/>
                </a:lnTo>
                <a:cubicBezTo>
                  <a:pt x="5737" y="4210"/>
                  <a:pt x="5608" y="4341"/>
                  <a:pt x="5448" y="4341"/>
                </a:cubicBezTo>
                <a:lnTo>
                  <a:pt x="4163" y="4341"/>
                </a:lnTo>
                <a:lnTo>
                  <a:pt x="2886" y="4341"/>
                </a:lnTo>
                <a:lnTo>
                  <a:pt x="2851" y="4341"/>
                </a:lnTo>
                <a:lnTo>
                  <a:pt x="1567" y="4341"/>
                </a:lnTo>
                <a:lnTo>
                  <a:pt x="290" y="4341"/>
                </a:lnTo>
                <a:cubicBezTo>
                  <a:pt x="129" y="4341"/>
                  <a:pt x="0" y="4210"/>
                  <a:pt x="0" y="4049"/>
                </a:cubicBezTo>
                <a:lnTo>
                  <a:pt x="0" y="292"/>
                </a:lnTo>
                <a:cubicBezTo>
                  <a:pt x="0" y="131"/>
                  <a:pt x="129" y="0"/>
                  <a:pt x="290" y="0"/>
                </a:cubicBezTo>
                <a:close/>
              </a:path>
            </a:pathLst>
          </a:custGeom>
          <a:gradFill>
            <a:gsLst>
              <a:gs pos="0">
                <a:schemeClr val="accent2">
                  <a:lumMod val="90000"/>
                  <a:lumOff val="10000"/>
                  <a:alpha val="100000"/>
                </a:schemeClr>
              </a:gs>
              <a:gs pos="100000">
                <a:schemeClr val="accent2">
                  <a:alpha val="100000"/>
                </a:schemeClr>
              </a:gs>
            </a:gsLst>
            <a:lin ang="2700000" scaled="0"/>
          </a:gradFill>
          <a:ln w="12700">
            <a:miter lim="400000"/>
          </a:ln>
          <a:effectLst>
            <a:innerShdw blurRad="317500" dist="50800" dir="16200000">
              <a:schemeClr val="accent2">
                <a:lumMod val="20000"/>
                <a:lumOff val="80000"/>
                <a:alpha val="30000"/>
              </a:schemeClr>
            </a:innerShdw>
          </a:effectLst>
        </p:spPr>
        <p:txBody>
          <a:bodyPr wrap="square" lIns="71437" tIns="71437" rIns="71437" bIns="71437" anchor="ctr">
            <a:noAutofit/>
          </a:bodyPr>
          <a:p>
            <a:pPr lvl="0" algn="l">
              <a:buClrTx/>
              <a:buSzTx/>
              <a:buFontTx/>
            </a:pPr>
            <a:endParaRPr sz="2800" u="sng" dirty="0">
              <a:solidFill>
                <a:schemeClr val="tx1"/>
              </a:solidFill>
              <a:latin typeface="+mj-lt"/>
              <a:ea typeface="微软雅黑" panose="020B0503020204020204" pitchFamily="34" charset="-122"/>
              <a:cs typeface="微软雅黑" panose="020B0503020204020204" pitchFamily="34" charset="-122"/>
              <a:sym typeface="+mn-ea"/>
            </a:endParaRPr>
          </a:p>
        </p:txBody>
      </p:sp>
      <p:sp>
        <p:nvSpPr>
          <p:cNvPr id="33" name="Shape 501"/>
          <p:cNvSpPr/>
          <p:nvPr>
            <p:custDataLst>
              <p:tags r:id="rId12"/>
            </p:custDataLst>
          </p:nvPr>
        </p:nvSpPr>
        <p:spPr>
          <a:xfrm>
            <a:off x="5783263" y="1006158"/>
            <a:ext cx="772795" cy="773430"/>
          </a:xfrm>
          <a:prstGeom prst="ellipse">
            <a:avLst/>
          </a:prstGeom>
          <a:gradFill>
            <a:gsLst>
              <a:gs pos="0">
                <a:schemeClr val="accent2">
                  <a:lumMod val="90000"/>
                  <a:lumOff val="10000"/>
                  <a:alpha val="100000"/>
                </a:schemeClr>
              </a:gs>
              <a:gs pos="100000">
                <a:schemeClr val="accent2">
                  <a:alpha val="100000"/>
                </a:schemeClr>
              </a:gs>
            </a:gsLst>
            <a:lin ang="2700000" scaled="0"/>
          </a:gradFill>
          <a:ln w="12700">
            <a:miter lim="400000"/>
          </a:ln>
          <a:effectLst>
            <a:innerShdw blurRad="317500" dist="50800" dir="16200000">
              <a:schemeClr val="accent2">
                <a:lumMod val="20000"/>
                <a:lumOff val="80000"/>
                <a:alpha val="30000"/>
              </a:schemeClr>
            </a:innerShdw>
          </a:effectLst>
        </p:spPr>
        <p:txBody>
          <a:bodyPr lIns="71437" tIns="71437" rIns="71437" bIns="71437" anchor="ctr">
            <a:noAutofit/>
          </a:bodyPr>
          <a:p>
            <a:pPr lvl="0" algn="l">
              <a:buClrTx/>
              <a:buSzTx/>
              <a:buFontTx/>
            </a:pPr>
            <a:endParaRPr sz="2800" u="sng" dirty="0">
              <a:solidFill>
                <a:schemeClr val="tx1"/>
              </a:solidFill>
              <a:latin typeface="+mj-lt"/>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35" name="直接连接符 34"/>
          <p:cNvCxnSpPr/>
          <p:nvPr>
            <p:custDataLst>
              <p:tags r:id="rId13"/>
            </p:custDataLst>
          </p:nvPr>
        </p:nvCxnSpPr>
        <p:spPr>
          <a:xfrm>
            <a:off x="5966778" y="2623503"/>
            <a:ext cx="406400"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14"/>
            </p:custDataLst>
          </p:nvPr>
        </p:nvSpPr>
        <p:spPr>
          <a:xfrm>
            <a:off x="4662488" y="2768918"/>
            <a:ext cx="3014980" cy="1000760"/>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600" kern="0" dirty="0">
                <a:ln>
                  <a:noFill/>
                  <a:prstDash val="sysDot"/>
                </a:ln>
                <a:solidFill>
                  <a:srgbClr val="FFFFFF"/>
                </a:solidFill>
                <a:latin typeface="+mn-ea"/>
                <a:cs typeface="+mn-ea"/>
                <a:sym typeface="+mn-ea"/>
              </a:rPr>
              <a:t>用于从音频信号中区分语音和非语音段，以得到数字语音段</a:t>
            </a:r>
            <a:endParaRPr lang="zh-CN" altLang="en-US" sz="1600" kern="0" dirty="0">
              <a:ln>
                <a:noFill/>
                <a:prstDash val="sysDot"/>
              </a:ln>
              <a:solidFill>
                <a:srgbClr val="FFFFFF"/>
              </a:solidFill>
              <a:latin typeface="+mn-ea"/>
              <a:cs typeface="+mn-ea"/>
              <a:sym typeface="+mn-ea"/>
            </a:endParaRPr>
          </a:p>
        </p:txBody>
      </p:sp>
      <p:sp>
        <p:nvSpPr>
          <p:cNvPr id="11" name="矩形 10"/>
          <p:cNvSpPr/>
          <p:nvPr>
            <p:custDataLst>
              <p:tags r:id="rId15"/>
            </p:custDataLst>
          </p:nvPr>
        </p:nvSpPr>
        <p:spPr>
          <a:xfrm>
            <a:off x="4662488" y="1843723"/>
            <a:ext cx="3014980" cy="647700"/>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mn-ea"/>
                <a:cs typeface="+mn-ea"/>
                <a:sym typeface="+mn-ea"/>
              </a:rPr>
              <a:t>语音活动检测（VAD）</a:t>
            </a:r>
            <a:endParaRPr lang="zh-CN" altLang="en-US" sz="2000" b="1">
              <a:solidFill>
                <a:srgbClr val="FFFFFF"/>
              </a:solidFill>
              <a:latin typeface="+mn-ea"/>
              <a:cs typeface="+mn-ea"/>
            </a:endParaRPr>
          </a:p>
        </p:txBody>
      </p:sp>
      <p:pic>
        <p:nvPicPr>
          <p:cNvPr id="12" name="图片 11" descr="声音"/>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10410" y="1094105"/>
            <a:ext cx="586740" cy="586740"/>
          </a:xfrm>
          <a:prstGeom prst="rect">
            <a:avLst/>
          </a:prstGeom>
        </p:spPr>
      </p:pic>
      <p:pic>
        <p:nvPicPr>
          <p:cNvPr id="4" name="图片 3" descr="显示屏"/>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897880" y="1145540"/>
            <a:ext cx="543560" cy="543560"/>
          </a:xfrm>
          <a:prstGeom prst="rect">
            <a:avLst/>
          </a:prstGeom>
        </p:spPr>
      </p:pic>
      <p:pic>
        <p:nvPicPr>
          <p:cNvPr id="14" name="图片 13" descr="灯泡"/>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695180" y="1045210"/>
            <a:ext cx="667385" cy="6673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92695" y="210185"/>
            <a:ext cx="4184650" cy="645160"/>
          </a:xfrm>
          <a:prstGeom prst="rect">
            <a:avLst/>
          </a:prstGeom>
          <a:noFill/>
        </p:spPr>
        <p:txBody>
          <a:bodyPr wrap="square" rtlCol="0">
            <a:spAutoFit/>
          </a:bodyPr>
          <a:lstStyle/>
          <a:p>
            <a:pPr algn="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MFCC </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特征提取</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8123755" y="911859"/>
            <a:ext cx="3513455" cy="254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文本框 5"/>
              <p:cNvSpPr txBox="1"/>
              <p:nvPr/>
            </p:nvSpPr>
            <p:spPr>
              <a:xfrm>
                <a:off x="815340" y="970915"/>
                <a:ext cx="10741025" cy="3717925"/>
              </a:xfrm>
              <a:prstGeom prst="rect">
                <a:avLst/>
              </a:prstGeom>
              <a:noFill/>
            </p:spPr>
            <p:txBody>
              <a:bodyPr wrap="square" rtlCol="0">
                <a:spAutoFit/>
              </a:bodyPr>
              <a:p>
                <a:pPr indent="0" fontAlgn="auto">
                  <a:lnSpc>
                    <a:spcPct val="150000"/>
                  </a:lnSpc>
                </a:pPr>
                <a:r>
                  <a:rPr lang="zh-CN" altLang="en-US" sz="2000"/>
                  <a:t>梅尔频率倒谱系数（</a:t>
                </a:r>
                <a:r>
                  <a:rPr lang="en-US" altLang="zh-CN" sz="2000"/>
                  <a:t>Mel Frequency Cepstral Coefficients</a:t>
                </a:r>
                <a:r>
                  <a:rPr lang="zh-CN" altLang="en-US" sz="2000"/>
                  <a:t>，简称</a:t>
                </a:r>
                <a:r>
                  <a:rPr lang="en-US" altLang="zh-CN" sz="2000"/>
                  <a:t> MFCC</a:t>
                </a:r>
                <a:r>
                  <a:rPr lang="zh-CN" altLang="en-US" sz="2000"/>
                  <a:t>）是语音信号处理中广泛应用的一种特征提取方法。它通过模拟人类听觉系统的感知方式，对语音信号进行分析和处理，从而获取更能反映语音本质特征的参数。</a:t>
                </a:r>
                <a:endParaRPr lang="zh-CN" altLang="en-US" sz="2000"/>
              </a:p>
              <a:p>
                <a:pPr indent="0" fontAlgn="auto">
                  <a:lnSpc>
                    <a:spcPct val="150000"/>
                  </a:lnSpc>
                </a:pPr>
                <a:r>
                  <a:rPr lang="zh-CN" altLang="en-US" sz="2000"/>
                  <a:t>由于人耳对频率的感知是非线性的，低频部分的分辨率较高，而高频部分的分辨率较低，我们引入</a:t>
                </a:r>
                <a:r>
                  <a:rPr lang="zh-CN" altLang="en-US" sz="2000"/>
                  <a:t>了梅尔刻度（</a:t>
                </a:r>
                <a:r>
                  <a:rPr lang="en-US" altLang="zh-CN" sz="2000"/>
                  <a:t>Mel Scale</a:t>
                </a:r>
                <a:r>
                  <a:rPr lang="zh-CN" altLang="en-US" sz="2000"/>
                  <a:t>）使得频率的变化更符合人耳的听觉特性：</a:t>
                </a:r>
                <a:endParaRPr lang="zh-CN" altLang="en-US" sz="2000"/>
              </a:p>
              <a:p>
                <a:pPr indent="0"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charset="0"/>
                          <a:cs typeface="Cambria Math" panose="02040503050406030204" charset="0"/>
                        </a:rPr>
                        <m:t>𝑀𝑒𝑙</m:t>
                      </m:r>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2595</m:t>
                      </m:r>
                      <m:r>
                        <a:rPr lang="en-US" altLang="zh-CN" sz="2000" i="1">
                          <a:latin typeface="Cambria Math" panose="02040503050406030204" charset="0"/>
                          <a:cs typeface="Cambria Math" panose="02040503050406030204" charset="0"/>
                        </a:rPr>
                        <m:t>×</m:t>
                      </m:r>
                      <m:func>
                        <m:funcPr>
                          <m:ctrlPr>
                            <a:rPr lang="en-US" altLang="zh-CN" sz="2000" i="1">
                              <a:latin typeface="Cambria Math" panose="02040503050406030204" charset="0"/>
                              <a:cs typeface="Cambria Math" panose="02040503050406030204" charset="0"/>
                            </a:rPr>
                          </m:ctrlPr>
                        </m:funcPr>
                        <m:fName>
                          <m:sSub>
                            <m:sSubPr>
                              <m:ctrlPr>
                                <a:rPr lang="en-US" altLang="zh-CN" sz="2000">
                                  <a:latin typeface="Cambria Math" panose="02040503050406030204" charset="0"/>
                                  <a:cs typeface="Cambria Math" panose="02040503050406030204" charset="0"/>
                                </a:rPr>
                              </m:ctrlPr>
                            </m:sSubPr>
                            <m:e>
                              <m:r>
                                <m:rPr>
                                  <m:sty m:val="p"/>
                                </m:rPr>
                                <a:rPr lang="en-US" altLang="zh-CN" sz="2000">
                                  <a:latin typeface="Cambria Math" panose="02040503050406030204" charset="0"/>
                                  <a:cs typeface="Cambria Math" panose="02040503050406030204" charset="0"/>
                                </a:rPr>
                                <m:t>log</m:t>
                              </m:r>
                            </m:e>
                            <m:sub>
                              <m:r>
                                <a:rPr lang="en-US" altLang="zh-CN" sz="2000" i="1">
                                  <a:latin typeface="Cambria Math" panose="02040503050406030204" charset="0"/>
                                  <a:cs typeface="Cambria Math" panose="02040503050406030204" charset="0"/>
                                </a:rPr>
                                <m:t>10</m:t>
                              </m:r>
                            </m:sub>
                          </m:sSub>
                        </m:fName>
                        <m:e>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1</m:t>
                          </m:r>
                          <m:r>
                            <a:rPr lang="en-US" altLang="zh-CN" sz="2000" i="1">
                              <a:latin typeface="Cambria Math" panose="02040503050406030204" charset="0"/>
                              <a:cs typeface="Cambria Math" panose="02040503050406030204" charset="0"/>
                            </a:rPr>
                            <m:t>+</m:t>
                          </m:r>
                          <m:f>
                            <m:fPr>
                              <m:ctrlPr>
                                <a:rPr lang="en-US" altLang="zh-CN" sz="2000" i="1">
                                  <a:latin typeface="Cambria Math" panose="02040503050406030204" charset="0"/>
                                  <a:cs typeface="Cambria Math" panose="02040503050406030204" charset="0"/>
                                </a:rPr>
                              </m:ctrlPr>
                            </m:fPr>
                            <m:num>
                              <m:r>
                                <a:rPr lang="en-US" altLang="zh-CN" sz="2000" i="1">
                                  <a:latin typeface="Cambria Math" panose="02040503050406030204" charset="0"/>
                                  <a:cs typeface="Cambria Math" panose="02040503050406030204" charset="0"/>
                                </a:rPr>
                                <m:t>𝐹𝑟𝑒𝑞𝑢𝑒𝑛𝑐𝑦</m:t>
                              </m:r>
                            </m:num>
                            <m:den>
                              <m:r>
                                <a:rPr lang="en-US" altLang="zh-CN" sz="2000" i="1">
                                  <a:latin typeface="Cambria Math" panose="02040503050406030204" charset="0"/>
                                  <a:cs typeface="Cambria Math" panose="02040503050406030204" charset="0"/>
                                </a:rPr>
                                <m:t>700</m:t>
                              </m:r>
                            </m:den>
                          </m:f>
                        </m:e>
                      </m:func>
                      <m:r>
                        <a:rPr lang="en-US" altLang="zh-CN" sz="2000" i="1">
                          <a:latin typeface="Cambria Math" panose="02040503050406030204" charset="0"/>
                          <a:cs typeface="Cambria Math" panose="02040503050406030204" charset="0"/>
                        </a:rPr>
                        <m:t>)</m:t>
                      </m:r>
                    </m:oMath>
                  </m:oMathPara>
                </a14:m>
                <a:endParaRPr lang="zh-CN" altLang="en-US" sz="2000"/>
              </a:p>
              <a:p>
                <a:pPr indent="0" fontAlgn="auto">
                  <a:lnSpc>
                    <a:spcPct val="150000"/>
                  </a:lnSpc>
                </a:pPr>
                <a:endParaRPr lang="zh-CN" altLang="en-US" sz="2000"/>
              </a:p>
            </p:txBody>
          </p:sp>
        </mc:Choice>
        <mc:Fallback>
          <p:sp>
            <p:nvSpPr>
              <p:cNvPr id="6" name="文本框 5"/>
              <p:cNvSpPr txBox="1">
                <a:spLocks noRot="1" noChangeAspect="1" noMove="1" noResize="1" noEditPoints="1" noAdjustHandles="1" noChangeArrowheads="1" noChangeShapeType="1" noTextEdit="1"/>
              </p:cNvSpPr>
              <p:nvPr/>
            </p:nvSpPr>
            <p:spPr>
              <a:xfrm>
                <a:off x="815340" y="970915"/>
                <a:ext cx="10741025" cy="3717925"/>
              </a:xfrm>
              <a:prstGeom prst="rect">
                <a:avLst/>
              </a:prstGeom>
              <a:blipFill rotWithShape="1">
                <a:blip r:embed="rId1"/>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2"/>
          <a:srcRect l="9821" t="14723" r="9180" b="56561"/>
          <a:stretch>
            <a:fillRect/>
          </a:stretch>
        </p:blipFill>
        <p:spPr>
          <a:xfrm>
            <a:off x="1809750" y="4339590"/>
            <a:ext cx="8218805" cy="1854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92695" y="210185"/>
            <a:ext cx="4184650" cy="645160"/>
          </a:xfrm>
          <a:prstGeom prst="rect">
            <a:avLst/>
          </a:prstGeom>
          <a:noFill/>
        </p:spPr>
        <p:txBody>
          <a:bodyPr wrap="square" rtlCol="0">
            <a:spAutoFit/>
          </a:bodyPr>
          <a:lstStyle/>
          <a:p>
            <a:pPr algn="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MFCC </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特征提取</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8123755" y="911859"/>
            <a:ext cx="3513455" cy="254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49935" y="1392555"/>
            <a:ext cx="6517640" cy="3322955"/>
          </a:xfrm>
          <a:prstGeom prst="rect">
            <a:avLst/>
          </a:prstGeom>
          <a:noFill/>
        </p:spPr>
        <p:txBody>
          <a:bodyPr wrap="square" rtlCol="0">
            <a:spAutoFit/>
          </a:bodyPr>
          <a:p>
            <a:pPr indent="0" fontAlgn="auto">
              <a:lnSpc>
                <a:spcPct val="150000"/>
              </a:lnSpc>
            </a:pPr>
            <a:r>
              <a:rPr lang="zh-CN" altLang="en-US" sz="2000">
                <a:sym typeface="+mn-ea"/>
              </a:rPr>
              <a:t>另外基于低频声音容易掩盖高频声音的特性，我们将</a:t>
            </a:r>
            <a:r>
              <a:rPr lang="en-US" altLang="zh-CN" sz="2000">
                <a:sym typeface="+mn-ea"/>
              </a:rPr>
              <a:t>Mel</a:t>
            </a:r>
            <a:r>
              <a:rPr lang="zh-CN" altLang="en-US" sz="2000">
                <a:sym typeface="+mn-ea"/>
              </a:rPr>
              <a:t>滤波器组</a:t>
            </a:r>
            <a:r>
              <a:rPr lang="zh-CN" altLang="en-US" sz="2000">
                <a:sym typeface="+mn-ea"/>
              </a:rPr>
              <a:t>设计为从低频到高频按临界带宽的大小由密到疏排列，对输入信号进行带通滤波。每个滤波器输出的信号能量作为基本特征，进一步处理后可作为语音识别的输入特征。</a:t>
            </a:r>
            <a:endParaRPr lang="en-US" sz="2000"/>
          </a:p>
          <a:p>
            <a:pPr indent="0" fontAlgn="auto">
              <a:lnSpc>
                <a:spcPct val="150000"/>
              </a:lnSpc>
            </a:pPr>
            <a:r>
              <a:rPr lang="en-US" sz="2000"/>
              <a:t>MFCC</a:t>
            </a:r>
            <a:r>
              <a:rPr lang="zh-CN" altLang="en-US" sz="2000"/>
              <a:t>计算过程：</a:t>
            </a:r>
            <a:endParaRPr lang="zh-CN" altLang="en-US" sz="2000"/>
          </a:p>
          <a:p>
            <a:pPr indent="0" fontAlgn="auto">
              <a:lnSpc>
                <a:spcPct val="150000"/>
              </a:lnSpc>
            </a:pPr>
            <a:endParaRPr lang="zh-CN" altLang="en-US" sz="2000"/>
          </a:p>
        </p:txBody>
      </p:sp>
      <p:graphicFrame>
        <p:nvGraphicFramePr>
          <p:cNvPr id="10" name="图示 9"/>
          <p:cNvGraphicFramePr/>
          <p:nvPr/>
        </p:nvGraphicFramePr>
        <p:xfrm>
          <a:off x="805815" y="4069715"/>
          <a:ext cx="6186805" cy="167195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1" name="图片 10"/>
          <p:cNvPicPr/>
          <p:nvPr/>
        </p:nvPicPr>
        <p:blipFill>
          <a:blip r:embed="rId6"/>
          <a:stretch>
            <a:fillRect/>
          </a:stretch>
        </p:blipFill>
        <p:spPr>
          <a:xfrm>
            <a:off x="7180580" y="1392555"/>
            <a:ext cx="4782820" cy="41700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语音活动检测</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 (VAD)</a:t>
            </a:r>
            <a:endPar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128075" y="905509"/>
            <a:ext cx="4509135"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73405" y="1219835"/>
            <a:ext cx="11181080" cy="2584450"/>
          </a:xfrm>
          <a:prstGeom prst="rect">
            <a:avLst/>
          </a:prstGeom>
          <a:noFill/>
        </p:spPr>
        <p:txBody>
          <a:bodyPr wrap="square" rtlCol="0">
            <a:spAutoFit/>
          </a:bodyPr>
          <a:p>
            <a:pPr indent="0" fontAlgn="auto">
              <a:lnSpc>
                <a:spcPct val="150000"/>
              </a:lnSpc>
            </a:pPr>
            <a:r>
              <a:rPr lang="zh-CN" altLang="en-US"/>
              <a:t>语音活动检测（</a:t>
            </a:r>
            <a:r>
              <a:rPr lang="en-US" altLang="zh-CN"/>
              <a:t>Voice Activity Detection</a:t>
            </a:r>
            <a:r>
              <a:rPr lang="zh-CN" altLang="en-US"/>
              <a:t>，简称</a:t>
            </a:r>
            <a:r>
              <a:rPr lang="en-US" altLang="zh-CN"/>
              <a:t> VAD</a:t>
            </a:r>
            <a:r>
              <a:rPr lang="zh-CN" altLang="en-US"/>
              <a:t>）是一种用于识别语音信号中的语音片段和非语音片段的技术。其主要目的是在连续的音频信号中区分出哪些部分是包含语音活动的，从而过滤掉背景噪声和静音部分，提高后续处理的效率和准确性。</a:t>
            </a:r>
            <a:endParaRPr lang="zh-CN" altLang="en-US"/>
          </a:p>
          <a:p>
            <a:pPr indent="0" fontAlgn="auto">
              <a:lnSpc>
                <a:spcPct val="150000"/>
              </a:lnSpc>
            </a:pPr>
            <a:r>
              <a:rPr lang="zh-CN" altLang="en-US">
                <a:sym typeface="+mn-ea"/>
              </a:rPr>
              <a:t>本设计使用基于</a:t>
            </a:r>
            <a:r>
              <a:rPr lang="en-US" altLang="zh-CN">
                <a:sym typeface="+mn-ea"/>
              </a:rPr>
              <a:t> mfcc </a:t>
            </a:r>
            <a:r>
              <a:rPr lang="zh-CN" altLang="en-US">
                <a:sym typeface="+mn-ea"/>
              </a:rPr>
              <a:t>特征提取和无监督机器学习（如</a:t>
            </a:r>
            <a:r>
              <a:rPr lang="en-US" altLang="zh-CN">
                <a:sym typeface="+mn-ea"/>
              </a:rPr>
              <a:t> K-means </a:t>
            </a:r>
            <a:r>
              <a:rPr lang="zh-CN" altLang="en-US">
                <a:sym typeface="+mn-ea"/>
              </a:rPr>
              <a:t>聚类）的</a:t>
            </a:r>
            <a:r>
              <a:rPr lang="en-US" altLang="zh-CN">
                <a:sym typeface="+mn-ea"/>
              </a:rPr>
              <a:t> VAD </a:t>
            </a:r>
            <a:r>
              <a:rPr lang="zh-CN" altLang="en-US">
                <a:sym typeface="+mn-ea"/>
              </a:rPr>
              <a:t>算法。其是一种结合了语音信号分析和机器学习技术的方法。该算法首先</a:t>
            </a:r>
            <a:endParaRPr lang="zh-CN" altLang="en-US"/>
          </a:p>
          <a:p>
            <a:pPr indent="0" fontAlgn="auto">
              <a:lnSpc>
                <a:spcPct val="150000"/>
              </a:lnSpc>
            </a:pPr>
            <a:endParaRPr lang="zh-CN" altLang="en-US"/>
          </a:p>
        </p:txBody>
      </p:sp>
      <p:pic>
        <p:nvPicPr>
          <p:cNvPr id="7" name="图片 6"/>
          <p:cNvPicPr>
            <a:picLocks noChangeAspect="1"/>
          </p:cNvPicPr>
          <p:nvPr/>
        </p:nvPicPr>
        <p:blipFill>
          <a:blip r:embed="rId1"/>
          <a:stretch>
            <a:fillRect/>
          </a:stretch>
        </p:blipFill>
        <p:spPr>
          <a:xfrm>
            <a:off x="5366385" y="3101975"/>
            <a:ext cx="6625590" cy="2482850"/>
          </a:xfrm>
          <a:prstGeom prst="rect">
            <a:avLst/>
          </a:prstGeom>
        </p:spPr>
      </p:pic>
      <p:sp>
        <p:nvSpPr>
          <p:cNvPr id="8" name="文本框 7"/>
          <p:cNvSpPr txBox="1"/>
          <p:nvPr/>
        </p:nvSpPr>
        <p:spPr>
          <a:xfrm>
            <a:off x="573405" y="3249295"/>
            <a:ext cx="4681220" cy="2584450"/>
          </a:xfrm>
          <a:prstGeom prst="rect">
            <a:avLst/>
          </a:prstGeom>
          <a:noFill/>
        </p:spPr>
        <p:txBody>
          <a:bodyPr wrap="square" rtlCol="0" anchor="t">
            <a:spAutoFit/>
          </a:bodyPr>
          <a:p>
            <a:pPr indent="0" fontAlgn="auto">
              <a:lnSpc>
                <a:spcPct val="150000"/>
              </a:lnSpc>
            </a:pPr>
            <a:r>
              <a:rPr lang="zh-CN" altLang="en-US">
                <a:sym typeface="+mn-ea"/>
              </a:rPr>
              <a:t>使用</a:t>
            </a:r>
            <a:r>
              <a:rPr lang="en-US" altLang="zh-CN">
                <a:sym typeface="+mn-ea"/>
              </a:rPr>
              <a:t> MFCC </a:t>
            </a:r>
            <a:r>
              <a:rPr lang="zh-CN" altLang="en-US">
                <a:sym typeface="+mn-ea"/>
              </a:rPr>
              <a:t>特征提取算法提取出语音信号的特征向量，</a:t>
            </a:r>
            <a:r>
              <a:rPr lang="zh-CN" altLang="en-US">
                <a:sym typeface="+mn-ea"/>
              </a:rPr>
              <a:t>然后使用无监督机器学习算法（如</a:t>
            </a:r>
            <a:r>
              <a:rPr lang="en-US" altLang="zh-CN">
                <a:sym typeface="+mn-ea"/>
              </a:rPr>
              <a:t> K-means </a:t>
            </a:r>
            <a:r>
              <a:rPr lang="zh-CN" altLang="en-US">
                <a:sym typeface="+mn-ea"/>
              </a:rPr>
              <a:t>聚类）对特征向量进行聚类分析，最后根据聚类结果判断当前帧是否包含语音活动。</a:t>
            </a:r>
            <a:endParaRPr lang="zh-CN" altLang="en-US"/>
          </a:p>
          <a:p>
            <a:pPr indent="0" fontAlgn="auto">
              <a:lnSpc>
                <a:spcPct val="150000"/>
              </a:lnSpc>
            </a:pPr>
            <a:endParaRPr lang="zh-CN" altLang="en-U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语音活动检测</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 (VAD)</a:t>
            </a:r>
            <a:endPar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128075" y="905509"/>
            <a:ext cx="4509135"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868680" y="964565"/>
            <a:ext cx="11181080" cy="871855"/>
          </a:xfrm>
          <a:prstGeom prst="rect">
            <a:avLst/>
          </a:prstGeom>
          <a:noFill/>
        </p:spPr>
        <p:txBody>
          <a:bodyPr wrap="square" rtlCol="0">
            <a:noAutofit/>
          </a:bodyPr>
          <a:p>
            <a:pPr indent="0" fontAlgn="auto">
              <a:lnSpc>
                <a:spcPct val="150000"/>
              </a:lnSpc>
            </a:pPr>
            <a:r>
              <a:rPr lang="zh-CN" altLang="en-US" sz="2000">
                <a:sym typeface="+mn-ea"/>
              </a:rPr>
              <a:t>该算法大致包括六个步骤：</a:t>
            </a:r>
            <a:endParaRPr lang="en-US" altLang="zh-CN" sz="2000"/>
          </a:p>
          <a:p>
            <a:pPr indent="0" fontAlgn="auto">
              <a:lnSpc>
                <a:spcPct val="150000"/>
              </a:lnSpc>
            </a:pPr>
            <a:endParaRPr lang="zh-CN" altLang="en-US" sz="2000"/>
          </a:p>
        </p:txBody>
      </p:sp>
      <p:graphicFrame>
        <p:nvGraphicFramePr>
          <p:cNvPr id="4" name="图示 3"/>
          <p:cNvGraphicFramePr/>
          <p:nvPr/>
        </p:nvGraphicFramePr>
        <p:xfrm>
          <a:off x="1461770" y="1628775"/>
          <a:ext cx="9123045" cy="43357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语音活动检测</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 (VAD)</a:t>
            </a:r>
            <a:endPar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128075" y="905509"/>
            <a:ext cx="4509135"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4" name="图示 3"/>
          <p:cNvGraphicFramePr/>
          <p:nvPr/>
        </p:nvGraphicFramePr>
        <p:xfrm>
          <a:off x="1746885" y="1384300"/>
          <a:ext cx="8577580" cy="453263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语音活动检测</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 (VAD)</a:t>
            </a:r>
            <a:endPar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67740" y="448310"/>
            <a:ext cx="6096000" cy="553085"/>
          </a:xfrm>
          <a:prstGeom prst="rect">
            <a:avLst/>
          </a:prstGeom>
          <a:noFill/>
        </p:spPr>
        <p:txBody>
          <a:bodyPr wrap="square" rtlCol="0" anchor="t">
            <a:spAutoFit/>
          </a:bodyPr>
          <a:p>
            <a:pPr indent="0" fontAlgn="auto">
              <a:lnSpc>
                <a:spcPct val="150000"/>
              </a:lnSpc>
            </a:pPr>
            <a:r>
              <a:rPr lang="en-US" altLang="zh-CN" sz="2000" b="1">
                <a:sym typeface="+mn-ea"/>
              </a:rPr>
              <a:t>VAD</a:t>
            </a:r>
            <a:r>
              <a:rPr lang="zh-CN" altLang="en-US" sz="2000" b="1">
                <a:sym typeface="+mn-ea"/>
              </a:rPr>
              <a:t>识别</a:t>
            </a:r>
            <a:r>
              <a:rPr lang="zh-CN" altLang="en-US" sz="2000" b="1">
                <a:sym typeface="+mn-ea"/>
              </a:rPr>
              <a:t>效果</a:t>
            </a:r>
            <a:endParaRPr lang="zh-CN" altLang="en-US" sz="2000" b="1">
              <a:sym typeface="+mn-ea"/>
            </a:endParaRPr>
          </a:p>
        </p:txBody>
      </p:sp>
      <p:pic>
        <p:nvPicPr>
          <p:cNvPr id="8" name="图片 7"/>
          <p:cNvPicPr>
            <a:picLocks noChangeAspect="1"/>
          </p:cNvPicPr>
          <p:nvPr/>
        </p:nvPicPr>
        <p:blipFill>
          <a:blip r:embed="rId1"/>
          <a:stretch>
            <a:fillRect/>
          </a:stretch>
        </p:blipFill>
        <p:spPr>
          <a:xfrm>
            <a:off x="1673860" y="1102995"/>
            <a:ext cx="8843645" cy="55492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语音识别（</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ASR</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15450" y="911859"/>
            <a:ext cx="3921760" cy="1143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416560" y="1122045"/>
            <a:ext cx="11655425" cy="4707890"/>
          </a:xfrm>
          <a:prstGeom prst="rect">
            <a:avLst/>
          </a:prstGeom>
          <a:noFill/>
        </p:spPr>
        <p:txBody>
          <a:bodyPr wrap="square" rtlCol="0">
            <a:spAutoFit/>
          </a:bodyPr>
          <a:p>
            <a:pPr indent="0" fontAlgn="auto">
              <a:lnSpc>
                <a:spcPct val="150000"/>
              </a:lnSpc>
            </a:pPr>
            <a:r>
              <a:rPr lang="zh-CN" altLang="en-US" sz="2000"/>
              <a:t>语音识别（</a:t>
            </a:r>
            <a:r>
              <a:rPr lang="en-US" altLang="zh-CN" sz="2000"/>
              <a:t>Automatic Speech Recognition</a:t>
            </a:r>
            <a:r>
              <a:rPr lang="zh-CN" altLang="en-US" sz="2000"/>
              <a:t>，简称</a:t>
            </a:r>
            <a:r>
              <a:rPr lang="en-US" altLang="zh-CN" sz="2000"/>
              <a:t> ASR</a:t>
            </a:r>
            <a:r>
              <a:rPr lang="zh-CN" altLang="en-US" sz="2000"/>
              <a:t>）是指将人类的语音信号转换为相应的文本或指令的技术。</a:t>
            </a:r>
            <a:r>
              <a:rPr lang="zh-CN" altLang="en-US" sz="2000"/>
              <a:t>其工作流程一般包括以下几个步骤：</a:t>
            </a:r>
            <a:endParaRPr lang="zh-CN" altLang="en-US" sz="2000"/>
          </a:p>
          <a:p>
            <a:pPr indent="0" fontAlgn="auto">
              <a:lnSpc>
                <a:spcPct val="150000"/>
              </a:lnSpc>
            </a:pPr>
            <a:r>
              <a:rPr lang="en-US" altLang="zh-CN" sz="2000"/>
              <a:t>1. </a:t>
            </a:r>
            <a:r>
              <a:rPr lang="zh-CN" altLang="en-US" sz="2000"/>
              <a:t>语音信号预处理：对采集到的语音信号进行降噪、预加重、分帧、加窗等处理，以提高信号的质量和后续特征提取的效果。</a:t>
            </a:r>
            <a:endParaRPr lang="zh-CN" altLang="en-US" sz="2000"/>
          </a:p>
          <a:p>
            <a:pPr indent="0" fontAlgn="auto">
              <a:lnSpc>
                <a:spcPct val="150000"/>
              </a:lnSpc>
            </a:pPr>
            <a:r>
              <a:rPr lang="en-US" altLang="zh-CN" sz="2000"/>
              <a:t>2. </a:t>
            </a:r>
            <a:r>
              <a:rPr lang="zh-CN" altLang="en-US" sz="2000"/>
              <a:t>特征提取：从预处理后的语音信号中提取出能够有效表征语音内容的特征参数，如梅尔频率倒谱系数（</a:t>
            </a:r>
            <a:r>
              <a:rPr lang="en-US" altLang="zh-CN" sz="2000"/>
              <a:t>MFCC</a:t>
            </a:r>
            <a:r>
              <a:rPr lang="zh-CN" altLang="en-US" sz="2000"/>
              <a:t>）、线性预测倒谱系数（</a:t>
            </a:r>
            <a:r>
              <a:rPr lang="en-US" altLang="zh-CN" sz="2000"/>
              <a:t>LPCC</a:t>
            </a:r>
            <a:r>
              <a:rPr lang="zh-CN" altLang="en-US" sz="2000"/>
              <a:t>）等。</a:t>
            </a:r>
            <a:endParaRPr lang="zh-CN" altLang="en-US" sz="2000"/>
          </a:p>
          <a:p>
            <a:pPr indent="0" fontAlgn="auto">
              <a:lnSpc>
                <a:spcPct val="150000"/>
              </a:lnSpc>
            </a:pPr>
            <a:r>
              <a:rPr lang="en-US" altLang="zh-CN" sz="2000"/>
              <a:t>3. </a:t>
            </a:r>
            <a:r>
              <a:rPr lang="zh-CN" altLang="en-US" sz="2000"/>
              <a:t>声学模型：使用统计模型（如高斯混合模型，</a:t>
            </a:r>
            <a:r>
              <a:rPr lang="en-US" altLang="zh-CN" sz="2000"/>
              <a:t>GMM</a:t>
            </a:r>
            <a:r>
              <a:rPr lang="zh-CN" altLang="en-US" sz="2000"/>
              <a:t>）或深度学习模型（如卷积神经网络，</a:t>
            </a:r>
            <a:r>
              <a:rPr lang="en-US" altLang="zh-CN" sz="2000"/>
              <a:t>CNN</a:t>
            </a:r>
            <a:r>
              <a:rPr lang="zh-CN" altLang="en-US" sz="2000"/>
              <a:t>，或长短时记忆网络，</a:t>
            </a:r>
            <a:r>
              <a:rPr lang="en-US" altLang="zh-CN" sz="2000"/>
              <a:t>LSTM</a:t>
            </a:r>
            <a:r>
              <a:rPr lang="zh-CN" altLang="en-US" sz="2000"/>
              <a:t>）将提取的特征参数映射到音素或音素序列。</a:t>
            </a:r>
            <a:endParaRPr lang="zh-CN" altLang="en-US" sz="2000"/>
          </a:p>
          <a:p>
            <a:pPr indent="0" fontAlgn="auto">
              <a:lnSpc>
                <a:spcPct val="150000"/>
              </a:lnSpc>
            </a:pPr>
            <a:r>
              <a:rPr lang="en-US" altLang="zh-CN" sz="2000"/>
              <a:t>4. </a:t>
            </a:r>
            <a:r>
              <a:rPr lang="zh-CN" altLang="en-US" sz="2000"/>
              <a:t>语言模型：根据语言的结构和统计规律，对识别出的音素序列进行解码，生成最有可能的词或句子。</a:t>
            </a:r>
            <a:endParaRPr lang="zh-CN" altLang="en-US" sz="2000"/>
          </a:p>
          <a:p>
            <a:pPr indent="0" fontAlgn="auto">
              <a:lnSpc>
                <a:spcPct val="150000"/>
              </a:lnSpc>
            </a:pPr>
            <a:r>
              <a:rPr lang="en-US" altLang="zh-CN" sz="2000"/>
              <a:t>5. </a:t>
            </a:r>
            <a:r>
              <a:rPr lang="zh-CN" altLang="en-US" sz="2000"/>
              <a:t>后处理：对识别结果进行修正和优化，如纠错、标点符号添加等，以提高识别文本的准确性和可读性。</a:t>
            </a:r>
            <a:endParaRPr lang="zh-C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语音识别（</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ASR</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15450" y="911859"/>
            <a:ext cx="3921760" cy="1143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36575" y="1077595"/>
            <a:ext cx="11655425" cy="3322955"/>
          </a:xfrm>
          <a:prstGeom prst="rect">
            <a:avLst/>
          </a:prstGeom>
          <a:noFill/>
        </p:spPr>
        <p:txBody>
          <a:bodyPr wrap="square" rtlCol="0">
            <a:spAutoFit/>
          </a:bodyPr>
          <a:p>
            <a:pPr indent="0" fontAlgn="auto">
              <a:lnSpc>
                <a:spcPct val="150000"/>
              </a:lnSpc>
            </a:pPr>
            <a:r>
              <a:rPr lang="zh-CN" altLang="en-US" sz="2000"/>
              <a:t>我们的语音识别系统采用基于卷积神经网络（</a:t>
            </a:r>
            <a:r>
              <a:rPr lang="en-US" altLang="zh-CN" sz="2000"/>
              <a:t>CNN</a:t>
            </a:r>
            <a:r>
              <a:rPr lang="zh-CN" altLang="en-US" sz="2000"/>
              <a:t>）的语音识别系统的实现。该系统主要包括数据预处理、特征提取、模型构建、训练和推理等步骤。以下是对每个步骤的具体描述：</a:t>
            </a:r>
            <a:endParaRPr lang="zh-CN" altLang="en-US" sz="2000"/>
          </a:p>
          <a:p>
            <a:pPr indent="0" fontAlgn="auto">
              <a:lnSpc>
                <a:spcPct val="150000"/>
              </a:lnSpc>
            </a:pPr>
            <a:r>
              <a:rPr lang="zh-CN" altLang="en-US" sz="2000" b="1"/>
              <a:t>一、数据集处理和特征提取</a:t>
            </a:r>
            <a:endParaRPr lang="zh-CN" altLang="en-US" sz="2000"/>
          </a:p>
          <a:p>
            <a:pPr indent="0" fontAlgn="auto">
              <a:lnSpc>
                <a:spcPct val="150000"/>
              </a:lnSpc>
            </a:pPr>
            <a:r>
              <a:rPr lang="zh-CN" altLang="en-US" sz="2000"/>
              <a:t>数据集来源于网络，将随机其分成训练集，验证集和测试集。音频文件通过</a:t>
            </a:r>
            <a:r>
              <a:rPr lang="en-US" altLang="zh-CN" sz="2000"/>
              <a:t> scipy.io.wavfile </a:t>
            </a:r>
            <a:r>
              <a:rPr lang="zh-CN" altLang="en-US" sz="2000"/>
              <a:t>库读取，并转换为适当的采样率。之后，使用</a:t>
            </a:r>
            <a:r>
              <a:rPr lang="en-US" altLang="zh-CN" sz="2000"/>
              <a:t>python_speech_features </a:t>
            </a:r>
            <a:r>
              <a:rPr lang="zh-CN" altLang="en-US" sz="2000"/>
              <a:t>库提取</a:t>
            </a:r>
            <a:r>
              <a:rPr lang="en-US" altLang="zh-CN" sz="2000"/>
              <a:t> MFCC</a:t>
            </a:r>
            <a:r>
              <a:rPr lang="zh-CN" altLang="en-US" sz="2000"/>
              <a:t>（</a:t>
            </a:r>
            <a:r>
              <a:rPr lang="en-US" altLang="zh-CN" sz="2000"/>
              <a:t>Mel </a:t>
            </a:r>
            <a:r>
              <a:rPr lang="zh-CN" altLang="en-US" sz="2000"/>
              <a:t>频率倒谱系数）特征。这些特征能够有效地表征音频信号的频谱特性。特征提取是将音频信号转换为模型能够处理的特征向量的过程。在本系统中，我们采用了</a:t>
            </a:r>
            <a:r>
              <a:rPr lang="en-US" altLang="zh-CN" sz="2000"/>
              <a:t> MFCC</a:t>
            </a:r>
            <a:r>
              <a:rPr lang="zh-CN" altLang="en-US" sz="2000"/>
              <a:t>、以及其一阶和二阶差分特征。</a:t>
            </a:r>
            <a:r>
              <a:rPr lang="zh-CN" altLang="en-US" sz="2000"/>
              <a:t>具体步骤如下：</a:t>
            </a:r>
            <a:endParaRPr lang="zh-CN" altLang="en-US" sz="2000"/>
          </a:p>
        </p:txBody>
      </p:sp>
      <p:graphicFrame>
        <p:nvGraphicFramePr>
          <p:cNvPr id="4" name="图示 3"/>
          <p:cNvGraphicFramePr/>
          <p:nvPr/>
        </p:nvGraphicFramePr>
        <p:xfrm>
          <a:off x="487680" y="4224655"/>
          <a:ext cx="11445875" cy="19380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语音识别（</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ASR</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15450" y="911859"/>
            <a:ext cx="3921760" cy="1143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53415" y="676275"/>
            <a:ext cx="11656060" cy="5908040"/>
          </a:xfrm>
          <a:prstGeom prst="rect">
            <a:avLst/>
          </a:prstGeom>
          <a:noFill/>
        </p:spPr>
        <p:txBody>
          <a:bodyPr wrap="square" rtlCol="0">
            <a:spAutoFit/>
          </a:bodyPr>
          <a:p>
            <a:pPr indent="0" fontAlgn="auto">
              <a:lnSpc>
                <a:spcPct val="150000"/>
              </a:lnSpc>
            </a:pPr>
            <a:r>
              <a:rPr lang="zh-CN" altLang="en-US" b="1"/>
              <a:t>二、模型构建</a:t>
            </a:r>
            <a:endParaRPr lang="zh-CN" altLang="en-US"/>
          </a:p>
          <a:p>
            <a:pPr indent="0" fontAlgn="auto">
              <a:lnSpc>
                <a:spcPct val="150000"/>
              </a:lnSpc>
            </a:pPr>
            <a:r>
              <a:rPr lang="zh-CN" altLang="en-US"/>
              <a:t>在模型构建部分，我们设计了一个卷积神经网络来处理音频特征。模型主要包括以下几层：</a:t>
            </a:r>
            <a:endParaRPr lang="zh-CN" altLang="en-US"/>
          </a:p>
          <a:p>
            <a:pPr indent="0" fontAlgn="auto">
              <a:lnSpc>
                <a:spcPct val="150000"/>
              </a:lnSpc>
            </a:pPr>
            <a:endParaRPr lang="zh-CN" altLang="en-US"/>
          </a:p>
          <a:p>
            <a:pPr indent="0" fontAlgn="auto">
              <a:lnSpc>
                <a:spcPct val="150000"/>
              </a:lnSpc>
            </a:pPr>
            <a:endParaRPr lang="zh-CN" altLang="en-US" b="1"/>
          </a:p>
          <a:p>
            <a:pPr indent="0" fontAlgn="auto">
              <a:lnSpc>
                <a:spcPct val="150000"/>
              </a:lnSpc>
            </a:pPr>
            <a:endParaRPr lang="zh-CN" altLang="en-US" b="1"/>
          </a:p>
          <a:p>
            <a:pPr indent="0" fontAlgn="auto">
              <a:lnSpc>
                <a:spcPct val="150000"/>
              </a:lnSpc>
            </a:pPr>
            <a:endParaRPr lang="zh-CN" altLang="en-US" b="1"/>
          </a:p>
          <a:p>
            <a:pPr indent="0" fontAlgn="auto">
              <a:lnSpc>
                <a:spcPct val="150000"/>
              </a:lnSpc>
            </a:pPr>
            <a:endParaRPr lang="zh-CN" altLang="en-US" b="1"/>
          </a:p>
          <a:p>
            <a:pPr indent="0" fontAlgn="auto">
              <a:lnSpc>
                <a:spcPct val="150000"/>
              </a:lnSpc>
            </a:pPr>
            <a:r>
              <a:rPr lang="zh-CN" altLang="en-US" b="1"/>
              <a:t>三、模型训练</a:t>
            </a:r>
            <a:endParaRPr lang="zh-CN" altLang="en-US"/>
          </a:p>
          <a:p>
            <a:pPr indent="0" fontAlgn="auto">
              <a:lnSpc>
                <a:spcPct val="150000"/>
              </a:lnSpc>
            </a:pPr>
            <a:r>
              <a:rPr lang="zh-CN" altLang="en-US"/>
              <a:t>模型训练过程使用</a:t>
            </a:r>
            <a:r>
              <a:rPr lang="en-US" altLang="zh-CN"/>
              <a:t> AdamW </a:t>
            </a:r>
            <a:r>
              <a:rPr lang="zh-CN" altLang="en-US"/>
              <a:t>优化器和交叉熵损失函数。为了提高模型性能和防止过拟合，采用了以下策略：</a:t>
            </a:r>
            <a:endParaRPr lang="zh-CN" altLang="en-US"/>
          </a:p>
          <a:p>
            <a:pPr indent="0" fontAlgn="auto">
              <a:lnSpc>
                <a:spcPct val="150000"/>
              </a:lnSpc>
            </a:pPr>
            <a:r>
              <a:rPr lang="en-US" altLang="zh-CN"/>
              <a:t>1. </a:t>
            </a:r>
            <a:r>
              <a:rPr lang="zh-CN" altLang="en-US"/>
              <a:t>学习率调度：使用</a:t>
            </a:r>
            <a:r>
              <a:rPr lang="en-US" altLang="zh-CN"/>
              <a:t> ReduceLROnPlateau </a:t>
            </a:r>
            <a:r>
              <a:rPr lang="zh-CN" altLang="en-US"/>
              <a:t>调度器，根据验证集精度自动调整学习率。</a:t>
            </a:r>
            <a:endParaRPr lang="zh-CN" altLang="en-US"/>
          </a:p>
          <a:p>
            <a:pPr indent="0" fontAlgn="auto">
              <a:lnSpc>
                <a:spcPct val="150000"/>
              </a:lnSpc>
            </a:pPr>
            <a:r>
              <a:rPr lang="en-US" altLang="zh-CN"/>
              <a:t>2. L2 </a:t>
            </a:r>
            <a:r>
              <a:rPr lang="zh-CN" altLang="en-US"/>
              <a:t>正则化：在损失函数中添加</a:t>
            </a:r>
            <a:r>
              <a:rPr lang="en-US" altLang="zh-CN"/>
              <a:t> L2 </a:t>
            </a:r>
            <a:r>
              <a:rPr lang="zh-CN" altLang="en-US"/>
              <a:t>正则化项。</a:t>
            </a:r>
            <a:endParaRPr lang="zh-CN" altLang="en-US"/>
          </a:p>
          <a:p>
            <a:pPr indent="0" fontAlgn="auto">
              <a:lnSpc>
                <a:spcPct val="150000"/>
              </a:lnSpc>
            </a:pPr>
            <a:r>
              <a:rPr lang="en-US" altLang="zh-CN"/>
              <a:t>3. </a:t>
            </a:r>
            <a:r>
              <a:rPr lang="zh-CN" altLang="en-US"/>
              <a:t>早期停止：根据验证集精度保存最佳模型。</a:t>
            </a:r>
            <a:endParaRPr lang="zh-CN" altLang="en-US"/>
          </a:p>
          <a:p>
            <a:pPr indent="0" fontAlgn="auto">
              <a:lnSpc>
                <a:spcPct val="150000"/>
              </a:lnSpc>
            </a:pPr>
            <a:r>
              <a:rPr lang="zh-CN" altLang="en-US"/>
              <a:t>每个训练周期中，模型会在训练集上进行前向传播和反向传播，更新权重参数。之后，在验证集上评估模型性能，并根据验证结果调整学习率和保存最佳模型。</a:t>
            </a:r>
            <a:endParaRPr lang="zh-CN" altLang="en-US"/>
          </a:p>
        </p:txBody>
      </p:sp>
      <p:graphicFrame>
        <p:nvGraphicFramePr>
          <p:cNvPr id="4" name="图示 3"/>
          <p:cNvGraphicFramePr/>
          <p:nvPr/>
        </p:nvGraphicFramePr>
        <p:xfrm>
          <a:off x="1452245" y="1656080"/>
          <a:ext cx="8921750" cy="192659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语音识别（</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ASR</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15450" y="911859"/>
            <a:ext cx="3921760" cy="1143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23570" y="1149350"/>
            <a:ext cx="6390005" cy="4246245"/>
          </a:xfrm>
          <a:prstGeom prst="rect">
            <a:avLst/>
          </a:prstGeom>
          <a:noFill/>
        </p:spPr>
        <p:txBody>
          <a:bodyPr wrap="square" rtlCol="0">
            <a:spAutoFit/>
          </a:bodyPr>
          <a:p>
            <a:pPr indent="0" fontAlgn="auto">
              <a:lnSpc>
                <a:spcPct val="150000"/>
              </a:lnSpc>
            </a:pPr>
            <a:r>
              <a:rPr lang="zh-CN" altLang="en-US" sz="2000" b="1"/>
              <a:t>四、模型推理</a:t>
            </a:r>
            <a:endParaRPr lang="zh-CN" altLang="en-US" sz="2000"/>
          </a:p>
          <a:p>
            <a:pPr indent="0" fontAlgn="auto">
              <a:lnSpc>
                <a:spcPct val="150000"/>
              </a:lnSpc>
            </a:pPr>
            <a:r>
              <a:rPr lang="zh-CN" altLang="en-US" sz="2000"/>
              <a:t>模型推理包括在测试集上评估模型和对新音频进行识别。推理过程如下：</a:t>
            </a:r>
            <a:endParaRPr lang="zh-CN" altLang="en-US" sz="2000"/>
          </a:p>
          <a:p>
            <a:pPr indent="0" fontAlgn="auto">
              <a:lnSpc>
                <a:spcPct val="150000"/>
              </a:lnSpc>
            </a:pPr>
            <a:r>
              <a:rPr lang="en-US" altLang="zh-CN" sz="2000"/>
              <a:t>1. </a:t>
            </a:r>
            <a:r>
              <a:rPr lang="zh-CN" altLang="en-US" sz="2000"/>
              <a:t>加载预训练模型权重。</a:t>
            </a:r>
            <a:endParaRPr lang="zh-CN" altLang="en-US" sz="2000"/>
          </a:p>
          <a:p>
            <a:pPr indent="0" fontAlgn="auto">
              <a:lnSpc>
                <a:spcPct val="150000"/>
              </a:lnSpc>
            </a:pPr>
            <a:r>
              <a:rPr lang="en-US" altLang="zh-CN" sz="2000"/>
              <a:t>2. </a:t>
            </a:r>
            <a:r>
              <a:rPr lang="zh-CN" altLang="en-US" sz="2000"/>
              <a:t>将测试数据通过</a:t>
            </a:r>
            <a:r>
              <a:rPr lang="en-US" altLang="zh-CN" sz="2000"/>
              <a:t> DataLoader </a:t>
            </a:r>
            <a:r>
              <a:rPr lang="zh-CN" altLang="en-US" sz="2000"/>
              <a:t>加载到模型中进行推理。</a:t>
            </a:r>
            <a:endParaRPr lang="zh-CN" altLang="en-US" sz="2000"/>
          </a:p>
          <a:p>
            <a:pPr indent="0" fontAlgn="auto">
              <a:lnSpc>
                <a:spcPct val="150000"/>
              </a:lnSpc>
            </a:pPr>
            <a:r>
              <a:rPr lang="en-US" altLang="zh-CN" sz="2000"/>
              <a:t>3. </a:t>
            </a:r>
            <a:r>
              <a:rPr lang="zh-CN" altLang="en-US" sz="2000"/>
              <a:t>计算模型的预测精度，并输出预测结果。</a:t>
            </a:r>
            <a:endParaRPr lang="zh-CN" altLang="en-US" sz="2000"/>
          </a:p>
          <a:p>
            <a:pPr indent="0" fontAlgn="auto">
              <a:lnSpc>
                <a:spcPct val="150000"/>
              </a:lnSpc>
            </a:pPr>
            <a:r>
              <a:rPr lang="zh-CN" altLang="en-US" sz="2000"/>
              <a:t>推理过程中，模型会根据输入特征进行前向传播，输出预测的类别标签，并与真实标签进行比较，计算分类准确率。</a:t>
            </a:r>
            <a:endParaRPr lang="zh-CN" altLang="en-US" sz="2000"/>
          </a:p>
        </p:txBody>
      </p:sp>
      <p:pic>
        <p:nvPicPr>
          <p:cNvPr id="5" name="图片 4"/>
          <p:cNvPicPr/>
          <p:nvPr/>
        </p:nvPicPr>
        <p:blipFill>
          <a:blip r:embed="rId1"/>
          <a:stretch>
            <a:fillRect/>
          </a:stretch>
        </p:blipFill>
        <p:spPr>
          <a:xfrm>
            <a:off x="7260590" y="1880235"/>
            <a:ext cx="4746625" cy="3017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20535" y="210185"/>
            <a:ext cx="5049520"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语音识别（</a:t>
            </a:r>
            <a:r>
              <a:rPr lang="en-US" altLang="zh-CN" sz="3600" b="1" spc="300">
                <a:solidFill>
                  <a:schemeClr val="tx1">
                    <a:lumMod val="75000"/>
                    <a:lumOff val="25000"/>
                  </a:schemeClr>
                </a:solidFill>
                <a:latin typeface="微软雅黑" panose="020B0503020204020204" pitchFamily="34" charset="-122"/>
                <a:ea typeface="微软雅黑" panose="020B0503020204020204" pitchFamily="34" charset="-122"/>
              </a:rPr>
              <a:t>ASR</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15450" y="911859"/>
            <a:ext cx="3921760" cy="1143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1"/>
          <a:srcRect r="22825"/>
          <a:stretch>
            <a:fillRect/>
          </a:stretch>
        </p:blipFill>
        <p:spPr>
          <a:xfrm>
            <a:off x="81915" y="2856865"/>
            <a:ext cx="4811395" cy="3138805"/>
          </a:xfrm>
          <a:prstGeom prst="rect">
            <a:avLst/>
          </a:prstGeom>
        </p:spPr>
      </p:pic>
      <p:pic>
        <p:nvPicPr>
          <p:cNvPr id="7" name="图片 6"/>
          <p:cNvPicPr>
            <a:picLocks noChangeAspect="1"/>
          </p:cNvPicPr>
          <p:nvPr/>
        </p:nvPicPr>
        <p:blipFill>
          <a:blip r:embed="rId2"/>
          <a:stretch>
            <a:fillRect/>
          </a:stretch>
        </p:blipFill>
        <p:spPr>
          <a:xfrm>
            <a:off x="5068570" y="2672080"/>
            <a:ext cx="6965315" cy="3507740"/>
          </a:xfrm>
          <a:prstGeom prst="rect">
            <a:avLst/>
          </a:prstGeom>
        </p:spPr>
      </p:pic>
      <p:sp>
        <p:nvSpPr>
          <p:cNvPr id="8" name="文本框 7"/>
          <p:cNvSpPr txBox="1"/>
          <p:nvPr/>
        </p:nvSpPr>
        <p:spPr>
          <a:xfrm>
            <a:off x="373380" y="911860"/>
            <a:ext cx="6096000" cy="2399665"/>
          </a:xfrm>
          <a:prstGeom prst="rect">
            <a:avLst/>
          </a:prstGeom>
          <a:noFill/>
        </p:spPr>
        <p:txBody>
          <a:bodyPr wrap="square" rtlCol="0" anchor="t">
            <a:spAutoFit/>
          </a:bodyPr>
          <a:p>
            <a:pPr indent="0" fontAlgn="auto">
              <a:lnSpc>
                <a:spcPct val="150000"/>
              </a:lnSpc>
            </a:pPr>
            <a:r>
              <a:rPr lang="zh-CN" altLang="en-US" sz="2000" b="1">
                <a:sym typeface="+mn-ea"/>
              </a:rPr>
              <a:t>五、模型</a:t>
            </a:r>
            <a:r>
              <a:rPr lang="zh-CN" altLang="en-US" sz="2000" b="1">
                <a:sym typeface="+mn-ea"/>
              </a:rPr>
              <a:t>效果</a:t>
            </a:r>
            <a:endParaRPr lang="zh-CN" altLang="en-US" sz="2000" b="1">
              <a:sym typeface="+mn-ea"/>
            </a:endParaRPr>
          </a:p>
          <a:p>
            <a:pPr indent="0" fontAlgn="auto">
              <a:lnSpc>
                <a:spcPct val="150000"/>
              </a:lnSpc>
            </a:pPr>
            <a:r>
              <a:rPr lang="zh-CN" altLang="en-US" sz="2000">
                <a:sym typeface="+mn-ea"/>
              </a:rPr>
              <a:t>模型在训练集上实现了</a:t>
            </a:r>
            <a:r>
              <a:rPr lang="en-US" altLang="zh-CN" sz="2000">
                <a:sym typeface="+mn-ea"/>
              </a:rPr>
              <a:t>90%</a:t>
            </a:r>
            <a:r>
              <a:rPr lang="zh-CN" altLang="en-US" sz="2000">
                <a:sym typeface="+mn-ea"/>
              </a:rPr>
              <a:t>的正确率</a:t>
            </a:r>
            <a:endParaRPr lang="zh-CN" altLang="en-US" sz="2000">
              <a:sym typeface="+mn-ea"/>
            </a:endParaRPr>
          </a:p>
          <a:p>
            <a:pPr indent="0" fontAlgn="auto">
              <a:lnSpc>
                <a:spcPct val="150000"/>
              </a:lnSpc>
            </a:pPr>
            <a:r>
              <a:rPr lang="zh-CN" altLang="en-US" sz="2000">
                <a:sym typeface="+mn-ea"/>
              </a:rPr>
              <a:t>在测试集上也基本实现近</a:t>
            </a:r>
            <a:r>
              <a:rPr lang="en-US" altLang="zh-CN" sz="2000">
                <a:sym typeface="+mn-ea"/>
              </a:rPr>
              <a:t>90%</a:t>
            </a:r>
            <a:r>
              <a:rPr lang="zh-CN" altLang="en-US" sz="2000">
                <a:sym typeface="+mn-ea"/>
              </a:rPr>
              <a:t>正确率</a:t>
            </a:r>
            <a:endParaRPr lang="zh-CN" altLang="en-US" sz="2000">
              <a:sym typeface="+mn-ea"/>
            </a:endParaRPr>
          </a:p>
          <a:p>
            <a:pPr indent="0" fontAlgn="auto">
              <a:lnSpc>
                <a:spcPct val="150000"/>
              </a:lnSpc>
            </a:pPr>
            <a:endParaRPr lang="zh-CN" altLang="en-US" sz="2000"/>
          </a:p>
          <a:p>
            <a:pPr indent="0" fontAlgn="auto">
              <a:lnSpc>
                <a:spcPct val="150000"/>
              </a:lnSpc>
            </a:pPr>
            <a:endParaRPr lang="zh-CN" altLang="en-US" sz="2000" b="1">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553223" y="1984140"/>
            <a:ext cx="629920" cy="1014730"/>
          </a:xfrm>
          <a:prstGeom prst="rect">
            <a:avLst/>
          </a:prstGeom>
          <a:noFill/>
        </p:spPr>
        <p:txBody>
          <a:bodyPr wrap="none" rtlCol="0">
            <a:spAutoFit/>
          </a:bodyPr>
          <a:lstStyle/>
          <a:p>
            <a:r>
              <a:rPr lang="en-US" altLang="zh-CN" sz="6000" dirty="0">
                <a:solidFill>
                  <a:schemeClr val="tx1">
                    <a:lumMod val="75000"/>
                    <a:lumOff val="25000"/>
                  </a:schemeClr>
                </a:solidFill>
                <a:latin typeface="微软雅黑" panose="020B0503020204020204" pitchFamily="34" charset="-122"/>
                <a:ea typeface="微软雅黑" panose="020B0503020204020204" pitchFamily="34" charset="-122"/>
              </a:rPr>
              <a:t>3</a:t>
            </a:r>
            <a:endParaRPr lang="en-US" altLang="zh-CN" sz="6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759835" y="3586947"/>
            <a:ext cx="4450080" cy="829945"/>
          </a:xfrm>
          <a:prstGeom prst="rect">
            <a:avLst/>
          </a:prstGeom>
          <a:noFill/>
        </p:spPr>
        <p:txBody>
          <a:bodyPr wrap="none" rtlCol="0">
            <a:spAutoFit/>
          </a:bodyPr>
          <a:lstStyle/>
          <a:p>
            <a:pPr algn="ctr"/>
            <a:r>
              <a:rPr lang="zh-CN" altLang="en-US" sz="4800" b="1">
                <a:solidFill>
                  <a:srgbClr val="000000">
                    <a:lumMod val="75000"/>
                    <a:lumOff val="25000"/>
                  </a:srgbClr>
                </a:solidFill>
                <a:latin typeface="Arial" panose="020B0604020202020204"/>
                <a:ea typeface="微软雅黑" panose="020B0503020204020204" pitchFamily="34" charset="-122"/>
                <a:sym typeface="+mn-ea"/>
              </a:rPr>
              <a:t>实验结果与总结</a:t>
            </a:r>
            <a:endParaRPr lang="zh-CN" altLang="en-US" sz="4800" b="1">
              <a:solidFill>
                <a:srgbClr val="000000">
                  <a:lumMod val="75000"/>
                  <a:lumOff val="25000"/>
                </a:srgbClr>
              </a:solidFill>
              <a:latin typeface="Arial" panose="020B0604020202020204"/>
              <a:ea typeface="微软雅黑" panose="020B0503020204020204" pitchFamily="34" charset="-122"/>
              <a:sym typeface="+mn-ea"/>
            </a:endParaRPr>
          </a:p>
        </p:txBody>
      </p:sp>
      <p:cxnSp>
        <p:nvCxnSpPr>
          <p:cNvPr id="5" name="直接连接符 4"/>
          <p:cNvCxnSpPr/>
          <p:nvPr/>
        </p:nvCxnSpPr>
        <p:spPr>
          <a:xfrm flipH="1">
            <a:off x="2981590" y="3252432"/>
            <a:ext cx="6228821" cy="0"/>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28915" y="210185"/>
            <a:ext cx="3808095"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结果</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展示</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472620" y="905509"/>
            <a:ext cx="1164590"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52780" y="539115"/>
            <a:ext cx="6390005" cy="1476375"/>
          </a:xfrm>
          <a:prstGeom prst="rect">
            <a:avLst/>
          </a:prstGeom>
          <a:noFill/>
        </p:spPr>
        <p:txBody>
          <a:bodyPr wrap="square" rtlCol="0">
            <a:spAutoFit/>
          </a:bodyPr>
          <a:p>
            <a:pPr indent="0" fontAlgn="auto">
              <a:lnSpc>
                <a:spcPct val="150000"/>
              </a:lnSpc>
            </a:pPr>
            <a:r>
              <a:rPr lang="zh-CN" altLang="en-US" sz="2000" b="1"/>
              <a:t>程序主界面</a:t>
            </a:r>
            <a:endParaRPr lang="zh-CN" altLang="en-US" sz="2000"/>
          </a:p>
          <a:p>
            <a:pPr indent="0" fontAlgn="auto">
              <a:lnSpc>
                <a:spcPct val="150000"/>
              </a:lnSpc>
            </a:pPr>
            <a:r>
              <a:rPr lang="zh-CN" altLang="en-US" sz="2000"/>
              <a:t>程序支持在线录音和选择音频进行</a:t>
            </a:r>
            <a:r>
              <a:rPr lang="zh-CN" altLang="en-US" sz="2000"/>
              <a:t>识别</a:t>
            </a:r>
            <a:endParaRPr lang="zh-CN" altLang="en-US" sz="2000"/>
          </a:p>
          <a:p>
            <a:pPr indent="0" fontAlgn="auto">
              <a:lnSpc>
                <a:spcPct val="150000"/>
              </a:lnSpc>
            </a:pPr>
            <a:endParaRPr lang="zh-CN" altLang="en-US" sz="2000"/>
          </a:p>
        </p:txBody>
      </p:sp>
      <p:pic>
        <p:nvPicPr>
          <p:cNvPr id="9" name="图片 8"/>
          <p:cNvPicPr>
            <a:picLocks noChangeAspect="1"/>
          </p:cNvPicPr>
          <p:nvPr/>
        </p:nvPicPr>
        <p:blipFill>
          <a:blip r:embed="rId1"/>
          <a:stretch>
            <a:fillRect/>
          </a:stretch>
        </p:blipFill>
        <p:spPr>
          <a:xfrm>
            <a:off x="769620" y="1517015"/>
            <a:ext cx="4312285" cy="4950460"/>
          </a:xfrm>
          <a:prstGeom prst="rect">
            <a:avLst/>
          </a:prstGeom>
        </p:spPr>
      </p:pic>
      <p:pic>
        <p:nvPicPr>
          <p:cNvPr id="10" name="图片 9"/>
          <p:cNvPicPr>
            <a:picLocks noChangeAspect="1"/>
          </p:cNvPicPr>
          <p:nvPr/>
        </p:nvPicPr>
        <p:blipFill>
          <a:blip r:embed="rId2"/>
          <a:stretch>
            <a:fillRect/>
          </a:stretch>
        </p:blipFill>
        <p:spPr>
          <a:xfrm>
            <a:off x="5965825" y="1540510"/>
            <a:ext cx="5320665" cy="4926965"/>
          </a:xfrm>
          <a:prstGeom prst="rect">
            <a:avLst/>
          </a:prstGeom>
        </p:spPr>
      </p:pic>
      <p:sp>
        <p:nvSpPr>
          <p:cNvPr id="11" name="文本框 10"/>
          <p:cNvSpPr txBox="1"/>
          <p:nvPr/>
        </p:nvSpPr>
        <p:spPr>
          <a:xfrm>
            <a:off x="5965825" y="950595"/>
            <a:ext cx="6096000" cy="553085"/>
          </a:xfrm>
          <a:prstGeom prst="rect">
            <a:avLst/>
          </a:prstGeom>
          <a:noFill/>
        </p:spPr>
        <p:txBody>
          <a:bodyPr wrap="square" rtlCol="0" anchor="t">
            <a:spAutoFit/>
          </a:bodyPr>
          <a:p>
            <a:pPr indent="0" fontAlgn="auto">
              <a:lnSpc>
                <a:spcPct val="150000"/>
              </a:lnSpc>
            </a:pPr>
            <a:r>
              <a:rPr lang="zh-CN" altLang="en-US" sz="2000">
                <a:sym typeface="+mn-ea"/>
              </a:rPr>
              <a:t>绘制时域图和</a:t>
            </a:r>
            <a:r>
              <a:rPr lang="en-US" altLang="zh-CN" sz="2000">
                <a:sym typeface="+mn-ea"/>
              </a:rPr>
              <a:t>VAD</a:t>
            </a:r>
            <a:r>
              <a:rPr lang="zh-CN" altLang="en-US" sz="2000">
                <a:sym typeface="+mn-ea"/>
              </a:rPr>
              <a:t>语言识别</a:t>
            </a:r>
            <a:r>
              <a:rPr lang="zh-CN" altLang="en-US" sz="2000">
                <a:sym typeface="+mn-ea"/>
              </a:rPr>
              <a:t>结果</a:t>
            </a:r>
            <a:endParaRPr lang="zh-CN" altLang="en-US" sz="200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28915" y="210185"/>
            <a:ext cx="3808095"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结果</a:t>
            </a: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展示</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472620" y="905509"/>
            <a:ext cx="1164590"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536575" y="1052830"/>
            <a:ext cx="6390005" cy="553085"/>
          </a:xfrm>
          <a:prstGeom prst="rect">
            <a:avLst/>
          </a:prstGeom>
          <a:noFill/>
        </p:spPr>
        <p:txBody>
          <a:bodyPr wrap="square" rtlCol="0">
            <a:spAutoFit/>
          </a:bodyPr>
          <a:p>
            <a:pPr indent="0" fontAlgn="auto">
              <a:lnSpc>
                <a:spcPct val="150000"/>
              </a:lnSpc>
            </a:pPr>
            <a:r>
              <a:rPr lang="zh-CN" altLang="en-US" sz="2000" b="1"/>
              <a:t>识别</a:t>
            </a:r>
            <a:r>
              <a:rPr lang="zh-CN" altLang="en-US" sz="2000" b="1"/>
              <a:t>效果</a:t>
            </a:r>
            <a:endParaRPr lang="zh-CN" altLang="en-US" sz="2000" b="1"/>
          </a:p>
        </p:txBody>
      </p:sp>
      <p:pic>
        <p:nvPicPr>
          <p:cNvPr id="8" name="图片 7"/>
          <p:cNvPicPr>
            <a:picLocks noChangeAspect="1"/>
          </p:cNvPicPr>
          <p:nvPr/>
        </p:nvPicPr>
        <p:blipFill>
          <a:blip r:embed="rId1"/>
          <a:stretch>
            <a:fillRect/>
          </a:stretch>
        </p:blipFill>
        <p:spPr>
          <a:xfrm>
            <a:off x="1962150" y="3254375"/>
            <a:ext cx="7926705" cy="3004185"/>
          </a:xfrm>
          <a:prstGeom prst="rect">
            <a:avLst/>
          </a:prstGeom>
        </p:spPr>
      </p:pic>
      <p:sp>
        <p:nvSpPr>
          <p:cNvPr id="10" name="文本框 9"/>
          <p:cNvSpPr txBox="1"/>
          <p:nvPr/>
        </p:nvSpPr>
        <p:spPr>
          <a:xfrm>
            <a:off x="536575" y="1605915"/>
            <a:ext cx="10621010" cy="1764665"/>
          </a:xfrm>
          <a:prstGeom prst="rect">
            <a:avLst/>
          </a:prstGeom>
          <a:noFill/>
        </p:spPr>
        <p:txBody>
          <a:bodyPr wrap="square" rtlCol="0" anchor="t">
            <a:noAutofit/>
          </a:bodyPr>
          <a:p>
            <a:r>
              <a:rPr lang="zh-CN" altLang="en-US"/>
              <a:t>由于本设计仅为一个</a:t>
            </a:r>
            <a:r>
              <a:rPr lang="en-US" altLang="zh-CN"/>
              <a:t> demo</a:t>
            </a:r>
            <a:r>
              <a:rPr lang="zh-CN" altLang="en-US"/>
              <a:t>，模型复杂度较低，数据集较小，因此模型效果可能无法达到实际应用的要求。但是，通过训练和测试，模型在测试集上的准确率基本能达到</a:t>
            </a:r>
            <a:r>
              <a:rPr lang="en-US" altLang="zh-CN"/>
              <a:t> </a:t>
            </a:r>
            <a:r>
              <a:rPr lang="zh-CN" altLang="en-US"/>
              <a:t>了</a:t>
            </a:r>
            <a:r>
              <a:rPr lang="en-US" altLang="zh-CN"/>
              <a:t> 90% </a:t>
            </a:r>
            <a:r>
              <a:rPr lang="zh-CN" altLang="en-US"/>
              <a:t>以上。</a:t>
            </a:r>
            <a:r>
              <a:rPr lang="en-US" altLang="zh-CN"/>
              <a:t> </a:t>
            </a:r>
            <a:endParaRPr lang="en-US" altLang="zh-CN"/>
          </a:p>
          <a:p>
            <a:r>
              <a:rPr lang="zh-CN" altLang="en-US"/>
              <a:t>此外，模型的性能和泛化能力仍有不足，对于差异性较大的音频样本，模型可能无</a:t>
            </a:r>
            <a:r>
              <a:rPr lang="en-US" altLang="zh-CN"/>
              <a:t> </a:t>
            </a:r>
            <a:r>
              <a:rPr lang="zh-CN" altLang="en-US"/>
              <a:t>法准确识别，此外也可能存在一些过拟合的现象。因此，在实际应用中，需要进一步优</a:t>
            </a:r>
            <a:r>
              <a:rPr lang="en-US" altLang="zh-CN"/>
              <a:t> </a:t>
            </a:r>
            <a:r>
              <a:rPr lang="zh-CN" altLang="en-US"/>
              <a:t>化模型结构和参数，并使用更多的数据集进行训练和测试。</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28915" y="210185"/>
            <a:ext cx="3808095"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总结</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472620" y="905509"/>
            <a:ext cx="1164590"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78815" y="928370"/>
            <a:ext cx="11316970" cy="5169535"/>
          </a:xfrm>
          <a:prstGeom prst="rect">
            <a:avLst/>
          </a:prstGeom>
          <a:noFill/>
        </p:spPr>
        <p:txBody>
          <a:bodyPr wrap="square" rtlCol="0">
            <a:spAutoFit/>
          </a:bodyPr>
          <a:p>
            <a:pPr indent="0" fontAlgn="auto">
              <a:lnSpc>
                <a:spcPct val="150000"/>
              </a:lnSpc>
            </a:pPr>
            <a:r>
              <a:rPr lang="zh-CN" altLang="en-US" sz="2000"/>
              <a:t>本报告提出并实现了一种基于</a:t>
            </a:r>
            <a:r>
              <a:rPr lang="en-US" altLang="zh-CN" sz="2000"/>
              <a:t> MFCC </a:t>
            </a:r>
            <a:r>
              <a:rPr lang="zh-CN" altLang="en-US" sz="2000"/>
              <a:t>特征、</a:t>
            </a:r>
            <a:r>
              <a:rPr lang="en-US" altLang="zh-CN" sz="2000"/>
              <a:t>VAD </a:t>
            </a:r>
            <a:r>
              <a:rPr lang="zh-CN" altLang="en-US" sz="2000"/>
              <a:t>算法和卷积神经网络的连续数字串语音识别系统。该系统通过以下几个关键步骤实现了对连续数字串语音信号的有效识别：</a:t>
            </a:r>
            <a:endParaRPr lang="zh-CN" altLang="en-US" sz="2000"/>
          </a:p>
          <a:p>
            <a:pPr indent="0" fontAlgn="auto">
              <a:lnSpc>
                <a:spcPct val="150000"/>
              </a:lnSpc>
            </a:pPr>
            <a:r>
              <a:rPr lang="en-US" altLang="zh-CN" sz="2000"/>
              <a:t>1. MFCC </a:t>
            </a:r>
            <a:r>
              <a:rPr lang="zh-CN" altLang="en-US" sz="2000"/>
              <a:t>特征提取：利用梅尔频率倒谱系数（</a:t>
            </a:r>
            <a:r>
              <a:rPr lang="en-US" altLang="zh-CN" sz="2000"/>
              <a:t>MFCC</a:t>
            </a:r>
            <a:r>
              <a:rPr lang="zh-CN" altLang="en-US" sz="2000"/>
              <a:t>）方法，从语音信号中提取出具有代表性的特征参数，使得语音信号的频谱特征得以充分体现。</a:t>
            </a:r>
            <a:endParaRPr lang="zh-CN" altLang="en-US" sz="2000"/>
          </a:p>
          <a:p>
            <a:pPr indent="0" fontAlgn="auto">
              <a:lnSpc>
                <a:spcPct val="150000"/>
              </a:lnSpc>
            </a:pPr>
            <a:r>
              <a:rPr lang="en-US" altLang="zh-CN" sz="2000"/>
              <a:t>2. </a:t>
            </a:r>
            <a:r>
              <a:rPr lang="zh-CN" altLang="en-US" sz="2000"/>
              <a:t>语音活动检测（</a:t>
            </a:r>
            <a:r>
              <a:rPr lang="en-US" altLang="zh-CN" sz="2000"/>
              <a:t>VAD</a:t>
            </a:r>
            <a:r>
              <a:rPr lang="zh-CN" altLang="en-US" sz="2000"/>
              <a:t>）：通过基于</a:t>
            </a:r>
            <a:r>
              <a:rPr lang="en-US" altLang="zh-CN" sz="2000"/>
              <a:t> MFCC </a:t>
            </a:r>
            <a:r>
              <a:rPr lang="zh-CN" altLang="en-US" sz="2000"/>
              <a:t>特征和无监督机器学习的</a:t>
            </a:r>
            <a:r>
              <a:rPr lang="en-US" altLang="zh-CN" sz="2000"/>
              <a:t> VAD </a:t>
            </a:r>
            <a:r>
              <a:rPr lang="zh-CN" altLang="en-US" sz="2000"/>
              <a:t>算法，将连续的语音信号分割为语音段和非语音段，从而提高了识别的准确性和效率。</a:t>
            </a:r>
            <a:endParaRPr lang="zh-CN" altLang="en-US" sz="2000"/>
          </a:p>
          <a:p>
            <a:pPr indent="0" fontAlgn="auto">
              <a:lnSpc>
                <a:spcPct val="150000"/>
              </a:lnSpc>
            </a:pPr>
            <a:r>
              <a:rPr lang="en-US" altLang="zh-CN" sz="2000"/>
              <a:t>3. </a:t>
            </a:r>
            <a:r>
              <a:rPr lang="zh-CN" altLang="en-US" sz="2000"/>
              <a:t>卷积神经网络建模与训练：设计并训练了一个卷积神经网络（</a:t>
            </a:r>
            <a:r>
              <a:rPr lang="en-US" altLang="zh-CN" sz="2000"/>
              <a:t>CNN</a:t>
            </a:r>
            <a:r>
              <a:rPr lang="zh-CN" altLang="en-US" sz="2000"/>
              <a:t>），用于对提取的</a:t>
            </a:r>
            <a:r>
              <a:rPr lang="en-US" altLang="zh-CN" sz="2000"/>
              <a:t> MFCC </a:t>
            </a:r>
            <a:r>
              <a:rPr lang="zh-CN" altLang="en-US" sz="2000"/>
              <a:t>特征进行分类，从而实现对单个数字的准确识别。</a:t>
            </a:r>
            <a:endParaRPr lang="zh-CN" altLang="en-US" sz="2000"/>
          </a:p>
          <a:p>
            <a:pPr indent="0" fontAlgn="auto">
              <a:lnSpc>
                <a:spcPct val="150000"/>
              </a:lnSpc>
            </a:pPr>
            <a:r>
              <a:rPr lang="en-US" altLang="zh-CN" sz="2000"/>
              <a:t>4. </a:t>
            </a:r>
            <a:r>
              <a:rPr lang="zh-CN" altLang="en-US" sz="2000"/>
              <a:t>连续数字串识别：结合</a:t>
            </a:r>
            <a:r>
              <a:rPr lang="en-US" altLang="zh-CN" sz="2000"/>
              <a:t> VAD </a:t>
            </a:r>
            <a:r>
              <a:rPr lang="zh-CN" altLang="en-US" sz="2000"/>
              <a:t>和</a:t>
            </a:r>
            <a:r>
              <a:rPr lang="en-US" altLang="zh-CN" sz="2000"/>
              <a:t> CNN</a:t>
            </a:r>
            <a:r>
              <a:rPr lang="zh-CN" altLang="en-US" sz="2000"/>
              <a:t>，对输入的连续数字串语音信号进行识别，实现了对多个数字的连续识别。</a:t>
            </a:r>
            <a:endParaRPr lang="zh-CN" altLang="en-US" sz="2000"/>
          </a:p>
          <a:p>
            <a:pPr indent="0" fontAlgn="auto">
              <a:lnSpc>
                <a:spcPct val="150000"/>
              </a:lnSpc>
            </a:pPr>
            <a:endParaRPr lang="zh-CN"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828915" y="210185"/>
            <a:ext cx="3808095" cy="645160"/>
          </a:xfrm>
          <a:prstGeom prst="rect">
            <a:avLst/>
          </a:prstGeom>
          <a:noFill/>
        </p:spPr>
        <p:txBody>
          <a:bodyPr wrap="square" rtlCol="0">
            <a:spAutoFit/>
          </a:bodyPr>
          <a:lstStyle/>
          <a:p>
            <a:pPr algn="r"/>
            <a:r>
              <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rPr>
              <a:t>总结</a:t>
            </a:r>
            <a:endParaRPr lang="zh-CN" altLang="en-US" sz="3600" b="1" spc="30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10472620" y="905509"/>
            <a:ext cx="1164590" cy="889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78815" y="1040765"/>
            <a:ext cx="11316970" cy="5169535"/>
          </a:xfrm>
          <a:prstGeom prst="rect">
            <a:avLst/>
          </a:prstGeom>
          <a:noFill/>
        </p:spPr>
        <p:txBody>
          <a:bodyPr wrap="square" rtlCol="0">
            <a:spAutoFit/>
          </a:bodyPr>
          <a:p>
            <a:pPr indent="0" fontAlgn="auto">
              <a:lnSpc>
                <a:spcPct val="150000"/>
              </a:lnSpc>
            </a:pPr>
            <a:r>
              <a:rPr lang="zh-CN" altLang="en-US" sz="2000">
                <a:sym typeface="+mn-ea"/>
              </a:rPr>
              <a:t>通过上述方法，本系统在连续数字串的语音识别任务中取得了较好的实验结果，验证了设计方案的有效性。由于</a:t>
            </a:r>
            <a:r>
              <a:rPr lang="zh-CN" altLang="en-US" sz="2000">
                <a:sym typeface="+mn-ea"/>
              </a:rPr>
              <a:t>模型的性能和泛化能力仍有不足，对于差异性较大的音频样本，模型可能无法准确识别，此外也可能存在一些过拟合的现象。因此，在实际应用中，需要进一步优化模型结构和参数，并使用更多的数据集进行训练和测试。</a:t>
            </a:r>
            <a:endParaRPr lang="zh-CN" altLang="en-US" sz="2000"/>
          </a:p>
          <a:p>
            <a:pPr indent="0" fontAlgn="auto">
              <a:lnSpc>
                <a:spcPct val="150000"/>
              </a:lnSpc>
            </a:pPr>
            <a:r>
              <a:rPr lang="zh-CN" altLang="en-US" sz="2000"/>
              <a:t>未来的工作中，可以考虑以下几个方面的改进：</a:t>
            </a:r>
            <a:endParaRPr lang="zh-CN" altLang="en-US" sz="2000"/>
          </a:p>
          <a:p>
            <a:pPr indent="0" fontAlgn="auto">
              <a:lnSpc>
                <a:spcPct val="150000"/>
              </a:lnSpc>
            </a:pPr>
            <a:r>
              <a:rPr lang="en-US" altLang="zh-CN" sz="2000"/>
              <a:t>• </a:t>
            </a:r>
            <a:r>
              <a:rPr lang="zh-CN" altLang="en-US" sz="2000"/>
              <a:t>数据集扩展：收集更多样化和大规模的语音数据集，以提高模型的泛化能力。</a:t>
            </a:r>
            <a:endParaRPr lang="zh-CN" altLang="en-US" sz="2000"/>
          </a:p>
          <a:p>
            <a:pPr indent="0" fontAlgn="auto">
              <a:lnSpc>
                <a:spcPct val="150000"/>
              </a:lnSpc>
            </a:pPr>
            <a:r>
              <a:rPr lang="en-US" altLang="zh-CN" sz="2000"/>
              <a:t>• </a:t>
            </a:r>
            <a:r>
              <a:rPr lang="zh-CN" altLang="en-US" sz="2000"/>
              <a:t>模型优化：尝试更复杂的神经网络结构，如深层卷积神经网络、长短时记忆网络（</a:t>
            </a:r>
            <a:r>
              <a:rPr lang="en-US" altLang="zh-CN" sz="2000"/>
              <a:t>LSTM</a:t>
            </a:r>
            <a:r>
              <a:rPr lang="zh-CN" altLang="en-US" sz="2000"/>
              <a:t>）或基于</a:t>
            </a:r>
            <a:r>
              <a:rPr lang="en-US" altLang="zh-CN" sz="2000"/>
              <a:t> Transformer </a:t>
            </a:r>
            <a:r>
              <a:rPr lang="zh-CN" altLang="en-US" sz="2000"/>
              <a:t>的模型，以提高识别精度。</a:t>
            </a:r>
            <a:endParaRPr lang="zh-CN" altLang="en-US" sz="2000"/>
          </a:p>
          <a:p>
            <a:pPr indent="0" fontAlgn="auto">
              <a:lnSpc>
                <a:spcPct val="150000"/>
              </a:lnSpc>
            </a:pPr>
            <a:r>
              <a:rPr lang="en-US" altLang="zh-CN" sz="2000"/>
              <a:t>• </a:t>
            </a:r>
            <a:r>
              <a:rPr lang="zh-CN" altLang="en-US" sz="2000"/>
              <a:t>多语言支持：扩展系统以支持多种语言的语音识别，提高其在不同语言环境下的适用性。</a:t>
            </a:r>
            <a:endParaRPr lang="zh-CN" altLang="en-US" sz="2000"/>
          </a:p>
          <a:p>
            <a:pPr indent="0" fontAlgn="auto">
              <a:lnSpc>
                <a:spcPct val="150000"/>
              </a:lnSpc>
            </a:pPr>
            <a:r>
              <a:rPr lang="zh-CN" altLang="en-US" sz="2000"/>
              <a:t>总体而言，本报告为连续数字串语音识别系统的设计和实现提供了一种有效的方法，并通过实验验证了其可行性，为后续的研究和开发工作奠定了基础。</a:t>
            </a:r>
            <a:endParaRPr lang="zh-CN" alt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15561" y="3566907"/>
            <a:ext cx="1960880" cy="521970"/>
          </a:xfrm>
          <a:prstGeom prst="rect">
            <a:avLst/>
          </a:prstGeom>
          <a:noFill/>
        </p:spPr>
        <p:txBody>
          <a:bodyPr wrap="none" rtlCol="0">
            <a:spAutoFit/>
          </a:bodyPr>
          <a:lstStyle/>
          <a:p>
            <a:pPr algn="dist"/>
            <a:r>
              <a:rPr kumimoji="1" lang="zh-CN" altLang="en-US" sz="2800" b="1">
                <a:solidFill>
                  <a:schemeClr val="tx1">
                    <a:lumMod val="75000"/>
                    <a:lumOff val="25000"/>
                  </a:schemeClr>
                </a:solidFill>
                <a:latin typeface="微软雅黑" panose="020B0503020204020204" pitchFamily="34" charset="-122"/>
                <a:ea typeface="微软雅黑" panose="020B0503020204020204" pitchFamily="34" charset="-122"/>
              </a:rPr>
              <a:t>小组成员：</a:t>
            </a:r>
            <a:endParaRPr kumimoji="1" lang="zh-CN" altLang="en-US" sz="28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353686" y="4174694"/>
            <a:ext cx="1484630" cy="460375"/>
          </a:xfrm>
          <a:prstGeom prst="rect">
            <a:avLst/>
          </a:prstGeom>
          <a:noFill/>
        </p:spPr>
        <p:txBody>
          <a:bodyPr wrap="none" rtlCol="0">
            <a:spAutoFit/>
          </a:bodyPr>
          <a:lstStyle/>
          <a:p>
            <a:pPr algn="dist"/>
            <a:r>
              <a:rPr kumimoji="1" lang="en-US" altLang="zh-CN" sz="2400" b="1">
                <a:solidFill>
                  <a:schemeClr val="tx1">
                    <a:lumMod val="75000"/>
                    <a:lumOff val="25000"/>
                  </a:schemeClr>
                </a:solidFill>
                <a:latin typeface="微软雅黑" panose="020B0503020204020204" pitchFamily="34" charset="-122"/>
                <a:ea typeface="微软雅黑" panose="020B0503020204020204" pitchFamily="34" charset="-122"/>
              </a:rPr>
              <a:t>2025.6.2</a:t>
            </a:r>
            <a:endParaRPr kumimoji="1" lang="en-US" altLang="zh-CN" sz="2400"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53135" y="2270125"/>
            <a:ext cx="9920605" cy="1014730"/>
          </a:xfrm>
          <a:prstGeom prst="rect">
            <a:avLst/>
          </a:prstGeom>
          <a:noFill/>
        </p:spPr>
        <p:txBody>
          <a:bodyPr wrap="square" rtlCol="0">
            <a:spAutoFit/>
          </a:bodyPr>
          <a:lstStyle/>
          <a:p>
            <a:pPr algn="ctr"/>
            <a:r>
              <a:rPr kumimoji="1" lang="en-US" altLang="zh-CN" sz="6000" b="1" dirty="0">
                <a:solidFill>
                  <a:srgbClr val="002060"/>
                </a:solidFill>
                <a:latin typeface="微软雅黑" panose="020B0503020204020204" pitchFamily="34" charset="-122"/>
                <a:ea typeface="微软雅黑" panose="020B0503020204020204" pitchFamily="34" charset="-122"/>
              </a:rPr>
              <a:t>THANKS FOR LISTENING</a:t>
            </a:r>
            <a:endParaRPr kumimoji="1" lang="en-US" altLang="zh-CN" sz="6000"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2.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3.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4.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5.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6.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7.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8.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9.xml><?xml version="1.0" encoding="utf-8"?>
<p:tagLst xmlns:p="http://schemas.openxmlformats.org/presentationml/2006/main">
  <p:tag name="KSO_WM_DIAGRAM_VIRTUALLY_FRAME" val="{&quot;height&quot;:332.84039370078756,&quot;left&quot;:419.1497637795275,&quot;top&quot;:140.62984251968504,&quot;width&quot;:438.6502362204725}"/>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1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1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1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4_2*l_h_f*1_1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输入你的智能图形项正文，文字是您思想的提炼"/>
  <p:tag name="KSO_WM_DIAGRAM_USE_COLOR_VALUE" val="{&quot;color_scheme&quot;:1,&quot;color_type&quot;:1,&quot;theme_color_indexes&quot;:[5,6,5,6,5,6]}"/>
</p:tagLst>
</file>

<file path=ppt/tags/tag1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4_2*l_h_a*1_1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5,6,5,6,5,6]}"/>
</p:tagLst>
</file>

<file path=ppt/tags/tag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3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3"/>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3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3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24_2*l_h_f*1_3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输入你的智能图形项正文，文字是您思想的提炼"/>
  <p:tag name="KSO_WM_DIAGRAM_USE_COLOR_VALUE" val="{&quot;color_scheme&quot;:1,&quot;color_type&quot;:1,&quot;theme_color_indexes&quot;:[5,6,5,6,5,6]}"/>
</p:tagLst>
</file>

<file path=ppt/tags/tag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24_2*l_h_a*1_3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5,6,5,6,5,6]}"/>
</p:tagLst>
</file>

<file path=ppt/tags/tag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2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3"/>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2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2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4_2*l_h_f*1_2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根据需要可酌情增减文字，以便观者准确地理解您传达的思想"/>
  <p:tag name="KSO_WM_DIAGRAM_USE_COLOR_VALUE" val="{&quot;color_scheme&quot;:1,&quot;color_type&quot;:1,&quot;theme_color_indexes&quot;:[5,6,5,6,5,6]}"/>
</p:tagLst>
</file>

<file path=ppt/tags/tag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4_2*l_h_a*1_2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246.85000610351562,&quot;left&quot;:38.491943359375,&quot;top&quot;:79.07499694824219,&quot;width&quot;:894.549237742987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5,6,5,6,5,6]}"/>
</p:tagLst>
</file>

<file path=ppt/tags/tag25.xml><?xml version="1.0" encoding="utf-8"?>
<p:tagLst xmlns:p="http://schemas.openxmlformats.org/presentationml/2006/main">
  <p:tag name="resource_record_key" val="{&quot;10&quot;:[20090513,19968879,20081092,20235014],&quot;70&quot;:[331220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全部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3883</Words>
  <Application>WPS 演示</Application>
  <PresentationFormat>宽屏</PresentationFormat>
  <Paragraphs>188</Paragraphs>
  <Slides>24</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宋体</vt:lpstr>
      <vt:lpstr>Wingdings</vt:lpstr>
      <vt:lpstr>微软雅黑</vt:lpstr>
      <vt:lpstr>Arial</vt:lpstr>
      <vt:lpstr>Cambria Math</vt:lpstr>
      <vt:lpstr>Arial Unicode MS</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黄贤敏</cp:lastModifiedBy>
  <cp:revision>226</cp:revision>
  <dcterms:created xsi:type="dcterms:W3CDTF">2021-01-20T06:20:00Z</dcterms:created>
  <dcterms:modified xsi:type="dcterms:W3CDTF">2025-06-25T09:57:37Z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04670BD2C4214E92824E9929710B552B_13</vt:lpwstr>
  </property>
  <property fmtid="{D5CDD505-2E9C-101B-9397-08002B2CF9AE}" pid="3" name="KSOProductBuildVer">
    <vt:lpwstr>2052-12.1.0.19770</vt:lpwstr>
  </property>
</Properties>
</file>
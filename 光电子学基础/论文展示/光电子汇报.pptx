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62" r:id="rId3"/>
    <p:sldId id="264" r:id="rId5"/>
    <p:sldId id="324" r:id="rId6"/>
    <p:sldId id="325" r:id="rId7"/>
    <p:sldId id="326" r:id="rId8"/>
    <p:sldId id="327" r:id="rId9"/>
    <p:sldId id="328" r:id="rId10"/>
    <p:sldId id="329" r:id="rId11"/>
    <p:sldId id="330" r:id="rId12"/>
    <p:sldId id="332" r:id="rId13"/>
    <p:sldId id="331" r:id="rId14"/>
    <p:sldId id="333" r:id="rId15"/>
    <p:sldId id="334" r:id="rId16"/>
    <p:sldId id="335" r:id="rId17"/>
    <p:sldId id="336" r:id="rId18"/>
    <p:sldId id="337" r:id="rId19"/>
    <p:sldId id="338" r:id="rId20"/>
    <p:sldId id="339" r:id="rId21"/>
    <p:sldId id="340" r:id="rId22"/>
    <p:sldId id="342" r:id="rId23"/>
    <p:sldId id="341" r:id="rId24"/>
    <p:sldId id="343" r:id="rId25"/>
    <p:sldId id="363" r:id="rId26"/>
    <p:sldId id="364"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2"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3" autoAdjust="0"/>
    <p:restoredTop sz="77382" autoAdjust="0"/>
  </p:normalViewPr>
  <p:slideViewPr>
    <p:cSldViewPr snapToGrid="0">
      <p:cViewPr varScale="1">
        <p:scale>
          <a:sx n="90" d="100"/>
          <a:sy n="90" d="100"/>
        </p:scale>
        <p:origin x="464" y="64"/>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FED1A2-156A-BC42-8C4A-ED3D2D4A142D}"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98F8BD-0828-AC4D-B168-7A8D05BBD06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汇报分为</a:t>
            </a:r>
            <a:r>
              <a:rPr kumimoji="1" lang="en-US" altLang="zh-CN" dirty="0"/>
              <a:t>5</a:t>
            </a:r>
            <a:r>
              <a:rPr kumimoji="1" lang="zh-CN" altLang="en-US" dirty="0"/>
              <a:t>个部分</a:t>
            </a:r>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传统的台式光谱仪，虽然有很好的性能，但是存在很多限制。需要精确的对准和复杂的稳定系统</a:t>
            </a:r>
            <a:endParaRPr kumimoji="1" lang="en-US" altLang="zh-CN" dirty="0"/>
          </a:p>
          <a:p>
            <a:endParaRPr kumimoji="1" lang="en-US" altLang="zh-CN" dirty="0"/>
          </a:p>
          <a:p>
            <a:r>
              <a:rPr kumimoji="1" lang="zh-CN" altLang="en-US" dirty="0"/>
              <a:t>市场渗透率 紧凑型光谱仪</a:t>
            </a:r>
            <a:endParaRPr kumimoji="1" lang="en-US" altLang="zh-CN" dirty="0"/>
          </a:p>
          <a:p>
            <a:endParaRPr kumimoji="1" lang="en-US" altLang="zh-CN" dirty="0"/>
          </a:p>
          <a:p>
            <a:r>
              <a:rPr kumimoji="1" lang="zh-CN" altLang="en-US" dirty="0"/>
              <a:t>芯片级片上光谱仪优点</a:t>
            </a:r>
            <a:endParaRPr kumimoji="1" lang="en-US" altLang="zh-CN" dirty="0"/>
          </a:p>
          <a:p>
            <a:r>
              <a:rPr kumimoji="1" lang="zh-CN" altLang="en-US" dirty="0"/>
              <a:t>工艺容忍度，小分装，低功耗，集成潜力</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集成光谱仪的主要目标：获得高分辨率和大带宽</a:t>
            </a:r>
            <a:endParaRPr kumimoji="1" lang="en-US" altLang="zh-CN" dirty="0"/>
          </a:p>
          <a:p>
            <a:endParaRPr kumimoji="1" lang="en-US" altLang="zh-CN" dirty="0"/>
          </a:p>
          <a:p>
            <a:r>
              <a:rPr kumimoji="1" lang="zh-CN" altLang="en-US" dirty="0"/>
              <a:t>主要的挑战在于，如何在芯片级规模的大小空间上同时实现高分辨率和高带宽。</a:t>
            </a:r>
            <a:endParaRPr kumimoji="1" lang="en-US" altLang="zh-CN" dirty="0"/>
          </a:p>
          <a:p>
            <a:endParaRPr kumimoji="1" lang="en-US" altLang="zh-CN" dirty="0"/>
          </a:p>
          <a:p>
            <a:r>
              <a:rPr kumimoji="1" lang="zh-CN" altLang="en-US" dirty="0"/>
              <a:t>传统的方法的局限性：</a:t>
            </a:r>
            <a:endParaRPr kumimoji="1" lang="en-US" altLang="zh-CN" dirty="0"/>
          </a:p>
          <a:p>
            <a:r>
              <a:rPr kumimoji="1" lang="zh-CN" altLang="en-US" dirty="0"/>
              <a:t>复杂的调谐机制</a:t>
            </a:r>
            <a:endParaRPr kumimoji="1" lang="en-US" altLang="zh-CN" dirty="0"/>
          </a:p>
          <a:p>
            <a:r>
              <a:rPr kumimoji="1" lang="zh-CN" altLang="en-US" dirty="0"/>
              <a:t>需要巨大的芯片面积</a:t>
            </a:r>
            <a:endParaRPr kumimoji="1" lang="en-US" altLang="zh-CN" dirty="0"/>
          </a:p>
          <a:p>
            <a:r>
              <a:rPr kumimoji="1" lang="zh-CN" altLang="en-US" dirty="0"/>
              <a:t>需要较多的时间和能耗</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现有的解决方案存在的问题</a:t>
            </a:r>
            <a:endParaRPr kumimoji="1" lang="en-US" altLang="zh-CN" dirty="0"/>
          </a:p>
          <a:p>
            <a:endParaRPr kumimoji="1" lang="en-US" altLang="zh-CN" dirty="0"/>
          </a:p>
          <a:p>
            <a:r>
              <a:rPr kumimoji="1" lang="zh-CN" altLang="en-US" dirty="0"/>
              <a:t>由各种波导结构组成分散元件的方法：需要很大的芯片面积来积累路径差</a:t>
            </a:r>
            <a:endParaRPr kumimoji="1" lang="en-US" altLang="zh-CN" dirty="0"/>
          </a:p>
          <a:p>
            <a:endParaRPr kumimoji="1" lang="en-US" altLang="zh-CN" dirty="0"/>
          </a:p>
          <a:p>
            <a:r>
              <a:rPr kumimoji="1" lang="zh-CN" altLang="en-US" dirty="0"/>
              <a:t>窄带滤波器方案：能够实现很高的分辨率 但是需要大量精确校准的滤波器，对高带宽的支持不好</a:t>
            </a:r>
            <a:endParaRPr kumimoji="1" lang="en-US" altLang="zh-CN" dirty="0"/>
          </a:p>
          <a:p>
            <a:endParaRPr kumimoji="1" lang="en-US" altLang="zh-CN" dirty="0"/>
          </a:p>
          <a:p>
            <a:r>
              <a:rPr kumimoji="1" lang="zh-CN" altLang="en-US" dirty="0"/>
              <a:t>单个可调滤波器：但是主动调整会消耗太多的时间和力量</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重建型散斑光谱仪成为一个很有希望的实现高分辨和高带宽的解决方案</a:t>
            </a:r>
            <a:endParaRPr kumimoji="1" lang="en-US" altLang="zh-CN" dirty="0"/>
          </a:p>
          <a:p>
            <a:endParaRPr kumimoji="1" lang="en-US" altLang="zh-CN" dirty="0"/>
          </a:p>
          <a:p>
            <a:r>
              <a:rPr kumimoji="1" lang="zh-CN" altLang="en-US" dirty="0"/>
              <a:t>基于波长相关散斑图案</a:t>
            </a:r>
            <a:endParaRPr kumimoji="1" lang="en-US" altLang="zh-CN" dirty="0"/>
          </a:p>
          <a:p>
            <a:endParaRPr kumimoji="1" lang="en-US" altLang="zh-CN" dirty="0"/>
          </a:p>
          <a:p>
            <a:r>
              <a:rPr kumimoji="1" lang="zh-CN" altLang="en-US" dirty="0"/>
              <a:t>可以很好地解决高分辨率和宽带之间的权衡问题</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我们提出了一种基于被动片上衍射超表面的单次光谱仪，具有以下特点</a:t>
            </a:r>
            <a:endParaRPr kumimoji="1" lang="en-US" altLang="zh-CN" dirty="0"/>
          </a:p>
          <a:p>
            <a:endParaRPr kumimoji="1" lang="en-US" altLang="zh-CN" dirty="0"/>
          </a:p>
          <a:p>
            <a:r>
              <a:rPr kumimoji="1" lang="zh-CN" altLang="en-US" dirty="0"/>
              <a:t>使用超表面制造带有丰富光谱信息的散斑</a:t>
            </a:r>
            <a:endParaRPr kumimoji="1" lang="en-US" altLang="zh-CN" dirty="0"/>
          </a:p>
          <a:p>
            <a:endParaRPr kumimoji="1" lang="en-US" altLang="zh-CN" dirty="0"/>
          </a:p>
          <a:p>
            <a:r>
              <a:rPr kumimoji="1" lang="zh-CN" altLang="en-US" dirty="0"/>
              <a:t>使用三层超表面散射结构，来提升光谱通道</a:t>
            </a:r>
            <a:endParaRPr kumimoji="1" lang="en-US" altLang="zh-CN" dirty="0"/>
          </a:p>
          <a:p>
            <a:endParaRPr kumimoji="1" lang="en-US" altLang="zh-CN" dirty="0"/>
          </a:p>
          <a:p>
            <a:r>
              <a:rPr kumimoji="1" lang="zh-CN" altLang="en-US" dirty="0"/>
              <a:t>通过 宽光栅耦合器 将</a:t>
            </a:r>
            <a:r>
              <a:rPr kumimoji="1" lang="en-US" altLang="zh-CN" dirty="0"/>
              <a:t>1</a:t>
            </a:r>
            <a:r>
              <a:rPr kumimoji="1" lang="zh-CN" altLang="en-US" dirty="0"/>
              <a:t>维散斑转换为</a:t>
            </a:r>
            <a:r>
              <a:rPr kumimoji="1" lang="en-US" altLang="zh-CN" dirty="0"/>
              <a:t>2</a:t>
            </a:r>
            <a:r>
              <a:rPr kumimoji="1" lang="zh-CN" altLang="en-US" dirty="0"/>
              <a:t>维，提高检测通道</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我们提出的光谱仪在非常小的封装面积下，实现了高分辨率和高带宽，创造了目前最高记录的光谱通道密度</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下面先介绍一下我们的设计和方法</a:t>
            </a:r>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光谱仪设计在绝缘体上硅（</a:t>
            </a:r>
            <a:r>
              <a:rPr kumimoji="1" lang="en-US" altLang="zh-CN" dirty="0"/>
              <a:t>SOI</a:t>
            </a:r>
            <a:r>
              <a:rPr kumimoji="1" lang="zh-CN" altLang="en-US" dirty="0"/>
              <a:t>）平台上，该平台具有</a:t>
            </a:r>
            <a:r>
              <a:rPr kumimoji="1" lang="en-US" altLang="zh-CN" dirty="0"/>
              <a:t>220 nm</a:t>
            </a:r>
            <a:r>
              <a:rPr kumimoji="1" lang="zh-CN" altLang="en-US" dirty="0"/>
              <a:t>的硅盖层和</a:t>
            </a:r>
            <a:r>
              <a:rPr kumimoji="1" lang="en-US" altLang="zh-CN" dirty="0"/>
              <a:t>2μm</a:t>
            </a:r>
            <a:r>
              <a:rPr kumimoji="1" lang="zh-CN" altLang="en-US" dirty="0"/>
              <a:t>的埋入氧化物层。</a:t>
            </a:r>
            <a:endParaRPr kumimoji="1" lang="en-US" altLang="zh-CN" dirty="0"/>
          </a:p>
          <a:p>
            <a:endParaRPr kumimoji="1" lang="en-US" altLang="zh-CN" dirty="0"/>
          </a:p>
          <a:p>
            <a:r>
              <a:rPr kumimoji="1" lang="en-US" altLang="zh-CN" dirty="0"/>
              <a:t>SOI</a:t>
            </a:r>
            <a:r>
              <a:rPr kumimoji="1" lang="zh-CN" altLang="en-US" dirty="0"/>
              <a:t>平台上，我们制造了三条超表面，由</a:t>
            </a:r>
            <a:r>
              <a:rPr kumimoji="1" lang="en-US" altLang="zh-CN" dirty="0"/>
              <a:t>1D</a:t>
            </a:r>
            <a:r>
              <a:rPr kumimoji="1" lang="zh-CN" altLang="en-US" dirty="0"/>
              <a:t>蚀刻凹槽阵列组成</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超表面是指一种具有亚波长特征的人造片材      调节电磁波的行为</a:t>
            </a:r>
            <a:endParaRPr kumimoji="1" lang="en-US" altLang="zh-CN" dirty="0"/>
          </a:p>
          <a:p>
            <a:endParaRPr kumimoji="1" lang="en-US" altLang="zh-CN" dirty="0"/>
          </a:p>
          <a:p>
            <a:r>
              <a:rPr kumimoji="1" lang="zh-CN" altLang="en-US" dirty="0"/>
              <a:t>超表面可以通过光</a:t>
            </a:r>
            <a:r>
              <a:rPr kumimoji="1" lang="en-US" altLang="zh-CN" dirty="0"/>
              <a:t>-</a:t>
            </a:r>
            <a:r>
              <a:rPr kumimoji="1" lang="zh-CN" altLang="en-US" dirty="0"/>
              <a:t>物质相互作用改变振幅，并在亚波长尺度内对入射波施加突变相移，从而更有效地实现波阵面调制</a:t>
            </a:r>
            <a:endParaRPr kumimoji="1" lang="en-US" altLang="zh-CN" dirty="0"/>
          </a:p>
          <a:p>
            <a:endParaRPr kumimoji="1" lang="en-US" altLang="zh-CN" dirty="0"/>
          </a:p>
          <a:p>
            <a:r>
              <a:rPr kumimoji="1" lang="zh-CN" altLang="en-US" dirty="0"/>
              <a:t>传统透镜和超表面</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我们设计的超表面</a:t>
            </a:r>
            <a:endParaRPr kumimoji="1" lang="en-US" altLang="zh-CN" dirty="0"/>
          </a:p>
          <a:p>
            <a:endParaRPr kumimoji="1" lang="en-US" altLang="zh-CN" dirty="0"/>
          </a:p>
          <a:p>
            <a:r>
              <a:rPr lang="en-US" altLang="zh-CN" b="0" i="0" dirty="0">
                <a:solidFill>
                  <a:srgbClr val="060607"/>
                </a:solidFill>
                <a:effectLst/>
                <a:latin typeface="inherit"/>
              </a:rPr>
              <a:t>subwavelength scale to </a:t>
            </a:r>
            <a:r>
              <a:rPr lang="en-US" altLang="zh-CN" b="1" i="0" dirty="0">
                <a:solidFill>
                  <a:srgbClr val="060607"/>
                </a:solidFill>
                <a:effectLst/>
                <a:latin typeface="inherit"/>
              </a:rPr>
              <a:t>minimize the optical losses</a:t>
            </a:r>
            <a:endParaRPr lang="en-US" altLang="zh-CN" b="1" i="0" dirty="0">
              <a:solidFill>
                <a:srgbClr val="060607"/>
              </a:solidFill>
              <a:effectLst/>
              <a:latin typeface="inherit"/>
            </a:endParaRPr>
          </a:p>
          <a:p>
            <a:endParaRPr kumimoji="1" lang="en-US" altLang="zh-CN" b="1" i="0" dirty="0">
              <a:solidFill>
                <a:srgbClr val="060607"/>
              </a:solidFill>
              <a:effectLst/>
              <a:latin typeface="inherit"/>
            </a:endParaRPr>
          </a:p>
          <a:p>
            <a:r>
              <a:rPr kumimoji="1" lang="zh-CN" altLang="en-US" b="1" i="0" dirty="0">
                <a:solidFill>
                  <a:srgbClr val="060607"/>
                </a:solidFill>
                <a:effectLst/>
                <a:latin typeface="inherit"/>
              </a:rPr>
              <a:t>高透射率 </a:t>
            </a:r>
            <a:r>
              <a:rPr kumimoji="1" lang="en-US" altLang="zh-CN" b="1" i="0" dirty="0">
                <a:solidFill>
                  <a:srgbClr val="060607"/>
                </a:solidFill>
                <a:effectLst/>
                <a:latin typeface="inherit"/>
              </a:rPr>
              <a:t>100nm</a:t>
            </a:r>
            <a:r>
              <a:rPr kumimoji="1" lang="zh-CN" altLang="en-US" b="1" i="0" dirty="0">
                <a:solidFill>
                  <a:srgbClr val="060607"/>
                </a:solidFill>
                <a:effectLst/>
                <a:latin typeface="inherit"/>
              </a:rPr>
              <a:t>带宽上</a:t>
            </a:r>
            <a:endParaRPr kumimoji="1" lang="en-US" altLang="zh-CN" b="1" i="0" dirty="0">
              <a:solidFill>
                <a:srgbClr val="060607"/>
              </a:solidFill>
              <a:effectLst/>
              <a:latin typeface="inherit"/>
            </a:endParaRPr>
          </a:p>
          <a:p>
            <a:endParaRPr kumimoji="1" lang="en-US" altLang="zh-CN" b="1" i="0" dirty="0">
              <a:solidFill>
                <a:srgbClr val="060607"/>
              </a:solidFill>
              <a:effectLst/>
              <a:latin typeface="inherit"/>
            </a:endParaRPr>
          </a:p>
          <a:p>
            <a:r>
              <a:rPr kumimoji="1" lang="zh-CN" altLang="en-US" b="1" i="0" dirty="0">
                <a:solidFill>
                  <a:srgbClr val="060607"/>
                </a:solidFill>
                <a:effectLst/>
                <a:latin typeface="inherit"/>
              </a:rPr>
              <a:t>相位调控</a:t>
            </a:r>
            <a:endParaRPr kumimoji="1" lang="en-US" altLang="zh-CN" b="1" i="0" dirty="0">
              <a:solidFill>
                <a:srgbClr val="060607"/>
              </a:solidFill>
              <a:effectLst/>
              <a:latin typeface="inherit"/>
            </a:endParaRPr>
          </a:p>
          <a:p>
            <a:endParaRPr kumimoji="1" lang="en-US" altLang="zh-CN" b="1" i="0" dirty="0">
              <a:solidFill>
                <a:srgbClr val="060607"/>
              </a:solidFill>
              <a:effectLst/>
              <a:latin typeface="inherit"/>
            </a:endParaRPr>
          </a:p>
          <a:p>
            <a:r>
              <a:rPr kumimoji="1" lang="zh-CN" altLang="en-US" dirty="0"/>
              <a:t>工艺兼容</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随机相位调控</a:t>
            </a:r>
            <a:endParaRPr kumimoji="1" lang="en-US" altLang="zh-CN" dirty="0"/>
          </a:p>
          <a:p>
            <a:endParaRPr kumimoji="1" lang="en-US" altLang="zh-CN" dirty="0"/>
          </a:p>
          <a:p>
            <a:r>
              <a:rPr kumimoji="1" lang="zh-CN" altLang="en-US" dirty="0"/>
              <a:t>有随机变化的槽长的超表面可以创建无序的相位掩模，以扰乱光谱相关的衍射。</a:t>
            </a:r>
            <a:endParaRPr kumimoji="1" lang="en-US" altLang="zh-CN" dirty="0"/>
          </a:p>
          <a:p>
            <a:endParaRPr kumimoji="1" lang="en-US" altLang="zh-CN" dirty="0"/>
          </a:p>
          <a:p>
            <a:r>
              <a:rPr lang="en-US" altLang="zh-CN" dirty="0">
                <a:latin typeface="Times New Roman" panose="02020603050405020304" pitchFamily="18" charset="0"/>
                <a:ea typeface="微软雅黑" panose="020B0503020204020204" charset="-122"/>
                <a:cs typeface="Times New Roman" panose="02020603050405020304" pitchFamily="18" charset="0"/>
              </a:rPr>
              <a:t>FDTD</a:t>
            </a:r>
            <a:r>
              <a:rPr kumimoji="1" lang="zh-CN" altLang="en-US" dirty="0">
                <a:latin typeface="Times New Roman" panose="02020603050405020304" pitchFamily="18" charset="0"/>
                <a:ea typeface="微软雅黑" panose="020B0503020204020204" charset="-122"/>
                <a:cs typeface="Times New Roman" panose="02020603050405020304" pitchFamily="18" charset="0"/>
              </a:rPr>
              <a:t>数值模拟</a:t>
            </a:r>
            <a:endParaRPr kumimoji="1" lang="en-US" altLang="zh-CN" dirty="0">
              <a:latin typeface="Times New Roman" panose="02020603050405020304" pitchFamily="18" charset="0"/>
              <a:ea typeface="微软雅黑" panose="020B0503020204020204" charset="-122"/>
              <a:cs typeface="Times New Roman" panose="02020603050405020304" pitchFamily="18" charset="0"/>
            </a:endParaRPr>
          </a:p>
          <a:p>
            <a:endParaRPr kumimoji="1" lang="en-US" altLang="zh-CN" dirty="0">
              <a:latin typeface="Times New Roman" panose="02020603050405020304" pitchFamily="18" charset="0"/>
              <a:ea typeface="微软雅黑" panose="020B0503020204020204" charset="-122"/>
              <a:cs typeface="Times New Roman" panose="02020603050405020304" pitchFamily="18" charset="0"/>
            </a:endParaRPr>
          </a:p>
          <a:p>
            <a:r>
              <a:rPr kumimoji="1" lang="zh-CN" altLang="en-US" dirty="0"/>
              <a:t>结果表明，光波具有深度衍射行为，最终在级联超表面的输出平面上产生散斑图案</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来自超表面的相位调制可以通过相干干涉在输出平面转换为强度散斑。</a:t>
            </a:r>
            <a:endParaRPr kumimoji="1" lang="en-US" altLang="zh-CN" dirty="0"/>
          </a:p>
          <a:p>
            <a:endParaRPr kumimoji="1" lang="en-US" altLang="zh-CN" dirty="0"/>
          </a:p>
          <a:p>
            <a:r>
              <a:rPr kumimoji="1" lang="zh-CN" altLang="en-US" dirty="0"/>
              <a:t>相位到散斑强度调制转换具有随机行为，最终会扰乱散斑图案中的光谱信息</a:t>
            </a:r>
            <a:endParaRPr kumimoji="1" lang="en-US" altLang="zh-CN" dirty="0"/>
          </a:p>
          <a:p>
            <a:endParaRPr kumimoji="1" lang="en-US" altLang="zh-CN" dirty="0"/>
          </a:p>
          <a:p>
            <a:r>
              <a:rPr kumimoji="1" lang="zh-CN" altLang="en-US" dirty="0"/>
              <a:t>三层衍射超表面级联，以增加指纹的光谱丰富度以及有效干扰路径长度</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光栅耦合器 将</a:t>
            </a:r>
            <a:r>
              <a:rPr kumimoji="1" lang="en-US" altLang="zh-CN" dirty="0"/>
              <a:t>1D</a:t>
            </a:r>
            <a:r>
              <a:rPr kumimoji="1" lang="zh-CN" altLang="en-US" dirty="0"/>
              <a:t>散斑衍射，转化为</a:t>
            </a:r>
            <a:r>
              <a:rPr kumimoji="1" lang="en-US" altLang="zh-CN" dirty="0"/>
              <a:t>2</a:t>
            </a:r>
            <a:r>
              <a:rPr kumimoji="1" lang="zh-CN" altLang="en-US" dirty="0"/>
              <a:t>为散斑</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光栅耦合器，耦合光束</a:t>
            </a:r>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对散斑进行采样</a:t>
            </a:r>
            <a:endParaRPr kumimoji="1" lang="en-US" altLang="zh-CN" dirty="0"/>
          </a:p>
          <a:p>
            <a:endParaRPr kumimoji="1" lang="en-US" altLang="zh-CN" dirty="0"/>
          </a:p>
          <a:p>
            <a:r>
              <a:rPr kumimoji="1" lang="zh-CN" altLang="en-US" dirty="0"/>
              <a:t>使用红外相机对散斑进行采样</a:t>
            </a:r>
            <a:endParaRPr kumimoji="1" lang="en-US" altLang="zh-CN" dirty="0"/>
          </a:p>
          <a:p>
            <a:endParaRPr kumimoji="1" lang="en-US" altLang="zh-CN" dirty="0"/>
          </a:p>
          <a:p>
            <a:r>
              <a:rPr kumimoji="1" lang="zh-CN" altLang="en-US" dirty="0"/>
              <a:t>相比于</a:t>
            </a:r>
            <a:r>
              <a:rPr kumimoji="1" lang="en-US" altLang="zh-CN" dirty="0"/>
              <a:t>1D,2D</a:t>
            </a:r>
            <a:r>
              <a:rPr kumimoji="1" lang="zh-CN" altLang="en-US" dirty="0"/>
              <a:t>散斑有更多的检测通道用于光谱重建</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在介绍光谱重建之前，先讲一下基本原理</a:t>
            </a:r>
            <a:endParaRPr kumimoji="1" lang="en-US" altLang="zh-CN" dirty="0"/>
          </a:p>
          <a:p>
            <a:endParaRPr kumimoji="1" lang="en-US" altLang="zh-CN" dirty="0"/>
          </a:p>
          <a:p>
            <a:r>
              <a:rPr kumimoji="1" lang="zh-CN" altLang="en-US" dirty="0"/>
              <a:t>校准</a:t>
            </a:r>
            <a:endParaRPr kumimoji="1" lang="en-US" altLang="zh-CN" dirty="0"/>
          </a:p>
          <a:p>
            <a:endParaRPr kumimoji="1" lang="en-US" altLang="zh-CN" dirty="0"/>
          </a:p>
          <a:p>
            <a:r>
              <a:rPr kumimoji="1" lang="zh-CN" altLang="en-US" dirty="0"/>
              <a:t>光谱测量</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图片是不同</a:t>
            </a:r>
            <a:r>
              <a:rPr kumimoji="1" lang="en-US" altLang="zh-CN" dirty="0"/>
              <a:t>nm</a:t>
            </a:r>
            <a:r>
              <a:rPr kumimoji="1" lang="zh-CN" altLang="en-US" dirty="0"/>
              <a:t>下采样得到的图像</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对采样的图像做一些图形处理</a:t>
            </a:r>
            <a:endParaRPr kumimoji="1" lang="en-US" altLang="zh-CN" dirty="0"/>
          </a:p>
          <a:p>
            <a:endParaRPr kumimoji="1" lang="en-US" altLang="zh-CN" dirty="0"/>
          </a:p>
          <a:p>
            <a:r>
              <a:rPr kumimoji="1" lang="zh-CN" altLang="en-US" dirty="0"/>
              <a:t>背景减法，量化，</a:t>
            </a:r>
            <a:endParaRPr kumimoji="1" lang="en-US" altLang="zh-CN" dirty="0"/>
          </a:p>
          <a:p>
            <a:endParaRPr kumimoji="1" lang="en-US" altLang="zh-CN" dirty="0"/>
          </a:p>
          <a:p>
            <a:r>
              <a:rPr kumimoji="1" lang="zh-CN" altLang="en-US" dirty="0"/>
              <a:t>图像分割以保留富含斑点的区域，有效地消除了无关紧要的背景噪声并提高了后续数据处理的效率和精度</a:t>
            </a:r>
            <a:endParaRPr kumimoji="1" lang="en-US" altLang="zh-CN" dirty="0"/>
          </a:p>
          <a:p>
            <a:endParaRPr kumimoji="1" lang="en-US" altLang="zh-CN" dirty="0"/>
          </a:p>
          <a:p>
            <a:r>
              <a:rPr kumimoji="1" lang="zh-CN" altLang="en-US" dirty="0"/>
              <a:t>图像过滤：图像中存在的噪声会损害重建精度，特别是对于具有宽带和窄带特征的光谱。为了减轻这种情况，应用中值过滤</a:t>
            </a:r>
            <a:endParaRPr kumimoji="1" lang="en-US" altLang="zh-CN" dirty="0"/>
          </a:p>
          <a:p>
            <a:endParaRPr kumimoji="1" lang="en-US" altLang="zh-CN" dirty="0"/>
          </a:p>
          <a:p>
            <a:r>
              <a:rPr kumimoji="1" lang="en-US" altLang="zh-CN" dirty="0"/>
              <a:t>13×13</a:t>
            </a:r>
            <a:r>
              <a:rPr kumimoji="1" lang="zh-CN" altLang="en-US" dirty="0"/>
              <a:t>的卷积内核来优化传输矩阵的生成。</a:t>
            </a:r>
            <a:endParaRPr kumimoji="1" lang="en-US" altLang="zh-CN" dirty="0"/>
          </a:p>
          <a:p>
            <a:endParaRPr kumimoji="1" lang="en-US" altLang="zh-CN" dirty="0"/>
          </a:p>
          <a:p>
            <a:r>
              <a:rPr kumimoji="1" lang="zh-CN" altLang="en-US" dirty="0"/>
              <a:t>最后合成矩阵</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1200" dirty="0">
                <a:latin typeface="Times New Roman" panose="02020603050405020304" pitchFamily="18" charset="0"/>
                <a:cs typeface="Times New Roman" panose="02020603050405020304" pitchFamily="18" charset="0"/>
              </a:rPr>
              <a:t>传输矩阵对环境噪声敏感，提高鲁棒性</a:t>
            </a:r>
            <a:endParaRPr kumimoji="1" lang="en-US" altLang="zh-CN" sz="1200" dirty="0">
              <a:latin typeface="Times New Roman" panose="02020603050405020304" pitchFamily="18" charset="0"/>
              <a:cs typeface="Times New Roman" panose="02020603050405020304" pitchFamily="18" charset="0"/>
            </a:endParaRPr>
          </a:p>
          <a:p>
            <a:endParaRPr kumimoji="1" lang="en-US" altLang="zh-CN" sz="1200" dirty="0">
              <a:latin typeface="Times New Roman" panose="02020603050405020304" pitchFamily="18" charset="0"/>
              <a:cs typeface="Times New Roman" panose="02020603050405020304" pitchFamily="18" charset="0"/>
            </a:endParaRPr>
          </a:p>
          <a:p>
            <a:endParaRPr kumimoji="1" lang="en-US" altLang="zh-CN" sz="12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压缩感知算法</a:t>
            </a:r>
            <a:endParaRPr kumimoji="1" lang="en-US" altLang="zh-CN" dirty="0"/>
          </a:p>
          <a:p>
            <a:endParaRPr kumimoji="1" lang="en-US" altLang="zh-CN" dirty="0"/>
          </a:p>
          <a:p>
            <a:r>
              <a:rPr kumimoji="1" lang="zh-CN" altLang="en-US" dirty="0"/>
              <a:t>一种从比信号空间维数更少的测量值重建稀疏信号的方法</a:t>
            </a:r>
            <a:endParaRPr kumimoji="1" lang="en-US" altLang="zh-CN" dirty="0"/>
          </a:p>
          <a:p>
            <a:endParaRPr kumimoji="1" lang="en-US" altLang="zh-CN" dirty="0"/>
          </a:p>
          <a:p>
            <a:endParaRPr kumimoji="1" lang="en-US" altLang="zh-CN" dirty="0"/>
          </a:p>
          <a:p>
            <a:endParaRPr kumimoji="1" lang="en-US" altLang="zh-CN" dirty="0"/>
          </a:p>
          <a:p>
            <a:r>
              <a:rPr kumimoji="1" lang="en-US" altLang="zh-CN" dirty="0"/>
              <a:t>Why it work</a:t>
            </a:r>
            <a:endParaRPr kumimoji="1" lang="en-US" altLang="zh-CN" dirty="0"/>
          </a:p>
          <a:p>
            <a:r>
              <a:rPr kumimoji="1" lang="zh-CN" altLang="en-US" dirty="0"/>
              <a:t>减少测量值的需要</a:t>
            </a:r>
            <a:endParaRPr kumimoji="1" lang="en-US" altLang="zh-CN" dirty="0"/>
          </a:p>
          <a:p>
            <a:r>
              <a:rPr kumimoji="1" lang="zh-CN" altLang="en-US" dirty="0"/>
              <a:t>较好的鲁棒性</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cs typeface="Times New Roman" panose="02020603050405020304" pitchFamily="18" charset="0"/>
              </a:rPr>
              <a:t>spectral correlation function</a:t>
            </a:r>
            <a:endParaRPr lang="en-US" altLang="zh-CN" dirty="0">
              <a:latin typeface="Times New Roman" panose="02020603050405020304" pitchFamily="18" charset="0"/>
              <a:cs typeface="Times New Roman" panose="02020603050405020304" pitchFamily="18" charset="0"/>
            </a:endParaRPr>
          </a:p>
          <a:p>
            <a:endParaRPr kumimoji="1" lang="en-US" altLang="zh-CN" dirty="0">
              <a:latin typeface="Times New Roman" panose="02020603050405020304" pitchFamily="18" charset="0"/>
              <a:cs typeface="Times New Roman" panose="02020603050405020304" pitchFamily="18" charset="0"/>
            </a:endParaRPr>
          </a:p>
          <a:p>
            <a:r>
              <a:rPr kumimoji="1" lang="zh-CN" altLang="en-US" dirty="0"/>
              <a:t>半峰半宽 意味着将光谱相关性减半所需的最小波长偏移</a:t>
            </a:r>
            <a:endParaRPr kumimoji="1" lang="en-US" altLang="zh-CN" dirty="0"/>
          </a:p>
          <a:p>
            <a:endParaRPr kumimoji="1" lang="en-US" altLang="zh-CN" dirty="0"/>
          </a:p>
          <a:p>
            <a:r>
              <a:rPr kumimoji="1" lang="zh-CN" altLang="en-US" dirty="0"/>
              <a:t>我们的光谱仪理论</a:t>
            </a:r>
            <a:r>
              <a:rPr lang="zh-CN" altLang="en-US" b="1" dirty="0">
                <a:latin typeface="微软雅黑" panose="020B0503020204020204" charset="-122"/>
                <a:ea typeface="微软雅黑" panose="020B0503020204020204" charset="-122"/>
              </a:rPr>
              <a:t>𝛿𝜆 </a:t>
            </a:r>
            <a:r>
              <a:rPr lang="en-US" altLang="zh-CN" b="1" dirty="0">
                <a:latin typeface="微软雅黑" panose="020B0503020204020204" charset="-122"/>
                <a:ea typeface="微软雅黑" panose="020B0503020204020204" charset="-122"/>
              </a:rPr>
              <a:t>= 43.5pm</a:t>
            </a:r>
            <a:r>
              <a:rPr lang="zh-CN" altLang="en-US" b="1" dirty="0">
                <a:latin typeface="微软雅黑" panose="020B0503020204020204" charset="-122"/>
                <a:ea typeface="微软雅黑" panose="020B0503020204020204" charset="-122"/>
              </a:rPr>
              <a:t>分辨率</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我们光谱仪重构的输出和商用高精度光谱仪的输出做一个对比</a:t>
            </a:r>
            <a:endParaRPr kumimoji="1" lang="en-US" altLang="zh-CN" dirty="0"/>
          </a:p>
          <a:p>
            <a:endParaRPr kumimoji="1" lang="en-US" altLang="zh-CN" dirty="0"/>
          </a:p>
          <a:p>
            <a:r>
              <a:rPr kumimoji="1" lang="zh-CN" altLang="en-US" dirty="0"/>
              <a:t>首先是分辨率，基本接近我们的理论分辨率</a:t>
            </a:r>
            <a:endParaRPr kumimoji="1" lang="en-US" altLang="zh-CN" dirty="0"/>
          </a:p>
          <a:p>
            <a:endParaRPr kumimoji="1" lang="en-US" altLang="zh-CN" dirty="0"/>
          </a:p>
          <a:p>
            <a:r>
              <a:rPr kumimoji="1" lang="zh-CN" altLang="en-US" dirty="0"/>
              <a:t>带宽验证 通过两个波峰和 可调激光器产生的转移光谱线</a:t>
            </a:r>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对多峰光谱的验证</a:t>
            </a:r>
            <a:endParaRPr kumimoji="1" lang="en-US" altLang="zh-CN" dirty="0"/>
          </a:p>
          <a:p>
            <a:endParaRPr kumimoji="1" lang="en-US" altLang="zh-CN" dirty="0"/>
          </a:p>
          <a:p>
            <a:r>
              <a:rPr kumimoji="1" lang="zh-CN" altLang="en-US" dirty="0"/>
              <a:t>对连续谱的验证</a:t>
            </a:r>
            <a:endParaRPr kumimoji="1" lang="en-US" altLang="zh-CN" dirty="0"/>
          </a:p>
          <a:p>
            <a:endParaRPr kumimoji="1" lang="en-US" altLang="zh-CN" dirty="0"/>
          </a:p>
          <a:p>
            <a:r>
              <a:rPr kumimoji="1" lang="zh-CN" altLang="en-US" dirty="0"/>
              <a:t>结果显示：</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重构精度</a:t>
            </a:r>
            <a:endParaRPr kumimoji="1" lang="en-US" altLang="zh-CN" dirty="0"/>
          </a:p>
          <a:p>
            <a:endParaRPr kumimoji="1" lang="en-US" altLang="zh-CN" dirty="0"/>
          </a:p>
          <a:p>
            <a:r>
              <a:rPr kumimoji="1" lang="zh-CN" altLang="en-US" dirty="0"/>
              <a:t>通过计算和参考光谱的相对误差来评判</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性能参数</a:t>
            </a:r>
            <a:endParaRPr kumimoji="1" lang="en-US" altLang="zh-CN" dirty="0"/>
          </a:p>
          <a:p>
            <a:endParaRPr kumimoji="1" lang="en-US" altLang="zh-CN" dirty="0"/>
          </a:p>
          <a:p>
            <a:r>
              <a:rPr kumimoji="1" lang="zh-CN" altLang="en-US" dirty="0"/>
              <a:t>高光谱通道密度</a:t>
            </a:r>
            <a:endParaRPr kumimoji="1" lang="en-US" altLang="zh-CN" dirty="0"/>
          </a:p>
          <a:p>
            <a:endParaRPr kumimoji="1" lang="en-US" altLang="zh-CN" dirty="0"/>
          </a:p>
          <a:p>
            <a:r>
              <a:rPr kumimoji="1" lang="zh-CN" altLang="en-US" dirty="0"/>
              <a:t>很好的时效性</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下面是对我们论文中方法的一些讨论</a:t>
            </a:r>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对多层级联的超表面做一个评估</a:t>
            </a:r>
            <a:endParaRPr kumimoji="1" lang="en-US" altLang="zh-CN" dirty="0"/>
          </a:p>
          <a:p>
            <a:endParaRPr kumimoji="1" lang="en-US" altLang="zh-CN" dirty="0"/>
          </a:p>
          <a:p>
            <a:r>
              <a:rPr kumimoji="1" lang="zh-CN" altLang="en-US" dirty="0"/>
              <a:t>可以看到级联的超表面可以显著提升</a:t>
            </a:r>
            <a:r>
              <a:rPr kumimoji="1" lang="en-US" altLang="zh-CN" dirty="0"/>
              <a:t>HWHM</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对一维和二维散斑对比</a:t>
            </a:r>
            <a:endParaRPr kumimoji="1" lang="en-US" altLang="zh-CN" dirty="0"/>
          </a:p>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对制造误差的分析</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对制造一致性的分析</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可扩展性分析</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单次发射光谱仪最新进展总结</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最后简单总结一下我们的工作</a:t>
            </a:r>
            <a:endParaRPr kumimoji="1" lang="en-US" altLang="zh-CN" dirty="0"/>
          </a:p>
          <a:p>
            <a:endParaRPr kumimoji="1" lang="en-US" altLang="zh-CN" dirty="0"/>
          </a:p>
          <a:p>
            <a:r>
              <a:rPr kumimoji="1" lang="zh-CN" altLang="en-US" dirty="0"/>
              <a:t>对小型化和集成光谱传感器的需求不断增长</a:t>
            </a:r>
            <a:endParaRPr kumimoji="1" lang="en-US" altLang="zh-CN" dirty="0"/>
          </a:p>
          <a:p>
            <a:r>
              <a:rPr kumimoji="1" lang="zh-CN" altLang="en-US" dirty="0"/>
              <a:t>主要挑战：光谱分辨率和带宽之间的权衡</a:t>
            </a:r>
            <a:endParaRPr kumimoji="1" lang="en-US" altLang="zh-CN" dirty="0"/>
          </a:p>
          <a:p>
            <a:r>
              <a:rPr kumimoji="1" lang="zh-CN" altLang="en-US" dirty="0"/>
              <a:t>所有无源片上衍射超表面</a:t>
            </a:r>
            <a:endParaRPr kumimoji="1" lang="en-US" altLang="zh-CN" dirty="0"/>
          </a:p>
          <a:p>
            <a:r>
              <a:rPr kumimoji="1" lang="zh-CN" altLang="en-US" dirty="0"/>
              <a:t>三层元表面级联：增加指纹的光谱丰富度</a:t>
            </a:r>
            <a:endParaRPr kumimoji="1" lang="en-US" altLang="zh-CN" dirty="0"/>
          </a:p>
          <a:p>
            <a:r>
              <a:rPr kumimoji="1" lang="zh-CN" altLang="en-US" dirty="0"/>
              <a:t>多模光栅耦合器：衍射出</a:t>
            </a:r>
            <a:r>
              <a:rPr kumimoji="1" lang="en-US" altLang="zh-CN" dirty="0"/>
              <a:t>1D</a:t>
            </a:r>
            <a:r>
              <a:rPr kumimoji="1" lang="zh-CN" altLang="en-US" dirty="0"/>
              <a:t>散斑图案并将其转换为</a:t>
            </a:r>
            <a:r>
              <a:rPr kumimoji="1" lang="en-US" altLang="zh-CN" dirty="0"/>
              <a:t>2D</a:t>
            </a:r>
            <a:r>
              <a:rPr kumimoji="1" lang="zh-CN" altLang="en-US" dirty="0"/>
              <a:t>散斑图案</a:t>
            </a:r>
            <a:endParaRPr kumimoji="1" lang="en-US" altLang="zh-CN" dirty="0"/>
          </a:p>
          <a:p>
            <a:r>
              <a:rPr kumimoji="1" lang="zh-CN" altLang="en-US" dirty="0"/>
              <a:t>光谱仪的校准</a:t>
            </a:r>
            <a:endParaRPr kumimoji="1" lang="en-US" altLang="zh-CN" dirty="0"/>
          </a:p>
          <a:p>
            <a:r>
              <a:rPr kumimoji="1" lang="zh-CN" altLang="en-US" dirty="0"/>
              <a:t>光谱重建：基于</a:t>
            </a:r>
            <a:r>
              <a:rPr kumimoji="1" lang="en-US" altLang="zh-CN" dirty="0"/>
              <a:t>CVX</a:t>
            </a:r>
            <a:r>
              <a:rPr kumimoji="1" lang="zh-CN" altLang="en-US" dirty="0"/>
              <a:t>（凸）优化的压缩感知方法</a:t>
            </a:r>
            <a:endParaRPr kumimoji="1" lang="en-US" altLang="zh-CN" dirty="0"/>
          </a:p>
          <a:p>
            <a:r>
              <a:rPr kumimoji="1" lang="zh-CN" altLang="en-US" dirty="0"/>
              <a:t>通过标准硅光子代工厂采用</a:t>
            </a:r>
            <a:r>
              <a:rPr kumimoji="1" lang="en-US" altLang="zh-CN" dirty="0"/>
              <a:t>CMOS</a:t>
            </a:r>
            <a:r>
              <a:rPr kumimoji="1" lang="zh-CN" altLang="en-US" dirty="0"/>
              <a:t>兼容工艺制造</a:t>
            </a:r>
            <a:endParaRPr kumimoji="1" lang="en-US" altLang="zh-CN" dirty="0"/>
          </a:p>
          <a:p>
            <a:r>
              <a:rPr kumimoji="1" lang="zh-CN" altLang="en-US" dirty="0"/>
              <a:t>实现了</a:t>
            </a:r>
            <a:r>
              <a:rPr kumimoji="1" lang="en-US" altLang="zh-CN" dirty="0"/>
              <a:t>18911 </a:t>
            </a:r>
            <a:r>
              <a:rPr kumimoji="1" lang="en-US" altLang="zh-CN" dirty="0" err="1"/>
              <a:t>ch</a:t>
            </a:r>
            <a:r>
              <a:rPr kumimoji="1" lang="en-US" altLang="zh-CN" dirty="0"/>
              <a:t> mm−2</a:t>
            </a:r>
            <a:r>
              <a:rPr kumimoji="1" lang="zh-CN" altLang="en-US" dirty="0"/>
              <a:t>的创纪录的</a:t>
            </a:r>
            <a:r>
              <a:rPr kumimoji="1" lang="en-US" altLang="zh-CN" dirty="0"/>
              <a:t>CFR</a:t>
            </a:r>
            <a:r>
              <a:rPr kumimoji="1" lang="zh-CN" altLang="en-US" dirty="0"/>
              <a:t>，分辨率为</a:t>
            </a:r>
            <a:r>
              <a:rPr kumimoji="1" lang="en-US" altLang="zh-CN" dirty="0"/>
              <a:t>47 pm</a:t>
            </a:r>
            <a:endParaRPr kumimoji="1" lang="en-US" altLang="zh-CN" dirty="0"/>
          </a:p>
          <a:p>
            <a:r>
              <a:rPr kumimoji="1" lang="zh-CN" altLang="en-US" dirty="0"/>
              <a:t>提供一种可能的方法来开发超出分辨率带宽限制的单次拍摄和紧凑型片上光谱仪</a:t>
            </a:r>
            <a:endParaRPr kumimoji="1" lang="en-US" altLang="zh-CN" dirty="0"/>
          </a:p>
        </p:txBody>
      </p:sp>
      <p:sp>
        <p:nvSpPr>
          <p:cNvPr id="4" name="灯片编号占位符 3"/>
          <p:cNvSpPr>
            <a:spLocks noGrp="1"/>
          </p:cNvSpPr>
          <p:nvPr>
            <p:ph type="sldNum" sz="quarter" idx="5"/>
          </p:nvPr>
        </p:nvSpPr>
        <p:spPr/>
        <p:txBody>
          <a:bodyPr/>
          <a:lstStyle/>
          <a:p>
            <a:fld id="{D78CD8D2-E38D-4469-AA06-16C607A7471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各位老师们好，我是主讲人黄贤敏，下午开始关于我们组</a:t>
            </a:r>
            <a:r>
              <a:rPr lang="en-US" altLang="zh-CN" dirty="0" err="1"/>
              <a:t>srtp</a:t>
            </a:r>
            <a:r>
              <a:rPr lang="zh-CN" altLang="en-US" dirty="0"/>
              <a:t>项目的答辩。</a:t>
            </a:r>
            <a:endParaRPr lang="zh-CN" altLang="en-US" dirty="0"/>
          </a:p>
        </p:txBody>
      </p:sp>
      <p:sp>
        <p:nvSpPr>
          <p:cNvPr id="4" name="灯片编号占位符 3"/>
          <p:cNvSpPr>
            <a:spLocks noGrp="1"/>
          </p:cNvSpPr>
          <p:nvPr>
            <p:ph type="sldNum" sz="quarter" idx="5"/>
          </p:nvPr>
        </p:nvSpPr>
        <p:spPr/>
        <p:txBody>
          <a:bodyPr/>
          <a:lstStyle/>
          <a:p>
            <a:fld id="{9B98F8BD-0828-AC4D-B168-7A8D05BBD06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endParaRPr kumimoji="1"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endParaRPr kumimoji="1" lang="zh-CN" altLang="en-US"/>
          </a:p>
        </p:txBody>
      </p:sp>
      <p:sp>
        <p:nvSpPr>
          <p:cNvPr id="4" name="日期占位符 3"/>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idx="1"/>
          </p:nvPr>
        </p:nvSpPr>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endParaRPr kumimoji="1" lang="zh-CN" altLang="en-US"/>
          </a:p>
        </p:txBody>
      </p:sp>
      <p:sp>
        <p:nvSpPr>
          <p:cNvPr id="4" name="日期占位符 3"/>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日期占位符 4"/>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endParaRPr kumimoji="1" lang="zh-CN" altLang="en-US"/>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7" name="日期占位符 6"/>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日期占位符 2"/>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endParaRPr kumimoji="1"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endParaRPr kumimoji="1" lang="zh-CN" altLang="en-US"/>
          </a:p>
        </p:txBody>
      </p:sp>
      <p:sp>
        <p:nvSpPr>
          <p:cNvPr id="5" name="日期占位符 4"/>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endParaRPr kumimoji="1"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10"/>
          </p:nvPr>
        </p:nvSpPr>
        <p:spPr/>
        <p:txBody>
          <a:body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9C5E7468-B90A-D44A-A239-45F8DA4ED274}" type="slidenum">
              <a:rPr kumimoji="1" lang="zh-CN" altLang="en-US" smtClean="0"/>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emf"/><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E18F0D-0ACF-2948-A1E7-25DCE4E1688B}" type="datetimeFigureOut">
              <a:rPr kumimoji="1" lang="zh-CN" altLang="en-US" smtClean="0"/>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5E7468-B90A-D44A-A239-45F8DA4ED274}"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2.pn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320" y="1369796"/>
            <a:ext cx="11461359" cy="1077218"/>
          </a:xfrm>
          <a:prstGeom prst="rect">
            <a:avLst/>
          </a:prstGeom>
        </p:spPr>
        <p:txBody>
          <a:bodyPr wrap="square" lIns="91440" tIns="45720" rIns="91440" bIns="45720" anchor="t">
            <a:spAutoFit/>
          </a:bodyPr>
          <a:lstStyle/>
          <a:p>
            <a:pPr algn="ctr"/>
            <a:r>
              <a:rPr lang="en-US" altLang="zh-CN" sz="3200" b="1" dirty="0">
                <a:solidFill>
                  <a:schemeClr val="tx1">
                    <a:lumMod val="75000"/>
                    <a:lumOff val="25000"/>
                  </a:schemeClr>
                </a:solidFill>
                <a:latin typeface="微软雅黑" panose="020B0503020204020204" charset="-122"/>
                <a:ea typeface="微软雅黑" panose="020B0503020204020204" charset="-122"/>
              </a:rPr>
              <a:t>Single-Shot on-Chip Diffractive Speckle Spectrometer with High Spectral Channel Density</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sp>
        <p:nvSpPr>
          <p:cNvPr id="16" name="文本框 15"/>
          <p:cNvSpPr txBox="1"/>
          <p:nvPr/>
        </p:nvSpPr>
        <p:spPr>
          <a:xfrm>
            <a:off x="7196594" y="4939733"/>
            <a:ext cx="3434080" cy="521970"/>
          </a:xfrm>
          <a:prstGeom prst="rect">
            <a:avLst/>
          </a:prstGeom>
          <a:noFill/>
        </p:spPr>
        <p:txBody>
          <a:bodyPr wrap="none" rtlCol="0">
            <a:spAutoFit/>
          </a:bodyPr>
          <a:lstStyle/>
          <a:p>
            <a:pPr algn="dist"/>
            <a:r>
              <a:rPr kumimoji="1" lang="en-US" altLang="zh-CN" sz="2800" b="1" dirty="0">
                <a:solidFill>
                  <a:schemeClr val="tx1">
                    <a:lumMod val="75000"/>
                    <a:lumOff val="25000"/>
                  </a:schemeClr>
                </a:solidFill>
                <a:latin typeface="微软雅黑" panose="020B0503020204020204" charset="-122"/>
                <a:ea typeface="微软雅黑" panose="020B0503020204020204" charset="-122"/>
              </a:rPr>
              <a:t>		</a:t>
            </a:r>
            <a:r>
              <a:rPr kumimoji="1" lang="zh-CN" altLang="en-US" sz="2800" b="1" dirty="0">
                <a:solidFill>
                  <a:schemeClr val="tx1">
                    <a:lumMod val="75000"/>
                    <a:lumOff val="25000"/>
                  </a:schemeClr>
                </a:solidFill>
                <a:latin typeface="微软雅黑" panose="020B0503020204020204" charset="-122"/>
                <a:ea typeface="微软雅黑" panose="020B0503020204020204" charset="-122"/>
              </a:rPr>
              <a:t>汇报人：</a:t>
            </a:r>
            <a:endParaRPr kumimoji="1" lang="en-US" altLang="zh-CN"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18" name="文本框 17"/>
          <p:cNvSpPr txBox="1"/>
          <p:nvPr/>
        </p:nvSpPr>
        <p:spPr>
          <a:xfrm>
            <a:off x="9660396" y="5462953"/>
            <a:ext cx="1495922" cy="461665"/>
          </a:xfrm>
          <a:prstGeom prst="rect">
            <a:avLst/>
          </a:prstGeom>
          <a:noFill/>
        </p:spPr>
        <p:txBody>
          <a:bodyPr wrap="none" rtlCol="0">
            <a:spAutoFit/>
          </a:bodyPr>
          <a:lstStyle/>
          <a:p>
            <a:pPr algn="dist"/>
            <a:r>
              <a:rPr kumimoji="1" lang="en-US" altLang="zh-CN" sz="2400" b="1" dirty="0">
                <a:solidFill>
                  <a:schemeClr val="tx1">
                    <a:lumMod val="75000"/>
                    <a:lumOff val="25000"/>
                  </a:schemeClr>
                </a:solidFill>
                <a:latin typeface="微软雅黑" panose="020B0503020204020204" charset="-122"/>
                <a:ea typeface="微软雅黑" panose="020B0503020204020204" charset="-122"/>
              </a:rPr>
              <a:t>2025.4.3</a:t>
            </a:r>
            <a:endParaRPr kumimoji="1" lang="en-US" altLang="zh-CN" sz="24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6" name="直接连接符 5"/>
          <p:cNvCxnSpPr/>
          <p:nvPr/>
        </p:nvCxnSpPr>
        <p:spPr bwMode="auto">
          <a:xfrm>
            <a:off x="2531604" y="3505975"/>
            <a:ext cx="7128792" cy="0"/>
          </a:xfrm>
          <a:prstGeom prst="line">
            <a:avLst/>
          </a:prstGeom>
          <a:solidFill>
            <a:schemeClr val="accent1"/>
          </a:solidFill>
          <a:ln w="28575" cap="flat" cmpd="sng" algn="ctr">
            <a:solidFill>
              <a:srgbClr val="002060"/>
            </a:solidFill>
            <a:prstDash val="solid"/>
            <a:round/>
            <a:headEnd type="none" w="med" len="med"/>
            <a:tailEnd type="none" w="med" len="med"/>
          </a:ln>
          <a:effectLst/>
          <a:scene3d>
            <a:camera prst="orthographicFront"/>
            <a:lightRig rig="threePt" dir="t"/>
          </a:scene3d>
          <a:sp3d>
            <a:bevelT w="165100" prst="coolSlant"/>
          </a:sp3d>
        </p:spPr>
      </p:cxnSp>
      <p:sp>
        <p:nvSpPr>
          <p:cNvPr id="5" name="矩形 4"/>
          <p:cNvSpPr/>
          <p:nvPr/>
        </p:nvSpPr>
        <p:spPr>
          <a:xfrm>
            <a:off x="365320" y="2684107"/>
            <a:ext cx="11461359" cy="584775"/>
          </a:xfrm>
          <a:prstGeom prst="rect">
            <a:avLst/>
          </a:prstGeom>
        </p:spPr>
        <p:txBody>
          <a:bodyPr wrap="square" lIns="91440" tIns="45720" rIns="91440" bIns="45720" anchor="t">
            <a:spAutoFit/>
          </a:bodyPr>
          <a:lstStyle/>
          <a:p>
            <a:pPr algn="ctr"/>
            <a:r>
              <a:rPr lang="zh-CN" altLang="en-US" sz="3200" b="1" dirty="0">
                <a:solidFill>
                  <a:schemeClr val="tx1">
                    <a:lumMod val="75000"/>
                    <a:lumOff val="25000"/>
                  </a:schemeClr>
                </a:solidFill>
                <a:latin typeface="微软雅黑" panose="020B0503020204020204" charset="-122"/>
                <a:ea typeface="微软雅黑" panose="020B0503020204020204" charset="-122"/>
              </a:rPr>
              <a:t>高光谱通道密度单次片上衍射散斑光谱仪</a:t>
            </a:r>
            <a:endParaRPr lang="zh-CN" altLang="en-US" sz="32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5" name="矩形 4"/>
          <p:cNvSpPr/>
          <p:nvPr/>
        </p:nvSpPr>
        <p:spPr bwMode="auto">
          <a:xfrm>
            <a:off x="1583977" y="1915789"/>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6" name="文本框 5"/>
          <p:cNvSpPr txBox="1"/>
          <p:nvPr/>
        </p:nvSpPr>
        <p:spPr>
          <a:xfrm>
            <a:off x="2655793" y="1914576"/>
            <a:ext cx="3101490"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矩形 8"/>
          <p:cNvSpPr/>
          <p:nvPr/>
        </p:nvSpPr>
        <p:spPr bwMode="auto">
          <a:xfrm>
            <a:off x="1583977" y="2946482"/>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0" name="文本框 9"/>
          <p:cNvSpPr txBox="1"/>
          <p:nvPr/>
        </p:nvSpPr>
        <p:spPr>
          <a:xfrm>
            <a:off x="2655793" y="2945269"/>
            <a:ext cx="2254143"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3" name="矩形 12"/>
          <p:cNvSpPr/>
          <p:nvPr/>
        </p:nvSpPr>
        <p:spPr bwMode="auto">
          <a:xfrm>
            <a:off x="6533263" y="1914575"/>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4" name="文本框 13"/>
          <p:cNvSpPr txBox="1"/>
          <p:nvPr/>
        </p:nvSpPr>
        <p:spPr>
          <a:xfrm>
            <a:off x="7605079" y="1913362"/>
            <a:ext cx="2646878"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5" name="矩形 14"/>
          <p:cNvSpPr/>
          <p:nvPr/>
        </p:nvSpPr>
        <p:spPr bwMode="auto">
          <a:xfrm>
            <a:off x="6533263" y="2946482"/>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6" name="文本框 15"/>
          <p:cNvSpPr txBox="1"/>
          <p:nvPr/>
        </p:nvSpPr>
        <p:spPr>
          <a:xfrm>
            <a:off x="7605079" y="2945269"/>
            <a:ext cx="2415020"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Summary</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矩形 6"/>
          <p:cNvSpPr/>
          <p:nvPr/>
        </p:nvSpPr>
        <p:spPr bwMode="auto">
          <a:xfrm>
            <a:off x="1583977" y="3977175"/>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8" name="文本框 7"/>
          <p:cNvSpPr txBox="1"/>
          <p:nvPr/>
        </p:nvSpPr>
        <p:spPr>
          <a:xfrm>
            <a:off x="2655793" y="3975962"/>
            <a:ext cx="1617943"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5" name="矩形 4"/>
          <p:cNvSpPr/>
          <p:nvPr/>
        </p:nvSpPr>
        <p:spPr bwMode="auto">
          <a:xfrm>
            <a:off x="1583977" y="1915789"/>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 name="矩形 1"/>
          <p:cNvSpPr/>
          <p:nvPr/>
        </p:nvSpPr>
        <p:spPr bwMode="auto">
          <a:xfrm>
            <a:off x="1583977" y="1918216"/>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3" name="文本框 2"/>
          <p:cNvSpPr txBox="1"/>
          <p:nvPr/>
        </p:nvSpPr>
        <p:spPr>
          <a:xfrm>
            <a:off x="2655793" y="1917003"/>
            <a:ext cx="3101490"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bwMode="auto">
          <a:xfrm>
            <a:off x="1583977" y="2948909"/>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8" name="文本框 17"/>
          <p:cNvSpPr txBox="1"/>
          <p:nvPr/>
        </p:nvSpPr>
        <p:spPr>
          <a:xfrm>
            <a:off x="2655793" y="2947696"/>
            <a:ext cx="22541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Methods</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19" name="矩形 18"/>
          <p:cNvSpPr/>
          <p:nvPr/>
        </p:nvSpPr>
        <p:spPr bwMode="auto">
          <a:xfrm>
            <a:off x="6533263" y="191700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0" name="文本框 19"/>
          <p:cNvSpPr txBox="1"/>
          <p:nvPr/>
        </p:nvSpPr>
        <p:spPr>
          <a:xfrm>
            <a:off x="7605079" y="1915789"/>
            <a:ext cx="2646878"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Discussion</a:t>
            </a:r>
            <a:endParaRPr lang="en-US" altLang="zh-CN" sz="3600" b="1" dirty="0">
              <a:solidFill>
                <a:schemeClr val="bg1">
                  <a:lumMod val="65000"/>
                </a:schemeClr>
              </a:solidFill>
              <a:latin typeface="微软雅黑" panose="020B0503020204020204" charset="-122"/>
              <a:ea typeface="微软雅黑" panose="020B0503020204020204" charset="-122"/>
            </a:endParaRPr>
          </a:p>
        </p:txBody>
      </p:sp>
      <p:sp>
        <p:nvSpPr>
          <p:cNvPr id="21" name="矩形 20"/>
          <p:cNvSpPr/>
          <p:nvPr/>
        </p:nvSpPr>
        <p:spPr bwMode="auto">
          <a:xfrm>
            <a:off x="6533263" y="2948909"/>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7605079" y="2947696"/>
            <a:ext cx="2415020"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Summary</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23" name="矩形 22"/>
          <p:cNvSpPr/>
          <p:nvPr/>
        </p:nvSpPr>
        <p:spPr bwMode="auto">
          <a:xfrm>
            <a:off x="1583977" y="397960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nvSpPr>
        <p:spPr>
          <a:xfrm>
            <a:off x="2655793" y="3978389"/>
            <a:ext cx="16179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Result</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40507" y="2811617"/>
            <a:ext cx="11586575" cy="919739"/>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Need for Chip-Scale Spectrometers: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Application areas: healthcare, agriculture, consumer electronics, etc.</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4" name="文本框 3"/>
          <p:cNvSpPr txBox="1"/>
          <p:nvPr/>
        </p:nvSpPr>
        <p:spPr>
          <a:xfrm>
            <a:off x="7474044" y="5467612"/>
            <a:ext cx="6345382"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K. B. Bec  ́, J. Grabska, C. W. Huck, Chem. - Eur. J. 2021, 27, 1514.</a:t>
            </a:r>
            <a:endParaRPr lang="zh-CN" altLang="en-US" sz="1200" i="1" dirty="0">
              <a:latin typeface="微软雅黑" panose="020B0503020204020204" charset="-122"/>
              <a:ea typeface="微软雅黑" panose="020B0503020204020204" charset="-122"/>
            </a:endParaRPr>
          </a:p>
        </p:txBody>
      </p:sp>
      <p:sp>
        <p:nvSpPr>
          <p:cNvPr id="6" name="文本框 5"/>
          <p:cNvSpPr txBox="1"/>
          <p:nvPr/>
        </p:nvSpPr>
        <p:spPr>
          <a:xfrm>
            <a:off x="340508" y="825549"/>
            <a:ext cx="3410813"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Background</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7660215" y="1276837"/>
            <a:ext cx="4465674" cy="3982609"/>
          </a:xfrm>
          <a:prstGeom prst="rect">
            <a:avLst/>
          </a:prstGeom>
        </p:spPr>
      </p:pic>
      <p:sp>
        <p:nvSpPr>
          <p:cNvPr id="9" name="文本框 8"/>
          <p:cNvSpPr txBox="1"/>
          <p:nvPr/>
        </p:nvSpPr>
        <p:spPr>
          <a:xfrm>
            <a:off x="340508" y="1214393"/>
            <a:ext cx="11586575" cy="1336071"/>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Limitations of Benchtop Spectrum Analyzers: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Large size, high power consumption, and lack of portability</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Require precise alignment and stabilization systems</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5" name="文本框 4"/>
          <p:cNvSpPr txBox="1"/>
          <p:nvPr/>
        </p:nvSpPr>
        <p:spPr>
          <a:xfrm>
            <a:off x="340507" y="3956017"/>
            <a:ext cx="11586575" cy="2171557"/>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Chip-Scale Spectrometer Advantages: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Fabrication tolerance </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apple-system"/>
              </a:rPr>
              <a:t>Compact Packaging</a:t>
            </a:r>
            <a:endParaRPr lang="en-US" altLang="zh-CN" b="1" i="0" dirty="0">
              <a:solidFill>
                <a:srgbClr val="060607"/>
              </a:solidFill>
              <a:effectLst/>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apple-system"/>
              </a:rPr>
              <a:t>Low-Cost Platform</a:t>
            </a:r>
            <a:endParaRPr lang="en-US" altLang="zh-CN" b="1" dirty="0">
              <a:solidFill>
                <a:srgbClr val="060607"/>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apple-system"/>
              </a:rPr>
              <a:t>Integration Potential</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40506" y="2523641"/>
            <a:ext cx="11586575" cy="1335237"/>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Primary Challenge</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Achieving high resolution and wide bandwidth simultaneously</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9" name="文本框 8"/>
          <p:cNvSpPr txBox="1"/>
          <p:nvPr/>
        </p:nvSpPr>
        <p:spPr>
          <a:xfrm>
            <a:off x="340508" y="1214393"/>
            <a:ext cx="11586575" cy="919739"/>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Key Goals of Spectral Sensing</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High resolution and broad bandwidth</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5" name="文本框 4"/>
          <p:cNvSpPr txBox="1"/>
          <p:nvPr/>
        </p:nvSpPr>
        <p:spPr>
          <a:xfrm>
            <a:off x="340506" y="3788173"/>
            <a:ext cx="11586575" cy="1750736"/>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Limitations of Conventional Approaches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ea typeface="微软雅黑" panose="020B0503020204020204" charset="-122"/>
                <a:cs typeface="Times New Roman" panose="02020603050405020304" pitchFamily="18" charset="0"/>
              </a:rPr>
              <a:t>S</a:t>
            </a:r>
            <a:r>
              <a:rPr lang="en-US" altLang="zh-CN" b="1" i="0" dirty="0">
                <a:solidFill>
                  <a:srgbClr val="060607"/>
                </a:solidFill>
                <a:effectLst/>
                <a:latin typeface="Times New Roman" panose="02020603050405020304" pitchFamily="18" charset="0"/>
                <a:ea typeface="微软雅黑" panose="020B0503020204020204" charset="-122"/>
                <a:cs typeface="Times New Roman" panose="02020603050405020304" pitchFamily="18" charset="0"/>
              </a:rPr>
              <a:t>ophisticated </a:t>
            </a:r>
            <a:r>
              <a:rPr lang="en-US" altLang="zh-CN" b="1" dirty="0">
                <a:solidFill>
                  <a:srgbClr val="060607"/>
                </a:solidFill>
                <a:latin typeface="Times New Roman" panose="02020603050405020304" pitchFamily="18" charset="0"/>
                <a:ea typeface="微软雅黑" panose="020B0503020204020204" charset="-122"/>
                <a:cs typeface="Times New Roman" panose="02020603050405020304" pitchFamily="18" charset="0"/>
              </a:rPr>
              <a:t>T</a:t>
            </a:r>
            <a:r>
              <a:rPr lang="en-US" altLang="zh-CN" b="1" i="0" dirty="0">
                <a:solidFill>
                  <a:srgbClr val="060607"/>
                </a:solidFill>
                <a:effectLst/>
                <a:latin typeface="Times New Roman" panose="02020603050405020304" pitchFamily="18" charset="0"/>
                <a:ea typeface="微软雅黑" panose="020B0503020204020204" charset="-122"/>
                <a:cs typeface="Times New Roman" panose="02020603050405020304" pitchFamily="18" charset="0"/>
              </a:rPr>
              <a:t>uning </a:t>
            </a:r>
            <a:r>
              <a:rPr lang="en-US" altLang="zh-CN" b="1" dirty="0">
                <a:solidFill>
                  <a:srgbClr val="060607"/>
                </a:solidFill>
                <a:latin typeface="Times New Roman" panose="02020603050405020304" pitchFamily="18" charset="0"/>
                <a:ea typeface="微软雅黑" panose="020B0503020204020204" charset="-122"/>
                <a:cs typeface="Times New Roman" panose="02020603050405020304" pitchFamily="18" charset="0"/>
              </a:rPr>
              <a:t>M</a:t>
            </a:r>
            <a:r>
              <a:rPr lang="en-US" altLang="zh-CN" b="1" i="0" dirty="0">
                <a:solidFill>
                  <a:srgbClr val="060607"/>
                </a:solidFill>
                <a:effectLst/>
                <a:latin typeface="Times New Roman" panose="02020603050405020304" pitchFamily="18" charset="0"/>
                <a:ea typeface="微软雅黑" panose="020B0503020204020204" charset="-122"/>
                <a:cs typeface="Times New Roman" panose="02020603050405020304" pitchFamily="18" charset="0"/>
              </a:rPr>
              <a:t>echanisms</a:t>
            </a:r>
            <a:endParaRPr lang="en-US" altLang="zh-CN" b="1" dirty="0">
              <a:solidFill>
                <a:srgbClr val="060607"/>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cs typeface="Times New Roman" panose="02020603050405020304" pitchFamily="18" charset="0"/>
              </a:rPr>
              <a:t>R</a:t>
            </a:r>
            <a:r>
              <a:rPr lang="en-US" altLang="zh-CN" b="1" i="0" dirty="0">
                <a:solidFill>
                  <a:srgbClr val="060607"/>
                </a:solidFill>
                <a:effectLst/>
                <a:latin typeface="Times New Roman" panose="02020603050405020304" pitchFamily="18" charset="0"/>
                <a:cs typeface="Times New Roman" panose="02020603050405020304" pitchFamily="18" charset="0"/>
              </a:rPr>
              <a:t>equired Huge </a:t>
            </a:r>
            <a:r>
              <a:rPr lang="en-US" altLang="zh-CN" b="1" dirty="0">
                <a:solidFill>
                  <a:srgbClr val="060607"/>
                </a:solidFill>
                <a:latin typeface="Times New Roman" panose="02020603050405020304" pitchFamily="18" charset="0"/>
                <a:cs typeface="Times New Roman" panose="02020603050405020304" pitchFamily="18" charset="0"/>
              </a:rPr>
              <a:t>C</a:t>
            </a:r>
            <a:r>
              <a:rPr lang="en-US" altLang="zh-CN" b="1" i="0" dirty="0">
                <a:solidFill>
                  <a:srgbClr val="060607"/>
                </a:solidFill>
                <a:effectLst/>
                <a:latin typeface="Times New Roman" panose="02020603050405020304" pitchFamily="18" charset="0"/>
                <a:cs typeface="Times New Roman" panose="02020603050405020304" pitchFamily="18" charset="0"/>
              </a:rPr>
              <a:t>hip </a:t>
            </a:r>
            <a:r>
              <a:rPr lang="en-US" altLang="zh-CN" b="1" dirty="0">
                <a:solidFill>
                  <a:srgbClr val="060607"/>
                </a:solidFill>
                <a:latin typeface="Times New Roman" panose="02020603050405020304" pitchFamily="18" charset="0"/>
                <a:cs typeface="Times New Roman" panose="02020603050405020304" pitchFamily="18" charset="0"/>
              </a:rPr>
              <a:t>A</a:t>
            </a:r>
            <a:r>
              <a:rPr lang="en-US" altLang="zh-CN" b="1" i="0" dirty="0">
                <a:solidFill>
                  <a:srgbClr val="060607"/>
                </a:solidFill>
                <a:effectLst/>
                <a:latin typeface="Times New Roman" panose="02020603050405020304" pitchFamily="18" charset="0"/>
                <a:cs typeface="Times New Roman" panose="02020603050405020304" pitchFamily="18" charset="0"/>
              </a:rPr>
              <a:t>reas.</a:t>
            </a:r>
            <a:endParaRPr lang="en-US" altLang="zh-CN"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Consumes much Time and Power</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0" name="文本框 9"/>
          <p:cNvSpPr txBox="1"/>
          <p:nvPr/>
        </p:nvSpPr>
        <p:spPr>
          <a:xfrm>
            <a:off x="340508" y="825549"/>
            <a:ext cx="3410813"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Background</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330744" y="3010719"/>
            <a:ext cx="5890173" cy="1750736"/>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Narrowband Optical Filter Arrays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Can distinguish fine spectral lines</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Need a vast number of filters with precise wavelength alignment for wide operation bandwidth</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Existing Approaches and Challenges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348769"/>
            <a:ext cx="5347912" cy="2166234"/>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Dispersive Components</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well-established by various waveguide structures</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Require substantial chip areas to accumulate the path difference for high-resolution operation</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5" name="文本框 4"/>
          <p:cNvSpPr txBox="1"/>
          <p:nvPr/>
        </p:nvSpPr>
        <p:spPr>
          <a:xfrm>
            <a:off x="330744" y="4761455"/>
            <a:ext cx="6485596" cy="1750736"/>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Single Tunable Filter Approach:</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i="0" dirty="0">
                <a:solidFill>
                  <a:srgbClr val="C00000"/>
                </a:solidFill>
                <a:effectLst/>
                <a:latin typeface="Times New Roman" panose="02020603050405020304" pitchFamily="18" charset="0"/>
                <a:cs typeface="Times New Roman" panose="02020603050405020304" pitchFamily="18" charset="0"/>
              </a:rPr>
              <a:t>Widely adopted to retrieve spectral information with high resolution and wide bandwidth</a:t>
            </a:r>
            <a:endParaRPr lang="en-US" altLang="zh-CN" b="1" i="0" dirty="0">
              <a:solidFill>
                <a:srgbClr val="C00000"/>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cs typeface="Times New Roman" panose="02020603050405020304" pitchFamily="18" charset="0"/>
              </a:rPr>
              <a:t>T</a:t>
            </a:r>
            <a:r>
              <a:rPr lang="en-US" altLang="zh-CN" b="1" i="0" dirty="0">
                <a:solidFill>
                  <a:srgbClr val="060607"/>
                </a:solidFill>
                <a:effectLst/>
                <a:latin typeface="Times New Roman" panose="02020603050405020304" pitchFamily="18" charset="0"/>
                <a:cs typeface="Times New Roman" panose="02020603050405020304" pitchFamily="18" charset="0"/>
              </a:rPr>
              <a:t>he active tuning consumes too much time and power</a:t>
            </a:r>
            <a:endParaRPr lang="en-US" altLang="zh-CN" b="1" i="0" dirty="0">
              <a:solidFill>
                <a:srgbClr val="060607"/>
              </a:solidFill>
              <a:effectLst/>
              <a:latin typeface="Times New Roman" panose="02020603050405020304" pitchFamily="18" charset="0"/>
              <a:ea typeface="微软雅黑" panose="020B0503020204020204" charset="-122"/>
              <a:cs typeface="Times New Roman" panose="02020603050405020304" pitchFamily="18" charset="0"/>
            </a:endParaRPr>
          </a:p>
        </p:txBody>
      </p:sp>
      <p:sp>
        <p:nvSpPr>
          <p:cNvPr id="13" name="文本框 12"/>
          <p:cNvSpPr txBox="1"/>
          <p:nvPr/>
        </p:nvSpPr>
        <p:spPr>
          <a:xfrm>
            <a:off x="7980531" y="5568696"/>
            <a:ext cx="3658244"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 Cheng, Y. Zhao, J. Zhang, H. Zhou, D. Gao, J. Dong, X. Zhang, ACS Photonics 2022, 9, 74.</a:t>
            </a:r>
            <a:endParaRPr lang="zh-CN" altLang="en-US" sz="1200" i="1" dirty="0">
              <a:latin typeface="微软雅黑" panose="020B0503020204020204" charset="-122"/>
              <a:ea typeface="微软雅黑" panose="020B0503020204020204" charset="-122"/>
            </a:endParaRPr>
          </a:p>
        </p:txBody>
      </p:sp>
      <p:pic>
        <p:nvPicPr>
          <p:cNvPr id="15" name="图片 14"/>
          <p:cNvPicPr>
            <a:picLocks noChangeAspect="1"/>
          </p:cNvPicPr>
          <p:nvPr/>
        </p:nvPicPr>
        <p:blipFill>
          <a:blip r:embed="rId1"/>
          <a:stretch>
            <a:fillRect/>
          </a:stretch>
        </p:blipFill>
        <p:spPr>
          <a:xfrm>
            <a:off x="8056905" y="3429000"/>
            <a:ext cx="3117016" cy="2066625"/>
          </a:xfrm>
          <a:prstGeom prst="rect">
            <a:avLst/>
          </a:prstGeom>
        </p:spPr>
      </p:pic>
      <p:sp>
        <p:nvSpPr>
          <p:cNvPr id="16" name="文本框 15"/>
          <p:cNvSpPr txBox="1"/>
          <p:nvPr/>
        </p:nvSpPr>
        <p:spPr>
          <a:xfrm>
            <a:off x="8357819" y="2838024"/>
            <a:ext cx="2700041" cy="461665"/>
          </a:xfrm>
          <a:prstGeom prst="rect">
            <a:avLst/>
          </a:prstGeom>
          <a:noFill/>
        </p:spPr>
        <p:txBody>
          <a:bodyPr wrap="square">
            <a:spAutoFit/>
          </a:bodyPr>
          <a:lstStyle/>
          <a:p>
            <a:r>
              <a:rPr lang="de-DE" altLang="zh-CN" sz="1200" i="1" dirty="0">
                <a:latin typeface="微软雅黑" panose="020B0503020204020204" charset="-122"/>
                <a:ea typeface="微软雅黑" panose="020B0503020204020204" charset="-122"/>
              </a:rPr>
              <a:t>Z. Zhang, Y. Wang, H. K. Tsang, ACS Photonics 2021, 8, 1251.</a:t>
            </a:r>
            <a:endParaRPr lang="zh-CN" altLang="en-US" sz="1200" i="1" dirty="0">
              <a:latin typeface="微软雅黑" panose="020B0503020204020204" charset="-122"/>
              <a:ea typeface="微软雅黑" panose="020B0503020204020204" charset="-122"/>
            </a:endParaRPr>
          </a:p>
        </p:txBody>
      </p:sp>
      <p:pic>
        <p:nvPicPr>
          <p:cNvPr id="18" name="图片 17"/>
          <p:cNvPicPr>
            <a:picLocks noChangeAspect="1"/>
          </p:cNvPicPr>
          <p:nvPr/>
        </p:nvPicPr>
        <p:blipFill>
          <a:blip r:embed="rId2"/>
          <a:stretch>
            <a:fillRect/>
          </a:stretch>
        </p:blipFill>
        <p:spPr>
          <a:xfrm>
            <a:off x="8056905" y="1029162"/>
            <a:ext cx="3117016" cy="17357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772134"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Reconstructive Speckle Spectrometers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2411505"/>
            <a:ext cx="11586575" cy="2166234"/>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Advantages of Speckle Spectrometers </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rPr>
              <a:t>Eliminate the need for carefully designed dispersive or narrowband filters. </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C00000"/>
                </a:solidFill>
                <a:effectLst/>
                <a:latin typeface="Times New Roman" panose="02020603050405020304" pitchFamily="18" charset="0"/>
                <a:cs typeface="Times New Roman" panose="02020603050405020304" pitchFamily="18" charset="0"/>
              </a:rPr>
              <a:t>No Spectral Redundancy </a:t>
            </a:r>
            <a:endParaRPr lang="en-US" altLang="zh-CN" b="1" i="0" dirty="0">
              <a:solidFill>
                <a:srgbClr val="C00000"/>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C00000"/>
                </a:solidFill>
                <a:effectLst/>
                <a:latin typeface="Times New Roman" panose="02020603050405020304" pitchFamily="18" charset="0"/>
                <a:cs typeface="Times New Roman" panose="02020603050405020304" pitchFamily="18" charset="0"/>
              </a:rPr>
              <a:t>Robust to fabrication errors</a:t>
            </a:r>
            <a:r>
              <a:rPr lang="en-US" altLang="zh-CN" b="0" i="0" dirty="0">
                <a:solidFill>
                  <a:srgbClr val="C00000"/>
                </a:solidFill>
                <a:effectLst/>
                <a:latin typeface="Times New Roman" panose="02020603050405020304" pitchFamily="18" charset="0"/>
                <a:cs typeface="Times New Roman" panose="02020603050405020304" pitchFamily="18" charset="0"/>
              </a:rPr>
              <a:t>:</a:t>
            </a:r>
            <a:endParaRPr lang="en-US" altLang="zh-CN"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5" name="文本框 4"/>
          <p:cNvSpPr txBox="1"/>
          <p:nvPr/>
        </p:nvSpPr>
        <p:spPr>
          <a:xfrm>
            <a:off x="340508" y="2012290"/>
            <a:ext cx="10664190" cy="418191"/>
          </a:xfrm>
          <a:prstGeom prst="rect">
            <a:avLst/>
          </a:prstGeom>
          <a:noFill/>
        </p:spPr>
        <p:txBody>
          <a:bodyPr wrap="square">
            <a:spAutoFit/>
          </a:bodyPr>
          <a:lstStyle/>
          <a:p>
            <a:pPr>
              <a:lnSpc>
                <a:spcPct val="150000"/>
              </a:lnSpc>
            </a:pPr>
            <a:r>
              <a:rPr lang="en-US" altLang="zh-CN" sz="1600" b="1" dirty="0">
                <a:latin typeface="微软雅黑" panose="020B0503020204020204" charset="-122"/>
                <a:ea typeface="微软雅黑" panose="020B0503020204020204" charset="-122"/>
              </a:rPr>
              <a:t>On-chip speckle spectrometers have become popular in recent years.</a:t>
            </a:r>
            <a:endParaRPr lang="en-US" altLang="zh-CN" sz="1600" b="1" dirty="0">
              <a:latin typeface="微软雅黑" panose="020B0503020204020204" charset="-122"/>
              <a:ea typeface="微软雅黑" panose="020B0503020204020204" charset="-122"/>
            </a:endParaRPr>
          </a:p>
        </p:txBody>
      </p:sp>
      <p:sp>
        <p:nvSpPr>
          <p:cNvPr id="4" name="文本框 3"/>
          <p:cNvSpPr txBox="1"/>
          <p:nvPr/>
        </p:nvSpPr>
        <p:spPr>
          <a:xfrm>
            <a:off x="340508" y="1224767"/>
            <a:ext cx="8952348" cy="787523"/>
          </a:xfrm>
          <a:prstGeom prst="rect">
            <a:avLst/>
          </a:prstGeom>
          <a:noFill/>
        </p:spPr>
        <p:txBody>
          <a:bodyPr wrap="square">
            <a:spAutoFit/>
          </a:bodyPr>
          <a:lstStyle/>
          <a:p>
            <a:pPr>
              <a:lnSpc>
                <a:spcPct val="150000"/>
              </a:lnSpc>
            </a:pPr>
            <a:r>
              <a:rPr lang="en-US" altLang="zh-CN" sz="1600" b="1" dirty="0">
                <a:latin typeface="微软雅黑" panose="020B0503020204020204" charset="-122"/>
                <a:ea typeface="微软雅黑" panose="020B0503020204020204" charset="-122"/>
              </a:rPr>
              <a:t>A spectrometer based on a wavelength-dependent speckle </a:t>
            </a:r>
            <a:r>
              <a:rPr lang="en-US" altLang="zh-CN" sz="1600" b="1" dirty="0" err="1">
                <a:latin typeface="微软雅黑" panose="020B0503020204020204" charset="-122"/>
                <a:ea typeface="微软雅黑" panose="020B0503020204020204" charset="-122"/>
              </a:rPr>
              <a:t>pattern,can</a:t>
            </a:r>
            <a:r>
              <a:rPr lang="en-US" altLang="zh-CN" sz="1600" b="1" dirty="0">
                <a:latin typeface="微软雅黑" panose="020B0503020204020204" charset="-122"/>
                <a:ea typeface="微软雅黑" panose="020B0503020204020204" charset="-122"/>
              </a:rPr>
              <a:t> satisfactorily resolve the trade-off between high resolution and wide bandwidth</a:t>
            </a:r>
            <a:endParaRPr lang="en-US" altLang="zh-CN" sz="1600" b="1"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7655442" y="3331273"/>
            <a:ext cx="4369981" cy="2309076"/>
          </a:xfrm>
          <a:prstGeom prst="rect">
            <a:avLst/>
          </a:prstGeom>
        </p:spPr>
      </p:pic>
      <p:sp>
        <p:nvSpPr>
          <p:cNvPr id="10" name="文本框 9"/>
          <p:cNvSpPr txBox="1"/>
          <p:nvPr/>
        </p:nvSpPr>
        <p:spPr>
          <a:xfrm>
            <a:off x="7852144" y="5637159"/>
            <a:ext cx="4178595"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Wan, Y., Fan, X. &amp; He, Z. Review on Speckle-Based Spectrum Analyzer. Photonic Sens 11, 187–202 (2021)</a:t>
            </a:r>
            <a:endParaRPr lang="zh-CN" altLang="en-US" sz="1200" i="1" dirty="0">
              <a:latin typeface="微软雅黑" panose="020B0503020204020204" charset="-122"/>
              <a:ea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Our Work</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91780" cy="2212401"/>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We proposed a </a:t>
            </a:r>
            <a:r>
              <a:rPr lang="en-US" altLang="zh-CN" sz="2000" b="1" dirty="0">
                <a:solidFill>
                  <a:srgbClr val="C00000"/>
                </a:solidFill>
                <a:latin typeface="微软雅黑" panose="020B0503020204020204" charset="-122"/>
                <a:ea typeface="微软雅黑" panose="020B0503020204020204" charset="-122"/>
              </a:rPr>
              <a:t>single-shot</a:t>
            </a:r>
            <a:r>
              <a:rPr lang="en-US" altLang="zh-CN" sz="2000" b="1" dirty="0">
                <a:latin typeface="微软雅黑" panose="020B0503020204020204" charset="-122"/>
                <a:ea typeface="微软雅黑" panose="020B0503020204020204" charset="-122"/>
              </a:rPr>
              <a:t> spectrometer based on all passive </a:t>
            </a:r>
            <a:r>
              <a:rPr lang="en-US" altLang="zh-CN" sz="2000" b="1" dirty="0">
                <a:solidFill>
                  <a:srgbClr val="C00000"/>
                </a:solidFill>
                <a:latin typeface="微软雅黑" panose="020B0503020204020204" charset="-122"/>
                <a:ea typeface="微软雅黑" panose="020B0503020204020204" charset="-122"/>
              </a:rPr>
              <a:t>on-chip</a:t>
            </a:r>
            <a:r>
              <a:rPr lang="en-US" altLang="zh-CN" sz="2000" b="1" dirty="0">
                <a:latin typeface="微软雅黑" panose="020B0503020204020204" charset="-122"/>
                <a:ea typeface="微软雅黑" panose="020B0503020204020204" charset="-122"/>
              </a:rPr>
              <a:t> diffractive </a:t>
            </a:r>
            <a:r>
              <a:rPr lang="en-US" altLang="zh-CN" sz="2000" b="1" dirty="0" err="1">
                <a:solidFill>
                  <a:srgbClr val="C00000"/>
                </a:solidFill>
                <a:latin typeface="微软雅黑" panose="020B0503020204020204" charset="-122"/>
                <a:ea typeface="微软雅黑" panose="020B0503020204020204" charset="-122"/>
              </a:rPr>
              <a:t>metasurfaces</a:t>
            </a:r>
            <a:r>
              <a:rPr lang="en-US" altLang="zh-CN" sz="2000" b="1" dirty="0">
                <a:latin typeface="微软雅黑" panose="020B0503020204020204" charset="-122"/>
                <a:ea typeface="微软雅黑" panose="020B0503020204020204" charset="-122"/>
              </a:rPr>
              <a:t> with the following  </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err="1">
                <a:latin typeface="Times New Roman" panose="02020603050405020304" pitchFamily="18" charset="0"/>
                <a:ea typeface="微软雅黑" panose="020B0503020204020204" charset="-122"/>
                <a:cs typeface="Times New Roman" panose="02020603050405020304" pitchFamily="18" charset="0"/>
              </a:rPr>
              <a:t>Metasurface</a:t>
            </a:r>
            <a:r>
              <a:rPr lang="en-US" altLang="zh-CN" b="1" dirty="0">
                <a:latin typeface="Times New Roman" panose="02020603050405020304" pitchFamily="18" charset="0"/>
                <a:ea typeface="微软雅黑" panose="020B0503020204020204" charset="-122"/>
                <a:cs typeface="Times New Roman" panose="02020603050405020304" pitchFamily="18" charset="0"/>
              </a:rPr>
              <a:t> create the speckle pattern with richness of spectral information</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Scaling the diffractive structure to three layers of </a:t>
            </a:r>
            <a:r>
              <a:rPr lang="en-US" altLang="zh-CN" b="1" dirty="0" err="1">
                <a:latin typeface="Times New Roman" panose="02020603050405020304" pitchFamily="18" charset="0"/>
                <a:ea typeface="微软雅黑" panose="020B0503020204020204" charset="-122"/>
                <a:cs typeface="Times New Roman" panose="02020603050405020304" pitchFamily="18" charset="0"/>
              </a:rPr>
              <a:t>metasurfaces</a:t>
            </a:r>
            <a:r>
              <a:rPr lang="en-US" altLang="zh-CN" b="1" dirty="0">
                <a:latin typeface="Times New Roman" panose="02020603050405020304" pitchFamily="18" charset="0"/>
                <a:ea typeface="微软雅黑" panose="020B0503020204020204" charset="-122"/>
                <a:cs typeface="Times New Roman" panose="02020603050405020304" pitchFamily="18" charset="0"/>
              </a:rPr>
              <a:t> to increase spectral channels</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Converted 1D speckle patterns to 2D speckles via a wide grating coupler to increase spectral information</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1719809" y="3454845"/>
            <a:ext cx="8752381" cy="2266667"/>
          </a:xfrm>
          <a:prstGeom prst="rect">
            <a:avLst/>
          </a:prstGeom>
        </p:spPr>
      </p:pic>
      <p:sp>
        <p:nvSpPr>
          <p:cNvPr id="8" name="文本框 7"/>
          <p:cNvSpPr txBox="1"/>
          <p:nvPr/>
        </p:nvSpPr>
        <p:spPr>
          <a:xfrm>
            <a:off x="1719809" y="5796656"/>
            <a:ext cx="6329038"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Introduction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Performance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3050194"/>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Our work provides a possible means to develop single-shot and compact on-chip spectrometers beyond the resolution-bandwidth limit</a:t>
            </a:r>
            <a:endParaRPr lang="en-US" altLang="zh-CN" sz="2000" b="1" dirty="0">
              <a:latin typeface="微软雅黑" panose="020B0503020204020204" charset="-122"/>
              <a:ea typeface="微软雅黑" panose="020B0503020204020204" charset="-122"/>
            </a:endParaRPr>
          </a:p>
          <a:p>
            <a:pPr marL="342900" indent="-342900">
              <a:lnSpc>
                <a:spcPct val="150000"/>
              </a:lnSpc>
              <a:buFont typeface="Wingdings" panose="05000000000000000000" pitchFamily="2" charset="2"/>
              <a:buChar char="l"/>
            </a:pPr>
            <a:r>
              <a:rPr lang="en-US" altLang="zh-CN" b="1" dirty="0">
                <a:latin typeface="Times New Roman" panose="02020603050405020304" pitchFamily="18" charset="0"/>
                <a:ea typeface="微软雅黑" panose="020B0503020204020204" charset="-122"/>
                <a:cs typeface="Times New Roman" panose="02020603050405020304" pitchFamily="18" charset="0"/>
              </a:rPr>
              <a:t>High Resolution: </a:t>
            </a:r>
            <a:r>
              <a:rPr lang="en-US" altLang="zh-CN" dirty="0">
                <a:latin typeface="Times New Roman" panose="02020603050405020304" pitchFamily="18" charset="0"/>
                <a:ea typeface="微软雅黑" panose="020B0503020204020204" charset="-122"/>
                <a:cs typeface="Times New Roman" panose="02020603050405020304" pitchFamily="18" charset="0"/>
              </a:rPr>
              <a:t>Achieves </a:t>
            </a:r>
            <a:r>
              <a:rPr lang="en-US" altLang="zh-CN" dirty="0">
                <a:solidFill>
                  <a:srgbClr val="C00000"/>
                </a:solidFill>
                <a:latin typeface="Times New Roman" panose="02020603050405020304" pitchFamily="18" charset="0"/>
                <a:ea typeface="微软雅黑" panose="020B0503020204020204" charset="-122"/>
                <a:cs typeface="Times New Roman" panose="02020603050405020304" pitchFamily="18" charset="0"/>
              </a:rPr>
              <a:t>47 pm resolution</a:t>
            </a:r>
            <a:r>
              <a:rPr lang="en-US" altLang="zh-CN" dirty="0">
                <a:latin typeface="Times New Roman" panose="02020603050405020304" pitchFamily="18" charset="0"/>
                <a:ea typeface="微软雅黑" panose="020B0503020204020204" charset="-122"/>
                <a:cs typeface="Times New Roman" panose="02020603050405020304" pitchFamily="18" charset="0"/>
              </a:rPr>
              <a:t> across a </a:t>
            </a:r>
            <a:r>
              <a:rPr lang="en-US" altLang="zh-CN" dirty="0">
                <a:solidFill>
                  <a:srgbClr val="C00000"/>
                </a:solidFill>
                <a:latin typeface="Times New Roman" panose="02020603050405020304" pitchFamily="18" charset="0"/>
                <a:ea typeface="微软雅黑" panose="020B0503020204020204" charset="-122"/>
                <a:cs typeface="Times New Roman" panose="02020603050405020304" pitchFamily="18" charset="0"/>
              </a:rPr>
              <a:t>40 nm bandwidth</a:t>
            </a:r>
            <a:r>
              <a:rPr lang="en-US" altLang="zh-CN" dirty="0">
                <a:latin typeface="Times New Roman" panose="02020603050405020304" pitchFamily="18" charset="0"/>
                <a:ea typeface="微软雅黑" panose="020B0503020204020204" charset="-122"/>
                <a:cs typeface="Times New Roman" panose="02020603050405020304" pitchFamily="18" charset="0"/>
              </a:rPr>
              <a:t>.</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inherit"/>
              </a:rPr>
              <a:t>High Channel Density</a:t>
            </a:r>
            <a:r>
              <a:rPr lang="en-US" altLang="zh-CN" b="0" i="0" dirty="0">
                <a:solidFill>
                  <a:srgbClr val="060607"/>
                </a:solidFill>
                <a:effectLst/>
                <a:latin typeface="inherit"/>
              </a:rPr>
              <a:t>: Provides 851 spectral channels within a </a:t>
            </a:r>
            <a:r>
              <a:rPr lang="en-US" altLang="zh-CN" b="0" i="0" dirty="0">
                <a:solidFill>
                  <a:srgbClr val="C00000"/>
                </a:solidFill>
                <a:effectLst/>
                <a:latin typeface="inherit"/>
              </a:rPr>
              <a:t>150 </a:t>
            </a:r>
            <a:r>
              <a:rPr lang="en-US" altLang="zh-CN" b="0" i="0" dirty="0" err="1">
                <a:solidFill>
                  <a:srgbClr val="C00000"/>
                </a:solidFill>
                <a:effectLst/>
                <a:latin typeface="inherit"/>
              </a:rPr>
              <a:t>μm</a:t>
            </a:r>
            <a:r>
              <a:rPr lang="en-US" altLang="zh-CN" b="0" i="0" dirty="0">
                <a:solidFill>
                  <a:srgbClr val="C00000"/>
                </a:solidFill>
                <a:effectLst/>
                <a:latin typeface="inherit"/>
              </a:rPr>
              <a:t> × 300 </a:t>
            </a:r>
            <a:r>
              <a:rPr lang="en-US" altLang="zh-CN" b="0" i="0" dirty="0" err="1">
                <a:solidFill>
                  <a:srgbClr val="C00000"/>
                </a:solidFill>
                <a:effectLst/>
                <a:latin typeface="inherit"/>
              </a:rPr>
              <a:t>μm</a:t>
            </a:r>
            <a:r>
              <a:rPr lang="en-US" altLang="zh-CN" b="0" i="0" dirty="0">
                <a:solidFill>
                  <a:srgbClr val="C00000"/>
                </a:solidFill>
                <a:effectLst/>
                <a:latin typeface="inherit"/>
              </a:rPr>
              <a:t> footprint</a:t>
            </a:r>
            <a:r>
              <a:rPr lang="en-US" altLang="zh-CN" b="0" i="0" dirty="0">
                <a:solidFill>
                  <a:srgbClr val="060607"/>
                </a:solidFill>
                <a:effectLst/>
                <a:latin typeface="inherit"/>
              </a:rPr>
              <a:t>, yielding a record-high </a:t>
            </a:r>
            <a:r>
              <a:rPr lang="en-US" altLang="zh-CN" b="0" i="0" dirty="0">
                <a:solidFill>
                  <a:srgbClr val="C00000"/>
                </a:solidFill>
                <a:effectLst/>
                <a:latin typeface="inherit"/>
              </a:rPr>
              <a:t>spectral channel density of 18911 </a:t>
            </a:r>
            <a:r>
              <a:rPr lang="en-US" altLang="zh-CN" b="0" i="0" dirty="0" err="1">
                <a:solidFill>
                  <a:srgbClr val="C00000"/>
                </a:solidFill>
                <a:effectLst/>
                <a:latin typeface="inherit"/>
              </a:rPr>
              <a:t>ch</a:t>
            </a:r>
            <a:r>
              <a:rPr lang="en-US" altLang="zh-CN" b="0" i="0" dirty="0">
                <a:solidFill>
                  <a:srgbClr val="C00000"/>
                </a:solidFill>
                <a:effectLst/>
                <a:latin typeface="inherit"/>
              </a:rPr>
              <a:t> mm⁻²</a:t>
            </a:r>
            <a:r>
              <a:rPr lang="en-US" altLang="zh-CN" b="0" i="0" dirty="0">
                <a:solidFill>
                  <a:srgbClr val="060607"/>
                </a:solidFill>
                <a:effectLst/>
                <a:latin typeface="inherit"/>
              </a:rPr>
              <a:t>.</a:t>
            </a:r>
            <a:endParaRPr lang="en-US" altLang="zh-CN" b="0" i="0" dirty="0">
              <a:solidFill>
                <a:srgbClr val="060607"/>
              </a:solidFill>
              <a:effectLst/>
              <a:latin typeface="inherit"/>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inherit"/>
              </a:rPr>
              <a:t>Low Power Consumption</a:t>
            </a:r>
            <a:r>
              <a:rPr lang="en-US" altLang="zh-CN" b="0" i="0" dirty="0">
                <a:solidFill>
                  <a:srgbClr val="060607"/>
                </a:solidFill>
                <a:effectLst/>
                <a:latin typeface="inherit"/>
              </a:rPr>
              <a:t>: Operates with low power due to passive design.</a:t>
            </a:r>
            <a:endParaRPr lang="en-US" altLang="zh-CN" b="0" i="0" dirty="0">
              <a:solidFill>
                <a:srgbClr val="060607"/>
              </a:solidFill>
              <a:effectLst/>
              <a:latin typeface="inherit"/>
            </a:endParaRPr>
          </a:p>
          <a:p>
            <a:pPr marL="342900" indent="-342900">
              <a:lnSpc>
                <a:spcPct val="150000"/>
              </a:lnSpc>
              <a:buFont typeface="Wingdings" panose="05000000000000000000" pitchFamily="2" charset="2"/>
              <a:buChar char="l"/>
            </a:pPr>
            <a:endParaRPr lang="en-US" altLang="zh-CN" b="0" i="0" dirty="0">
              <a:solidFill>
                <a:srgbClr val="060607"/>
              </a:solidFill>
              <a:effectLst/>
              <a:latin typeface="inherit"/>
            </a:endParaRPr>
          </a:p>
        </p:txBody>
      </p:sp>
      <p:sp>
        <p:nvSpPr>
          <p:cNvPr id="8" name="文本框 7"/>
          <p:cNvSpPr txBox="1"/>
          <p:nvPr/>
        </p:nvSpPr>
        <p:spPr>
          <a:xfrm>
            <a:off x="9132082" y="5227560"/>
            <a:ext cx="2504861" cy="1015663"/>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3526271" y="3963423"/>
            <a:ext cx="5605811" cy="2279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2" name="矩形 1"/>
          <p:cNvSpPr/>
          <p:nvPr/>
        </p:nvSpPr>
        <p:spPr bwMode="auto">
          <a:xfrm>
            <a:off x="1583977" y="2947695"/>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3" name="文本框 2"/>
          <p:cNvSpPr txBox="1"/>
          <p:nvPr/>
        </p:nvSpPr>
        <p:spPr>
          <a:xfrm>
            <a:off x="2655793" y="3034348"/>
            <a:ext cx="2254143"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bwMode="auto">
          <a:xfrm>
            <a:off x="1583977" y="1915788"/>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8" name="文本框 17"/>
          <p:cNvSpPr txBox="1"/>
          <p:nvPr/>
        </p:nvSpPr>
        <p:spPr>
          <a:xfrm>
            <a:off x="2655793" y="1915788"/>
            <a:ext cx="3103735"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Introduction</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19" name="矩形 18"/>
          <p:cNvSpPr/>
          <p:nvPr/>
        </p:nvSpPr>
        <p:spPr bwMode="auto">
          <a:xfrm>
            <a:off x="6533263" y="191700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0" name="文本框 19"/>
          <p:cNvSpPr txBox="1"/>
          <p:nvPr/>
        </p:nvSpPr>
        <p:spPr>
          <a:xfrm>
            <a:off x="7605079" y="1915789"/>
            <a:ext cx="2646878"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Discussion</a:t>
            </a:r>
            <a:endParaRPr lang="en-US" altLang="zh-CN" sz="3600" b="1" dirty="0">
              <a:solidFill>
                <a:schemeClr val="bg1">
                  <a:lumMod val="65000"/>
                </a:schemeClr>
              </a:solidFill>
              <a:latin typeface="微软雅黑" panose="020B0503020204020204" charset="-122"/>
              <a:ea typeface="微软雅黑" panose="020B0503020204020204" charset="-122"/>
            </a:endParaRPr>
          </a:p>
        </p:txBody>
      </p:sp>
      <p:sp>
        <p:nvSpPr>
          <p:cNvPr id="21" name="矩形 20"/>
          <p:cNvSpPr/>
          <p:nvPr/>
        </p:nvSpPr>
        <p:spPr bwMode="auto">
          <a:xfrm>
            <a:off x="6533263" y="2948909"/>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7605079" y="2947696"/>
            <a:ext cx="2415020"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Summary</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23" name="矩形 22"/>
          <p:cNvSpPr/>
          <p:nvPr/>
        </p:nvSpPr>
        <p:spPr bwMode="auto">
          <a:xfrm>
            <a:off x="1583977" y="397960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nvSpPr>
        <p:spPr>
          <a:xfrm>
            <a:off x="2655793" y="3978389"/>
            <a:ext cx="16179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Result</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Design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1803699"/>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The proposed spectrometer is designed on a silicon-on-insulator (SOI) platform with a 220 nm silicon cap layer and a 2 </a:t>
            </a:r>
            <a:r>
              <a:rPr lang="en-US" altLang="zh-CN" sz="2000" b="1" dirty="0" err="1">
                <a:latin typeface="微软雅黑" panose="020B0503020204020204" charset="-122"/>
                <a:ea typeface="微软雅黑" panose="020B0503020204020204" charset="-122"/>
              </a:rPr>
              <a:t>μm</a:t>
            </a:r>
            <a:r>
              <a:rPr lang="en-US" altLang="zh-CN" sz="2000" b="1" dirty="0">
                <a:latin typeface="微软雅黑" panose="020B0503020204020204" charset="-122"/>
                <a:ea typeface="微软雅黑" panose="020B0503020204020204" charset="-122"/>
              </a:rPr>
              <a:t> buried oxide layer.</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0" i="0" dirty="0" err="1">
                <a:solidFill>
                  <a:srgbClr val="C00000"/>
                </a:solidFill>
                <a:effectLst/>
                <a:latin typeface="inherit"/>
              </a:rPr>
              <a:t>Metasurfaces</a:t>
            </a:r>
            <a:r>
              <a:rPr lang="en-US" altLang="zh-CN" b="0" i="0" dirty="0">
                <a:solidFill>
                  <a:srgbClr val="060607"/>
                </a:solidFill>
                <a:effectLst/>
                <a:latin typeface="inherit"/>
              </a:rPr>
              <a:t>: constructed by 1D arrays of etched trenches, called transmit array</a:t>
            </a:r>
            <a:endParaRPr lang="en-US" altLang="zh-CN" b="0" i="0" dirty="0">
              <a:solidFill>
                <a:srgbClr val="060607"/>
              </a:solidFill>
              <a:effectLst/>
              <a:latin typeface="inherit"/>
            </a:endParaRPr>
          </a:p>
          <a:p>
            <a:pPr marL="342900" indent="-342900">
              <a:lnSpc>
                <a:spcPct val="150000"/>
              </a:lnSpc>
              <a:buFont typeface="Wingdings" panose="05000000000000000000" pitchFamily="2" charset="2"/>
              <a:buChar char="l"/>
            </a:pPr>
            <a:endParaRPr lang="en-US" altLang="zh-CN" b="0" i="0" dirty="0">
              <a:solidFill>
                <a:srgbClr val="060607"/>
              </a:solidFill>
              <a:effectLst/>
              <a:latin typeface="inherit"/>
            </a:endParaRPr>
          </a:p>
        </p:txBody>
      </p:sp>
      <p:sp>
        <p:nvSpPr>
          <p:cNvPr id="8" name="文本框 7"/>
          <p:cNvSpPr txBox="1"/>
          <p:nvPr/>
        </p:nvSpPr>
        <p:spPr>
          <a:xfrm>
            <a:off x="8778539" y="4706564"/>
            <a:ext cx="2504861" cy="1015663"/>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463476" y="3757439"/>
            <a:ext cx="8266667" cy="2600000"/>
          </a:xfrm>
          <a:prstGeom prst="rect">
            <a:avLst/>
          </a:prstGeom>
        </p:spPr>
      </p:pic>
      <p:sp>
        <p:nvSpPr>
          <p:cNvPr id="15" name="箭头: 下 14"/>
          <p:cNvSpPr/>
          <p:nvPr/>
        </p:nvSpPr>
        <p:spPr>
          <a:xfrm>
            <a:off x="1307805" y="2721935"/>
            <a:ext cx="116958" cy="2413591"/>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下 15"/>
          <p:cNvSpPr/>
          <p:nvPr/>
        </p:nvSpPr>
        <p:spPr>
          <a:xfrm rot="18888056">
            <a:off x="2445348" y="2355158"/>
            <a:ext cx="147330" cy="2801587"/>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下 16"/>
          <p:cNvSpPr/>
          <p:nvPr/>
        </p:nvSpPr>
        <p:spPr>
          <a:xfrm rot="18143790">
            <a:off x="3533734" y="1848597"/>
            <a:ext cx="152334" cy="4016723"/>
          </a:xfrm>
          <a:prstGeom prst="down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err="1">
                <a:solidFill>
                  <a:schemeClr val="tx1">
                    <a:lumMod val="75000"/>
                    <a:lumOff val="25000"/>
                  </a:schemeClr>
                </a:solidFill>
                <a:latin typeface="微软雅黑" panose="020B0503020204020204" charset="-122"/>
                <a:ea typeface="微软雅黑" panose="020B0503020204020204" charset="-122"/>
              </a:rPr>
              <a:t>Metasurface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112292" y="1348769"/>
            <a:ext cx="5592459" cy="4289892"/>
          </a:xfrm>
          <a:prstGeom prst="rect">
            <a:avLst/>
          </a:prstGeom>
          <a:noFill/>
        </p:spPr>
        <p:txBody>
          <a:bodyPr wrap="square">
            <a:spAutoFit/>
          </a:bodyPr>
          <a:lstStyle/>
          <a:p>
            <a:pPr>
              <a:lnSpc>
                <a:spcPct val="150000"/>
              </a:lnSpc>
            </a:pPr>
            <a:r>
              <a:rPr lang="en-US" altLang="zh-CN" sz="2000" b="1" dirty="0" err="1">
                <a:solidFill>
                  <a:srgbClr val="202122"/>
                </a:solidFill>
                <a:latin typeface="Times New Roman" panose="02020603050405020304" pitchFamily="18" charset="0"/>
                <a:cs typeface="Times New Roman" panose="02020603050405020304" pitchFamily="18" charset="0"/>
              </a:rPr>
              <a:t>M</a:t>
            </a:r>
            <a:r>
              <a:rPr lang="en-US" altLang="zh-CN" sz="2000" b="1" i="0" dirty="0" err="1">
                <a:solidFill>
                  <a:srgbClr val="202122"/>
                </a:solidFill>
                <a:effectLst/>
                <a:latin typeface="Times New Roman" panose="02020603050405020304" pitchFamily="18" charset="0"/>
                <a:cs typeface="Times New Roman" panose="02020603050405020304" pitchFamily="18" charset="0"/>
              </a:rPr>
              <a:t>etasurface</a:t>
            </a:r>
            <a:r>
              <a:rPr lang="en-US" altLang="zh-CN" sz="2000" b="0" i="0" dirty="0">
                <a:solidFill>
                  <a:srgbClr val="202122"/>
                </a:solidFill>
                <a:effectLst/>
                <a:latin typeface="Times New Roman" panose="02020603050405020304" pitchFamily="18" charset="0"/>
                <a:cs typeface="Times New Roman" panose="02020603050405020304" pitchFamily="18" charset="0"/>
              </a:rPr>
              <a:t> refers to a kind of artificial sheet material with sub-</a:t>
            </a:r>
            <a:r>
              <a:rPr lang="en-US" altLang="zh-CN" sz="2000" dirty="0">
                <a:latin typeface="Times New Roman" panose="02020603050405020304" pitchFamily="18" charset="0"/>
                <a:cs typeface="Times New Roman" panose="02020603050405020304" pitchFamily="18" charset="0"/>
              </a:rPr>
              <a:t>wavelength</a:t>
            </a:r>
            <a:r>
              <a:rPr lang="en-US" altLang="zh-CN" sz="2000" b="0" i="0" dirty="0">
                <a:solidFill>
                  <a:srgbClr val="202122"/>
                </a:solidFill>
                <a:effectLst/>
                <a:latin typeface="Times New Roman" panose="02020603050405020304" pitchFamily="18" charset="0"/>
                <a:cs typeface="Times New Roman" panose="02020603050405020304" pitchFamily="18" charset="0"/>
              </a:rPr>
              <a:t> features.</a:t>
            </a:r>
            <a:r>
              <a:rPr lang="en-US" altLang="zh-CN" b="0" i="0" dirty="0">
                <a:solidFill>
                  <a:srgbClr val="202122"/>
                </a:solidFill>
                <a:effectLst/>
                <a:latin typeface="Times New Roman" panose="02020603050405020304" pitchFamily="18" charset="0"/>
                <a:cs typeface="Times New Roman" panose="02020603050405020304" pitchFamily="18" charset="0"/>
              </a:rPr>
              <a:t> </a:t>
            </a:r>
            <a:r>
              <a:rPr lang="en-US" altLang="zh-CN" dirty="0" err="1">
                <a:solidFill>
                  <a:srgbClr val="202122"/>
                </a:solidFill>
                <a:latin typeface="Times New Roman" panose="02020603050405020304" pitchFamily="18" charset="0"/>
                <a:cs typeface="Times New Roman" panose="02020603050405020304" pitchFamily="18" charset="0"/>
              </a:rPr>
              <a:t>M</a:t>
            </a:r>
            <a:r>
              <a:rPr lang="en-US" altLang="zh-CN" b="0" i="0" dirty="0" err="1">
                <a:solidFill>
                  <a:srgbClr val="202122"/>
                </a:solidFill>
                <a:effectLst/>
                <a:latin typeface="Times New Roman" panose="02020603050405020304" pitchFamily="18" charset="0"/>
                <a:cs typeface="Times New Roman" panose="02020603050405020304" pitchFamily="18" charset="0"/>
              </a:rPr>
              <a:t>etasurfaces</a:t>
            </a:r>
            <a:r>
              <a:rPr lang="en-US" altLang="zh-CN" b="0" i="0" dirty="0">
                <a:solidFill>
                  <a:srgbClr val="202122"/>
                </a:solidFill>
                <a:effectLst/>
                <a:latin typeface="Times New Roman" panose="02020603050405020304" pitchFamily="18" charset="0"/>
                <a:cs typeface="Times New Roman" panose="02020603050405020304" pitchFamily="18" charset="0"/>
              </a:rPr>
              <a:t> </a:t>
            </a:r>
            <a:r>
              <a:rPr lang="en-US" altLang="zh-CN" b="1" i="0" dirty="0">
                <a:solidFill>
                  <a:srgbClr val="202122"/>
                </a:solidFill>
                <a:effectLst/>
                <a:latin typeface="Times New Roman" panose="02020603050405020304" pitchFamily="18" charset="0"/>
                <a:cs typeface="Times New Roman" panose="02020603050405020304" pitchFamily="18" charset="0"/>
              </a:rPr>
              <a:t>modulate the behaviors of electromagnetic waves </a:t>
            </a:r>
            <a:r>
              <a:rPr lang="en-US" altLang="zh-CN" b="0" i="0" dirty="0">
                <a:solidFill>
                  <a:srgbClr val="202122"/>
                </a:solidFill>
                <a:effectLst/>
                <a:latin typeface="Times New Roman" panose="02020603050405020304" pitchFamily="18" charset="0"/>
                <a:cs typeface="Times New Roman" panose="02020603050405020304" pitchFamily="18" charset="0"/>
              </a:rPr>
              <a:t>through specific boundary conditions</a:t>
            </a:r>
            <a:endParaRPr lang="en-US" altLang="zh-CN" b="0" i="0" dirty="0">
              <a:solidFill>
                <a:srgbClr val="202122"/>
              </a:solidFill>
              <a:effectLst/>
              <a:latin typeface="Times New Roman" panose="02020603050405020304" pitchFamily="18" charset="0"/>
              <a:cs typeface="Times New Roman" panose="02020603050405020304" pitchFamily="18" charset="0"/>
            </a:endParaRPr>
          </a:p>
          <a:p>
            <a:pPr>
              <a:lnSpc>
                <a:spcPct val="150000"/>
              </a:lnSpc>
            </a:pPr>
            <a:endParaRPr lang="en-US" altLang="zh-CN" b="0" i="0" dirty="0">
              <a:solidFill>
                <a:srgbClr val="202122"/>
              </a:solidFill>
              <a:effectLst/>
              <a:latin typeface="Times New Roman" panose="02020603050405020304" pitchFamily="18" charset="0"/>
              <a:cs typeface="Times New Roman" panose="02020603050405020304" pitchFamily="18" charset="0"/>
            </a:endParaRPr>
          </a:p>
          <a:p>
            <a:pPr>
              <a:lnSpc>
                <a:spcPct val="150000"/>
              </a:lnSpc>
            </a:pPr>
            <a:r>
              <a:rPr lang="en-US" altLang="zh-CN" b="1" dirty="0" err="1">
                <a:solidFill>
                  <a:srgbClr val="282828"/>
                </a:solidFill>
                <a:latin typeface="Times New Roman" panose="02020603050405020304" pitchFamily="18" charset="0"/>
                <a:cs typeface="Times New Roman" panose="02020603050405020304" pitchFamily="18" charset="0"/>
              </a:rPr>
              <a:t>M</a:t>
            </a:r>
            <a:r>
              <a:rPr lang="en-US" altLang="zh-CN" b="1" i="0" dirty="0" err="1">
                <a:solidFill>
                  <a:srgbClr val="282828"/>
                </a:solidFill>
                <a:effectLst/>
                <a:latin typeface="Times New Roman" panose="02020603050405020304" pitchFamily="18" charset="0"/>
                <a:cs typeface="Times New Roman" panose="02020603050405020304" pitchFamily="18" charset="0"/>
              </a:rPr>
              <a:t>etasurface</a:t>
            </a:r>
            <a:r>
              <a:rPr lang="en-US" altLang="zh-CN" b="0" i="0" dirty="0">
                <a:solidFill>
                  <a:srgbClr val="282828"/>
                </a:solidFill>
                <a:effectLst/>
                <a:latin typeface="Times New Roman" panose="02020603050405020304" pitchFamily="18" charset="0"/>
                <a:cs typeface="Times New Roman" panose="02020603050405020304" pitchFamily="18" charset="0"/>
              </a:rPr>
              <a:t> can </a:t>
            </a:r>
            <a:r>
              <a:rPr lang="en-US" altLang="zh-CN" b="1" i="0" dirty="0">
                <a:solidFill>
                  <a:srgbClr val="282828"/>
                </a:solidFill>
                <a:effectLst/>
                <a:latin typeface="Times New Roman" panose="02020603050405020304" pitchFamily="18" charset="0"/>
                <a:cs typeface="Times New Roman" panose="02020603050405020304" pitchFamily="18" charset="0"/>
              </a:rPr>
              <a:t>modify the amplitude and impart an abrupt phase shift </a:t>
            </a:r>
            <a:r>
              <a:rPr lang="en-US" altLang="zh-CN" b="0" i="0" dirty="0">
                <a:solidFill>
                  <a:srgbClr val="282828"/>
                </a:solidFill>
                <a:effectLst/>
                <a:latin typeface="Times New Roman" panose="02020603050405020304" pitchFamily="18" charset="0"/>
                <a:cs typeface="Times New Roman" panose="02020603050405020304" pitchFamily="18" charset="0"/>
              </a:rPr>
              <a:t>to the incident wave within the sub-wavelength scale through the light-matter interaction, and thus realize the wavefront modulation much more efficiently</a:t>
            </a:r>
            <a:endParaRPr lang="en-US" altLang="zh-CN" b="0" i="0" dirty="0">
              <a:solidFill>
                <a:srgbClr val="060607"/>
              </a:solidFill>
              <a:effectLst/>
              <a:latin typeface="Times New Roman" panose="02020603050405020304" pitchFamily="18" charset="0"/>
              <a:cs typeface="Times New Roman" panose="02020603050405020304" pitchFamily="18" charset="0"/>
            </a:endParaRPr>
          </a:p>
        </p:txBody>
      </p:sp>
      <p:sp>
        <p:nvSpPr>
          <p:cNvPr id="8" name="文本框 7"/>
          <p:cNvSpPr txBox="1"/>
          <p:nvPr/>
        </p:nvSpPr>
        <p:spPr>
          <a:xfrm>
            <a:off x="6868631" y="5713832"/>
            <a:ext cx="4625163" cy="461665"/>
          </a:xfrm>
          <a:prstGeom prst="rect">
            <a:avLst/>
          </a:prstGeom>
          <a:noFill/>
        </p:spPr>
        <p:txBody>
          <a:bodyPr wrap="square">
            <a:spAutoFit/>
          </a:bodyPr>
          <a:lstStyle/>
          <a:p>
            <a:r>
              <a:rPr lang="en-US" altLang="zh-CN" sz="1200" b="0" i="0" dirty="0" err="1">
                <a:solidFill>
                  <a:srgbClr val="222222"/>
                </a:solidFill>
                <a:effectLst/>
                <a:latin typeface="-apple-system"/>
              </a:rPr>
              <a:t>Neshev</a:t>
            </a:r>
            <a:r>
              <a:rPr lang="en-US" altLang="zh-CN" sz="1200" b="0" i="0" dirty="0">
                <a:solidFill>
                  <a:srgbClr val="222222"/>
                </a:solidFill>
                <a:effectLst/>
                <a:latin typeface="-apple-system"/>
              </a:rPr>
              <a:t>, D., </a:t>
            </a:r>
            <a:r>
              <a:rPr lang="en-US" altLang="zh-CN" sz="1200" b="0" i="0" dirty="0" err="1">
                <a:solidFill>
                  <a:srgbClr val="222222"/>
                </a:solidFill>
                <a:effectLst/>
                <a:latin typeface="-apple-system"/>
              </a:rPr>
              <a:t>Aharonovich</a:t>
            </a:r>
            <a:r>
              <a:rPr lang="en-US" altLang="zh-CN" sz="1200" b="0" i="0" dirty="0">
                <a:solidFill>
                  <a:srgbClr val="222222"/>
                </a:solidFill>
                <a:effectLst/>
                <a:latin typeface="-apple-system"/>
              </a:rPr>
              <a:t>, I. Optical </a:t>
            </a:r>
            <a:r>
              <a:rPr lang="en-US" altLang="zh-CN" sz="1200" b="0" i="0" dirty="0" err="1">
                <a:solidFill>
                  <a:srgbClr val="222222"/>
                </a:solidFill>
                <a:effectLst/>
                <a:latin typeface="-apple-system"/>
              </a:rPr>
              <a:t>metasurfaces</a:t>
            </a:r>
            <a:r>
              <a:rPr lang="en-US" altLang="zh-CN" sz="1200" b="0" i="0" dirty="0">
                <a:solidFill>
                  <a:srgbClr val="222222"/>
                </a:solidFill>
                <a:effectLst/>
                <a:latin typeface="-apple-system"/>
              </a:rPr>
              <a:t>: new generation building blocks for multi-functional optics. </a:t>
            </a:r>
            <a:r>
              <a:rPr lang="en-US" altLang="zh-CN" sz="1200" b="0" i="1" dirty="0">
                <a:solidFill>
                  <a:srgbClr val="222222"/>
                </a:solidFill>
                <a:effectLst/>
                <a:latin typeface="-apple-system"/>
              </a:rPr>
              <a:t>Light Sci Appl</a:t>
            </a:r>
            <a:r>
              <a:rPr lang="en-US" altLang="zh-CN" sz="1200" b="0" i="0" dirty="0">
                <a:solidFill>
                  <a:srgbClr val="222222"/>
                </a:solidFill>
                <a:effectLst/>
                <a:latin typeface="-apple-system"/>
              </a:rPr>
              <a:t> </a:t>
            </a:r>
            <a:r>
              <a:rPr lang="en-US" altLang="zh-CN" sz="1200" b="1" i="0" dirty="0">
                <a:solidFill>
                  <a:srgbClr val="222222"/>
                </a:solidFill>
                <a:effectLst/>
                <a:latin typeface="-apple-system"/>
              </a:rPr>
              <a:t>7</a:t>
            </a:r>
            <a:r>
              <a:rPr lang="en-US" altLang="zh-CN" sz="1200" b="0" i="0" dirty="0">
                <a:solidFill>
                  <a:srgbClr val="222222"/>
                </a:solidFill>
                <a:effectLst/>
                <a:latin typeface="-apple-system"/>
              </a:rPr>
              <a:t>, 58 (2018)</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5476535" y="1009016"/>
            <a:ext cx="6583094" cy="47048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Design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2173031"/>
          </a:xfrm>
          <a:prstGeom prst="rect">
            <a:avLst/>
          </a:prstGeom>
          <a:noFill/>
        </p:spPr>
        <p:txBody>
          <a:bodyPr wrap="square">
            <a:spAutoFit/>
          </a:bodyPr>
          <a:lstStyle/>
          <a:p>
            <a:pPr>
              <a:lnSpc>
                <a:spcPct val="150000"/>
              </a:lnSpc>
            </a:pPr>
            <a:r>
              <a:rPr lang="en-US" altLang="zh-CN" sz="2000" b="1" dirty="0" err="1">
                <a:latin typeface="微软雅黑" panose="020B0503020204020204" charset="-122"/>
                <a:ea typeface="微软雅黑" panose="020B0503020204020204" charset="-122"/>
              </a:rPr>
              <a:t>Metasurfaces</a:t>
            </a:r>
            <a:r>
              <a:rPr lang="en-US" altLang="zh-CN" sz="2000" b="1" dirty="0">
                <a:latin typeface="微软雅黑" panose="020B0503020204020204" charset="-122"/>
                <a:ea typeface="微软雅黑" panose="020B0503020204020204" charset="-122"/>
              </a:rPr>
              <a:t> Design</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0" i="0" dirty="0">
                <a:solidFill>
                  <a:srgbClr val="060607"/>
                </a:solidFill>
                <a:effectLst/>
                <a:latin typeface="inherit"/>
              </a:rPr>
              <a:t>The trenches widths are designed in subwavelength scale to </a:t>
            </a:r>
            <a:r>
              <a:rPr lang="en-US" altLang="zh-CN" b="1" i="0" dirty="0">
                <a:solidFill>
                  <a:srgbClr val="060607"/>
                </a:solidFill>
                <a:effectLst/>
                <a:latin typeface="inherit"/>
              </a:rPr>
              <a:t>minimize the optical losses</a:t>
            </a:r>
            <a:endParaRPr lang="en-US" altLang="zh-CN" b="1" i="0" dirty="0">
              <a:solidFill>
                <a:srgbClr val="060607"/>
              </a:solidFill>
              <a:effectLst/>
              <a:latin typeface="inherit"/>
            </a:endParaRPr>
          </a:p>
          <a:p>
            <a:pPr marL="342900" indent="-342900">
              <a:lnSpc>
                <a:spcPct val="150000"/>
              </a:lnSpc>
              <a:buFont typeface="Wingdings" panose="05000000000000000000" pitchFamily="2" charset="2"/>
              <a:buChar char="l"/>
            </a:pPr>
            <a:r>
              <a:rPr lang="en-US" altLang="zh-CN" dirty="0">
                <a:solidFill>
                  <a:srgbClr val="060607"/>
                </a:solidFill>
                <a:latin typeface="inherit"/>
              </a:rPr>
              <a:t>A</a:t>
            </a:r>
            <a:r>
              <a:rPr lang="en-US" altLang="zh-CN" b="0" i="0" dirty="0">
                <a:solidFill>
                  <a:srgbClr val="060607"/>
                </a:solidFill>
                <a:effectLst/>
                <a:latin typeface="inherit"/>
              </a:rPr>
              <a:t>chieves a </a:t>
            </a:r>
            <a:r>
              <a:rPr lang="en-US" altLang="zh-CN" b="1" i="0" dirty="0">
                <a:solidFill>
                  <a:srgbClr val="060607"/>
                </a:solidFill>
                <a:effectLst/>
                <a:latin typeface="inherit"/>
              </a:rPr>
              <a:t>high transmittance </a:t>
            </a:r>
            <a:r>
              <a:rPr lang="en-US" altLang="zh-CN" b="0" i="0" dirty="0">
                <a:solidFill>
                  <a:srgbClr val="060607"/>
                </a:solidFill>
                <a:effectLst/>
                <a:latin typeface="inherit"/>
              </a:rPr>
              <a:t>with an efficiency </a:t>
            </a:r>
            <a:r>
              <a:rPr lang="en-US" altLang="zh-CN" b="1" i="0" dirty="0">
                <a:solidFill>
                  <a:srgbClr val="060607"/>
                </a:solidFill>
                <a:effectLst/>
                <a:latin typeface="inherit"/>
              </a:rPr>
              <a:t>exceeding 90% </a:t>
            </a:r>
            <a:r>
              <a:rPr lang="en-US" altLang="zh-CN" b="0" i="0" dirty="0">
                <a:solidFill>
                  <a:srgbClr val="060607"/>
                </a:solidFill>
                <a:effectLst/>
                <a:latin typeface="inherit"/>
              </a:rPr>
              <a:t>across the 100 nm spectral range.</a:t>
            </a:r>
            <a:endParaRPr lang="en-US" altLang="zh-CN" b="0" i="0" dirty="0">
              <a:solidFill>
                <a:srgbClr val="060607"/>
              </a:solidFill>
              <a:effectLst/>
              <a:latin typeface="inherit"/>
            </a:endParaRPr>
          </a:p>
          <a:p>
            <a:pPr marL="342900" indent="-342900">
              <a:lnSpc>
                <a:spcPct val="150000"/>
              </a:lnSpc>
              <a:buFont typeface="Wingdings" panose="05000000000000000000" pitchFamily="2" charset="2"/>
              <a:buChar char="l"/>
            </a:pPr>
            <a:r>
              <a:rPr lang="en-US" altLang="zh-CN" b="0" i="0" dirty="0">
                <a:solidFill>
                  <a:srgbClr val="060607"/>
                </a:solidFill>
                <a:effectLst/>
                <a:latin typeface="inherit"/>
              </a:rPr>
              <a:t>the phase change can </a:t>
            </a:r>
            <a:r>
              <a:rPr lang="en-US" altLang="zh-CN" b="1" i="0" dirty="0">
                <a:solidFill>
                  <a:srgbClr val="060607"/>
                </a:solidFill>
                <a:effectLst/>
                <a:latin typeface="inherit"/>
              </a:rPr>
              <a:t>cover a full range from –</a:t>
            </a:r>
            <a:r>
              <a:rPr lang="zh-CN" altLang="en-US" b="1" i="0" dirty="0">
                <a:solidFill>
                  <a:srgbClr val="060607"/>
                </a:solidFill>
                <a:effectLst/>
                <a:latin typeface="inherit"/>
              </a:rPr>
              <a:t>𝜋 </a:t>
            </a:r>
            <a:r>
              <a:rPr lang="en-US" altLang="zh-CN" b="1" i="0" dirty="0">
                <a:solidFill>
                  <a:srgbClr val="060607"/>
                </a:solidFill>
                <a:effectLst/>
                <a:latin typeface="inherit"/>
              </a:rPr>
              <a:t>to </a:t>
            </a:r>
            <a:r>
              <a:rPr lang="zh-CN" altLang="en-US" b="1" i="0" dirty="0">
                <a:solidFill>
                  <a:srgbClr val="060607"/>
                </a:solidFill>
                <a:effectLst/>
                <a:latin typeface="inherit"/>
              </a:rPr>
              <a:t>𝜋</a:t>
            </a:r>
            <a:r>
              <a:rPr lang="en-US" altLang="zh-CN" b="0" i="0" dirty="0">
                <a:solidFill>
                  <a:srgbClr val="060607"/>
                </a:solidFill>
                <a:effectLst/>
                <a:latin typeface="inherit"/>
              </a:rPr>
              <a:t>. </a:t>
            </a:r>
            <a:endParaRPr lang="en-US" altLang="zh-CN" b="0" i="0" dirty="0">
              <a:solidFill>
                <a:srgbClr val="060607"/>
              </a:solidFill>
              <a:effectLst/>
              <a:latin typeface="inherit"/>
            </a:endParaRPr>
          </a:p>
          <a:p>
            <a:pPr marL="342900" indent="-342900">
              <a:lnSpc>
                <a:spcPct val="150000"/>
              </a:lnSpc>
              <a:buFont typeface="Wingdings" panose="05000000000000000000" pitchFamily="2" charset="2"/>
              <a:buChar char="l"/>
            </a:pPr>
            <a:r>
              <a:rPr lang="en-US" altLang="zh-CN" b="0" i="0" dirty="0">
                <a:solidFill>
                  <a:srgbClr val="060607"/>
                </a:solidFill>
                <a:effectLst/>
                <a:latin typeface="inherit"/>
              </a:rPr>
              <a:t>The feature size of 180 nm is </a:t>
            </a:r>
            <a:r>
              <a:rPr lang="en-US" altLang="zh-CN" b="1" i="0" dirty="0">
                <a:solidFill>
                  <a:srgbClr val="060607"/>
                </a:solidFill>
                <a:effectLst/>
                <a:latin typeface="inherit"/>
              </a:rPr>
              <a:t>compatible with the fabrication process</a:t>
            </a:r>
            <a:endParaRPr lang="en-US" altLang="zh-CN" b="1" i="0" dirty="0">
              <a:solidFill>
                <a:srgbClr val="060607"/>
              </a:solidFill>
              <a:effectLst/>
              <a:latin typeface="inherit"/>
            </a:endParaRPr>
          </a:p>
        </p:txBody>
      </p:sp>
      <p:sp>
        <p:nvSpPr>
          <p:cNvPr id="8" name="文本框 7"/>
          <p:cNvSpPr txBox="1"/>
          <p:nvPr/>
        </p:nvSpPr>
        <p:spPr>
          <a:xfrm>
            <a:off x="10429420" y="3908793"/>
            <a:ext cx="1384471" cy="2123658"/>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1"/>
          <a:stretch>
            <a:fillRect/>
          </a:stretch>
        </p:blipFill>
        <p:spPr>
          <a:xfrm>
            <a:off x="7427795" y="2623264"/>
            <a:ext cx="2892221" cy="3409187"/>
          </a:xfrm>
          <a:prstGeom prst="rect">
            <a:avLst/>
          </a:prstGeom>
        </p:spPr>
      </p:pic>
      <p:pic>
        <p:nvPicPr>
          <p:cNvPr id="5" name="图片 4"/>
          <p:cNvPicPr>
            <a:picLocks noChangeAspect="1"/>
          </p:cNvPicPr>
          <p:nvPr/>
        </p:nvPicPr>
        <p:blipFill>
          <a:blip r:embed="rId2"/>
          <a:stretch>
            <a:fillRect/>
          </a:stretch>
        </p:blipFill>
        <p:spPr>
          <a:xfrm>
            <a:off x="480858" y="4069893"/>
            <a:ext cx="6509948" cy="196255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Disordered Phase Modulation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34334"/>
            <a:ext cx="10781148" cy="2951064"/>
          </a:xfrm>
          <a:prstGeom prst="rect">
            <a:avLst/>
          </a:prstGeom>
          <a:noFill/>
        </p:spPr>
        <p:txBody>
          <a:bodyPr wrap="square">
            <a:spAutoFit/>
          </a:bodyPr>
          <a:lstStyle/>
          <a:p>
            <a:pPr>
              <a:lnSpc>
                <a:spcPct val="150000"/>
              </a:lnSpc>
            </a:pPr>
            <a:r>
              <a:rPr lang="en-US" altLang="zh-CN" dirty="0">
                <a:latin typeface="Times New Roman" panose="02020603050405020304" pitchFamily="18" charset="0"/>
                <a:ea typeface="微软雅黑" panose="020B0503020204020204" charset="-122"/>
                <a:cs typeface="Times New Roman" panose="02020603050405020304" pitchFamily="18" charset="0"/>
              </a:rPr>
              <a:t>A </a:t>
            </a:r>
            <a:r>
              <a:rPr lang="en-US" altLang="zh-CN" dirty="0" err="1">
                <a:latin typeface="Times New Roman" panose="02020603050405020304" pitchFamily="18" charset="0"/>
                <a:ea typeface="微软雅黑" panose="020B0503020204020204" charset="-122"/>
                <a:cs typeface="Times New Roman" panose="02020603050405020304" pitchFamily="18" charset="0"/>
              </a:rPr>
              <a:t>metasurface</a:t>
            </a:r>
            <a:r>
              <a:rPr lang="en-US" altLang="zh-CN" dirty="0">
                <a:latin typeface="Times New Roman" panose="02020603050405020304" pitchFamily="18" charset="0"/>
                <a:ea typeface="微软雅黑" panose="020B0503020204020204" charset="-122"/>
                <a:cs typeface="Times New Roman" panose="02020603050405020304" pitchFamily="18" charset="0"/>
              </a:rPr>
              <a:t> with randomly varying slot length can create a disordered phase mask to </a:t>
            </a:r>
            <a:r>
              <a:rPr lang="en-US" altLang="zh-CN" b="1" dirty="0">
                <a:latin typeface="Times New Roman" panose="02020603050405020304" pitchFamily="18" charset="0"/>
                <a:ea typeface="微软雅黑" panose="020B0503020204020204" charset="-122"/>
                <a:cs typeface="Times New Roman" panose="02020603050405020304" pitchFamily="18" charset="0"/>
              </a:rPr>
              <a:t>scramble the spectrally dependent diffractions.</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charset="-122"/>
                <a:cs typeface="Times New Roman" panose="02020603050405020304" pitchFamily="18" charset="0"/>
              </a:rPr>
              <a:t>The optical field propagation through three layers of </a:t>
            </a:r>
            <a:r>
              <a:rPr lang="en-US" altLang="zh-CN" dirty="0" err="1">
                <a:latin typeface="Times New Roman" panose="02020603050405020304" pitchFamily="18" charset="0"/>
                <a:ea typeface="微软雅黑" panose="020B0503020204020204" charset="-122"/>
                <a:cs typeface="Times New Roman" panose="02020603050405020304" pitchFamily="18" charset="0"/>
              </a:rPr>
              <a:t>metasurfaces</a:t>
            </a:r>
            <a:r>
              <a:rPr lang="en-US" altLang="zh-CN" dirty="0">
                <a:latin typeface="Times New Roman" panose="02020603050405020304" pitchFamily="18" charset="0"/>
                <a:ea typeface="微软雅黑" panose="020B0503020204020204" charset="-122"/>
                <a:cs typeface="Times New Roman" panose="02020603050405020304" pitchFamily="18" charset="0"/>
              </a:rPr>
              <a:t> was </a:t>
            </a:r>
            <a:r>
              <a:rPr lang="en-US" altLang="zh-CN" b="1" dirty="0">
                <a:latin typeface="Times New Roman" panose="02020603050405020304" pitchFamily="18" charset="0"/>
                <a:ea typeface="微软雅黑" panose="020B0503020204020204" charset="-122"/>
                <a:cs typeface="Times New Roman" panose="02020603050405020304" pitchFamily="18" charset="0"/>
              </a:rPr>
              <a:t>numerically simulated </a:t>
            </a:r>
            <a:r>
              <a:rPr lang="en-US" altLang="zh-CN" dirty="0">
                <a:latin typeface="Times New Roman" panose="02020603050405020304" pitchFamily="18" charset="0"/>
                <a:ea typeface="微软雅黑" panose="020B0503020204020204" charset="-122"/>
                <a:cs typeface="Times New Roman" panose="02020603050405020304" pitchFamily="18" charset="0"/>
              </a:rPr>
              <a:t>via finite difference time domain (FDTD)</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charset="-122"/>
                <a:cs typeface="Times New Roman" panose="02020603050405020304" pitchFamily="18" charset="0"/>
              </a:rPr>
              <a:t>The results imply a </a:t>
            </a:r>
            <a:r>
              <a:rPr lang="en-US" altLang="zh-CN" b="1" dirty="0">
                <a:latin typeface="Times New Roman" panose="02020603050405020304" pitchFamily="18" charset="0"/>
                <a:ea typeface="微软雅黑" panose="020B0503020204020204" charset="-122"/>
                <a:cs typeface="Times New Roman" panose="02020603050405020304" pitchFamily="18" charset="0"/>
              </a:rPr>
              <a:t>deep diffractive</a:t>
            </a:r>
            <a:r>
              <a:rPr lang="en-US" altLang="zh-CN" dirty="0">
                <a:latin typeface="Times New Roman" panose="02020603050405020304" pitchFamily="18" charset="0"/>
                <a:ea typeface="微软雅黑" panose="020B0503020204020204" charset="-122"/>
                <a:cs typeface="Times New Roman" panose="02020603050405020304" pitchFamily="18" charset="0"/>
              </a:rPr>
              <a:t> behavior of the </a:t>
            </a:r>
            <a:r>
              <a:rPr lang="en-US" altLang="zh-CN" dirty="0" err="1">
                <a:latin typeface="Times New Roman" panose="02020603050405020304" pitchFamily="18" charset="0"/>
                <a:ea typeface="微软雅黑" panose="020B0503020204020204" charset="-122"/>
                <a:cs typeface="Times New Roman" panose="02020603050405020304" pitchFamily="18" charset="0"/>
              </a:rPr>
              <a:t>lightwaves</a:t>
            </a:r>
            <a:r>
              <a:rPr lang="en-US" altLang="zh-CN" dirty="0">
                <a:latin typeface="Times New Roman" panose="02020603050405020304" pitchFamily="18" charset="0"/>
                <a:ea typeface="微软雅黑" panose="020B0503020204020204" charset="-122"/>
                <a:cs typeface="Times New Roman" panose="02020603050405020304" pitchFamily="18" charset="0"/>
              </a:rPr>
              <a:t>, which eventually </a:t>
            </a:r>
            <a:r>
              <a:rPr lang="en-US" altLang="zh-CN" b="1" dirty="0">
                <a:latin typeface="Times New Roman" panose="02020603050405020304" pitchFamily="18" charset="0"/>
                <a:ea typeface="微软雅黑" panose="020B0503020204020204" charset="-122"/>
                <a:cs typeface="Times New Roman" panose="02020603050405020304" pitchFamily="18" charset="0"/>
              </a:rPr>
              <a:t>generates a speckle pattern at the output plane</a:t>
            </a:r>
            <a:r>
              <a:rPr lang="en-US" altLang="zh-CN" dirty="0">
                <a:latin typeface="Times New Roman" panose="02020603050405020304" pitchFamily="18" charset="0"/>
                <a:ea typeface="微软雅黑" panose="020B0503020204020204" charset="-122"/>
                <a:cs typeface="Times New Roman" panose="02020603050405020304" pitchFamily="18" charset="0"/>
              </a:rPr>
              <a:t> of the cascaded </a:t>
            </a:r>
            <a:r>
              <a:rPr lang="en-US" altLang="zh-CN" dirty="0" err="1">
                <a:latin typeface="Times New Roman" panose="02020603050405020304" pitchFamily="18" charset="0"/>
                <a:ea typeface="微软雅黑" panose="020B0503020204020204" charset="-122"/>
                <a:cs typeface="Times New Roman" panose="02020603050405020304" pitchFamily="18" charset="0"/>
              </a:rPr>
              <a:t>metasurfaces</a:t>
            </a:r>
            <a:r>
              <a:rPr lang="en-US" altLang="zh-CN" dirty="0">
                <a:latin typeface="Times New Roman" panose="02020603050405020304" pitchFamily="18" charset="0"/>
                <a:ea typeface="微软雅黑" panose="020B0503020204020204" charset="-122"/>
                <a:cs typeface="Times New Roman" panose="02020603050405020304" pitchFamily="18" charset="0"/>
              </a:rPr>
              <a:t>.</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endParaRPr lang="en-US" altLang="zh-CN" dirty="0">
              <a:latin typeface="Times New Roman" panose="02020603050405020304" pitchFamily="18" charset="0"/>
              <a:ea typeface="微软雅黑" panose="020B0503020204020204" charset="-122"/>
              <a:cs typeface="Times New Roman" panose="02020603050405020304" pitchFamily="18" charset="0"/>
            </a:endParaRPr>
          </a:p>
        </p:txBody>
      </p:sp>
      <p:sp>
        <p:nvSpPr>
          <p:cNvPr id="8" name="文本框 7"/>
          <p:cNvSpPr txBox="1"/>
          <p:nvPr/>
        </p:nvSpPr>
        <p:spPr>
          <a:xfrm>
            <a:off x="7910623" y="5226373"/>
            <a:ext cx="2934320" cy="1015663"/>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457466" y="3734906"/>
            <a:ext cx="7453157" cy="29829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04283"/>
            <a:ext cx="1078114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Principle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13068"/>
            <a:ext cx="10781148" cy="3366563"/>
          </a:xfrm>
          <a:prstGeom prst="rect">
            <a:avLst/>
          </a:prstGeom>
          <a:noFill/>
        </p:spPr>
        <p:txBody>
          <a:bodyPr wrap="square">
            <a:spAutoFit/>
          </a:bodyPr>
          <a:lstStyle/>
          <a:p>
            <a:pPr>
              <a:lnSpc>
                <a:spcPct val="150000"/>
              </a:lnSpc>
            </a:pPr>
            <a:r>
              <a:rPr lang="en-US" altLang="zh-CN" b="1" dirty="0">
                <a:latin typeface="Times New Roman" panose="02020603050405020304" pitchFamily="18" charset="0"/>
                <a:ea typeface="微软雅黑" panose="020B0503020204020204" charset="-122"/>
                <a:cs typeface="Times New Roman" panose="02020603050405020304" pitchFamily="18" charset="0"/>
              </a:rPr>
              <a:t>Huygens–Fresnel </a:t>
            </a:r>
            <a:r>
              <a:rPr lang="en-US" altLang="zh-CN" b="1" dirty="0" err="1">
                <a:latin typeface="Times New Roman" panose="02020603050405020304" pitchFamily="18" charset="0"/>
                <a:ea typeface="微软雅黑" panose="020B0503020204020204" charset="-122"/>
                <a:cs typeface="Times New Roman" panose="02020603050405020304" pitchFamily="18" charset="0"/>
              </a:rPr>
              <a:t>principle</a:t>
            </a:r>
            <a:r>
              <a:rPr lang="en-US" altLang="zh-CN" dirty="0" err="1">
                <a:latin typeface="Times New Roman" panose="02020603050405020304" pitchFamily="18" charset="0"/>
                <a:ea typeface="微软雅黑" panose="020B0503020204020204" charset="-122"/>
                <a:cs typeface="Times New Roman" panose="02020603050405020304" pitchFamily="18" charset="0"/>
              </a:rPr>
              <a:t>:the</a:t>
            </a:r>
            <a:r>
              <a:rPr lang="en-US" altLang="zh-CN" dirty="0">
                <a:latin typeface="Times New Roman" panose="02020603050405020304" pitchFamily="18" charset="0"/>
                <a:ea typeface="微软雅黑" panose="020B0503020204020204" charset="-122"/>
                <a:cs typeface="Times New Roman" panose="02020603050405020304" pitchFamily="18" charset="0"/>
              </a:rPr>
              <a:t> phase modulation from the </a:t>
            </a:r>
            <a:r>
              <a:rPr lang="en-US" altLang="zh-CN" dirty="0" err="1">
                <a:latin typeface="Times New Roman" panose="02020603050405020304" pitchFamily="18" charset="0"/>
                <a:ea typeface="微软雅黑" panose="020B0503020204020204" charset="-122"/>
                <a:cs typeface="Times New Roman" panose="02020603050405020304" pitchFamily="18" charset="0"/>
              </a:rPr>
              <a:t>metasurfaces</a:t>
            </a:r>
            <a:r>
              <a:rPr lang="en-US" altLang="zh-CN" dirty="0">
                <a:latin typeface="Times New Roman" panose="02020603050405020304" pitchFamily="18" charset="0"/>
                <a:ea typeface="微软雅黑" panose="020B0503020204020204" charset="-122"/>
                <a:cs typeface="Times New Roman" panose="02020603050405020304" pitchFamily="18" charset="0"/>
              </a:rPr>
              <a:t> can be </a:t>
            </a:r>
            <a:r>
              <a:rPr lang="en-US" altLang="zh-CN" b="1" dirty="0">
                <a:latin typeface="Times New Roman" panose="02020603050405020304" pitchFamily="18" charset="0"/>
                <a:ea typeface="微软雅黑" panose="020B0503020204020204" charset="-122"/>
                <a:cs typeface="Times New Roman" panose="02020603050405020304" pitchFamily="18" charset="0"/>
              </a:rPr>
              <a:t>converted to intensity speckles</a:t>
            </a:r>
            <a:r>
              <a:rPr lang="en-US" altLang="zh-CN" dirty="0">
                <a:latin typeface="Times New Roman" panose="02020603050405020304" pitchFamily="18" charset="0"/>
                <a:ea typeface="微软雅黑" panose="020B0503020204020204" charset="-122"/>
                <a:cs typeface="Times New Roman" panose="02020603050405020304" pitchFamily="18" charset="0"/>
              </a:rPr>
              <a:t> at the output plane via coherent interferences. </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b="1" dirty="0">
                <a:latin typeface="Times New Roman" panose="02020603050405020304" pitchFamily="18" charset="0"/>
                <a:ea typeface="微软雅黑" panose="020B0503020204020204" charset="-122"/>
                <a:cs typeface="Times New Roman" panose="02020603050405020304" pitchFamily="18" charset="0"/>
              </a:rPr>
              <a:t>Phase-to-Intensity modulation conversion</a:t>
            </a:r>
            <a:r>
              <a:rPr lang="en-US" altLang="zh-CN" dirty="0">
                <a:latin typeface="Times New Roman" panose="02020603050405020304" pitchFamily="18" charset="0"/>
                <a:ea typeface="微软雅黑" panose="020B0503020204020204" charset="-122"/>
                <a:cs typeface="Times New Roman" panose="02020603050405020304" pitchFamily="18" charset="0"/>
              </a:rPr>
              <a:t> features random behaviors and eventually scrambles the spectral information in the speckle patterns. </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b="1" dirty="0">
                <a:latin typeface="Times New Roman" panose="02020603050405020304" pitchFamily="18" charset="0"/>
                <a:ea typeface="微软雅黑" panose="020B0503020204020204" charset="-122"/>
                <a:cs typeface="Times New Roman" panose="02020603050405020304" pitchFamily="18" charset="0"/>
              </a:rPr>
              <a:t>Three layers of diffractive </a:t>
            </a:r>
            <a:r>
              <a:rPr lang="en-US" altLang="zh-CN" b="1" dirty="0" err="1">
                <a:latin typeface="Times New Roman" panose="02020603050405020304" pitchFamily="18" charset="0"/>
                <a:ea typeface="微软雅黑" panose="020B0503020204020204" charset="-122"/>
                <a:cs typeface="Times New Roman" panose="02020603050405020304" pitchFamily="18" charset="0"/>
              </a:rPr>
              <a:t>metasurfaces</a:t>
            </a:r>
            <a:r>
              <a:rPr lang="en-US" altLang="zh-CN" dirty="0">
                <a:latin typeface="Times New Roman" panose="02020603050405020304" pitchFamily="18" charset="0"/>
                <a:ea typeface="微软雅黑" panose="020B0503020204020204" charset="-122"/>
                <a:cs typeface="Times New Roman" panose="02020603050405020304" pitchFamily="18" charset="0"/>
              </a:rPr>
              <a:t> are </a:t>
            </a:r>
            <a:r>
              <a:rPr lang="en-US" altLang="zh-CN" b="1" dirty="0">
                <a:latin typeface="Times New Roman" panose="02020603050405020304" pitchFamily="18" charset="0"/>
                <a:ea typeface="微软雅黑" panose="020B0503020204020204" charset="-122"/>
                <a:cs typeface="Times New Roman" panose="02020603050405020304" pitchFamily="18" charset="0"/>
              </a:rPr>
              <a:t>cascaded</a:t>
            </a:r>
            <a:r>
              <a:rPr lang="en-US" altLang="zh-CN" dirty="0">
                <a:latin typeface="Times New Roman" panose="02020603050405020304" pitchFamily="18" charset="0"/>
                <a:ea typeface="微软雅黑" panose="020B0503020204020204" charset="-122"/>
                <a:cs typeface="Times New Roman" panose="02020603050405020304" pitchFamily="18" charset="0"/>
              </a:rPr>
              <a:t> to </a:t>
            </a:r>
            <a:r>
              <a:rPr lang="en-US" altLang="zh-CN" b="1" dirty="0">
                <a:latin typeface="Times New Roman" panose="02020603050405020304" pitchFamily="18" charset="0"/>
                <a:ea typeface="微软雅黑" panose="020B0503020204020204" charset="-122"/>
                <a:cs typeface="Times New Roman" panose="02020603050405020304" pitchFamily="18" charset="0"/>
              </a:rPr>
              <a:t>increase the spectral richness of the fingerprints</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r>
              <a:rPr lang="en-US" altLang="zh-CN" dirty="0">
                <a:latin typeface="Times New Roman" panose="02020603050405020304" pitchFamily="18" charset="0"/>
                <a:ea typeface="微软雅黑" panose="020B0503020204020204" charset="-122"/>
                <a:cs typeface="Times New Roman" panose="02020603050405020304" pitchFamily="18" charset="0"/>
              </a:rPr>
              <a:t>and the </a:t>
            </a:r>
            <a:r>
              <a:rPr lang="en-US" altLang="zh-CN" b="1" dirty="0">
                <a:latin typeface="Times New Roman" panose="02020603050405020304" pitchFamily="18" charset="0"/>
                <a:ea typeface="微软雅黑" panose="020B0503020204020204" charset="-122"/>
                <a:cs typeface="Times New Roman" panose="02020603050405020304" pitchFamily="18" charset="0"/>
              </a:rPr>
              <a:t>effective interference path lengths</a:t>
            </a: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endParaRPr lang="en-US" altLang="zh-CN" b="1" dirty="0">
              <a:latin typeface="Times New Roman" panose="02020603050405020304" pitchFamily="18" charset="0"/>
              <a:ea typeface="微软雅黑" panose="020B0503020204020204" charset="-122"/>
              <a:cs typeface="Times New Roman" panose="02020603050405020304" pitchFamily="18" charset="0"/>
            </a:endParaRPr>
          </a:p>
          <a:p>
            <a:pPr>
              <a:lnSpc>
                <a:spcPct val="150000"/>
              </a:lnSpc>
            </a:pPr>
            <a:endParaRPr lang="en-US" altLang="zh-CN" dirty="0">
              <a:latin typeface="Times New Roman" panose="02020603050405020304" pitchFamily="18" charset="0"/>
              <a:ea typeface="微软雅黑" panose="020B0503020204020204" charset="-122"/>
              <a:cs typeface="Times New Roman" panose="02020603050405020304" pitchFamily="18" charset="0"/>
            </a:endParaRPr>
          </a:p>
        </p:txBody>
      </p:sp>
      <p:sp>
        <p:nvSpPr>
          <p:cNvPr id="8" name="文本框 7"/>
          <p:cNvSpPr txBox="1"/>
          <p:nvPr/>
        </p:nvSpPr>
        <p:spPr>
          <a:xfrm>
            <a:off x="8110781" y="5362840"/>
            <a:ext cx="3327802" cy="830997"/>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4923008" y="3536770"/>
            <a:ext cx="3104762" cy="3190476"/>
          </a:xfrm>
          <a:prstGeom prst="rect">
            <a:avLst/>
          </a:prstGeom>
        </p:spPr>
      </p:pic>
      <p:sp>
        <p:nvSpPr>
          <p:cNvPr id="18" name="文本框 17"/>
          <p:cNvSpPr txBox="1"/>
          <p:nvPr/>
        </p:nvSpPr>
        <p:spPr>
          <a:xfrm>
            <a:off x="1932700" y="4619084"/>
            <a:ext cx="2439287" cy="369332"/>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S</a:t>
            </a:r>
            <a:r>
              <a:rPr lang="zh-CN" altLang="en-US" b="1" dirty="0">
                <a:latin typeface="Times New Roman" panose="02020603050405020304" pitchFamily="18" charset="0"/>
                <a:cs typeface="Times New Roman" panose="02020603050405020304" pitchFamily="18" charset="0"/>
              </a:rPr>
              <a:t>peckles </a:t>
            </a:r>
            <a:r>
              <a:rPr lang="en-US" altLang="zh-CN" b="1" dirty="0">
                <a:latin typeface="Times New Roman" panose="02020603050405020304" pitchFamily="18" charset="0"/>
                <a:cs typeface="Times New Roman" panose="02020603050405020304" pitchFamily="18" charset="0"/>
              </a:rPr>
              <a:t>patterns</a:t>
            </a:r>
            <a:endParaRPr lang="zh-CN" altLang="en-US" b="1" dirty="0">
              <a:latin typeface="Times New Roman" panose="02020603050405020304" pitchFamily="18" charset="0"/>
              <a:cs typeface="Times New Roman" panose="02020603050405020304" pitchFamily="18" charset="0"/>
            </a:endParaRPr>
          </a:p>
        </p:txBody>
      </p:sp>
      <p:sp>
        <p:nvSpPr>
          <p:cNvPr id="19" name="箭头: 右 18"/>
          <p:cNvSpPr/>
          <p:nvPr/>
        </p:nvSpPr>
        <p:spPr>
          <a:xfrm rot="2042296" flipV="1">
            <a:off x="3719172" y="5289981"/>
            <a:ext cx="1466580" cy="85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156290" y="4982239"/>
            <a:ext cx="6097772" cy="369332"/>
          </a:xfrm>
          <a:prstGeom prst="rect">
            <a:avLst/>
          </a:prstGeom>
          <a:noFill/>
        </p:spPr>
        <p:txBody>
          <a:bodyPr wrap="square">
            <a:spAutoFit/>
          </a:bodyPr>
          <a:lstStyle/>
          <a:p>
            <a:r>
              <a:rPr lang="en-US" altLang="zh-CN" b="1" i="0" dirty="0">
                <a:solidFill>
                  <a:srgbClr val="060607"/>
                </a:solidFill>
                <a:effectLst/>
                <a:latin typeface="Times New Roman" panose="02020603050405020304" pitchFamily="18" charset="0"/>
                <a:cs typeface="Times New Roman" panose="02020603050405020304" pitchFamily="18" charset="0"/>
              </a:rPr>
              <a:t>carry spectral information</a:t>
            </a:r>
            <a:endParaRPr lang="zh-C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Design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1388201"/>
          </a:xfrm>
          <a:prstGeom prst="rect">
            <a:avLst/>
          </a:prstGeom>
          <a:noFill/>
        </p:spPr>
        <p:txBody>
          <a:bodyPr wrap="square">
            <a:spAutoFit/>
          </a:bodyPr>
          <a:lstStyle/>
          <a:p>
            <a:pPr>
              <a:lnSpc>
                <a:spcPct val="150000"/>
              </a:lnSpc>
            </a:pPr>
            <a:r>
              <a:rPr lang="en-US" altLang="zh-CN" sz="2000" b="1" dirty="0">
                <a:latin typeface="微软雅黑" panose="020B0503020204020204" charset="-122"/>
                <a:ea typeface="微软雅黑" panose="020B0503020204020204" charset="-122"/>
              </a:rPr>
              <a:t>The proposed spectrometer is designed on a silicon-on-insulator (SOI) platform with a 220 nm silicon cap layer and a 2 </a:t>
            </a:r>
            <a:r>
              <a:rPr lang="en-US" altLang="zh-CN" sz="2000" b="1" dirty="0" err="1">
                <a:latin typeface="微软雅黑" panose="020B0503020204020204" charset="-122"/>
                <a:ea typeface="微软雅黑" panose="020B0503020204020204" charset="-122"/>
              </a:rPr>
              <a:t>μm</a:t>
            </a:r>
            <a:r>
              <a:rPr lang="en-US" altLang="zh-CN" sz="2000" b="1" dirty="0">
                <a:latin typeface="微软雅黑" panose="020B0503020204020204" charset="-122"/>
                <a:ea typeface="微软雅黑" panose="020B0503020204020204" charset="-122"/>
              </a:rPr>
              <a:t> buried oxide layer.</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dirty="0">
                <a:solidFill>
                  <a:srgbClr val="C00000"/>
                </a:solidFill>
                <a:latin typeface="inherit"/>
              </a:rPr>
              <a:t>M</a:t>
            </a:r>
            <a:r>
              <a:rPr lang="en-US" altLang="zh-CN" b="0" i="0" dirty="0">
                <a:solidFill>
                  <a:srgbClr val="C00000"/>
                </a:solidFill>
                <a:effectLst/>
                <a:latin typeface="inherit"/>
              </a:rPr>
              <a:t>ultimode </a:t>
            </a:r>
            <a:r>
              <a:rPr lang="en-US" altLang="zh-CN" dirty="0">
                <a:solidFill>
                  <a:srgbClr val="C00000"/>
                </a:solidFill>
                <a:latin typeface="inherit"/>
              </a:rPr>
              <a:t>G</a:t>
            </a:r>
            <a:r>
              <a:rPr lang="en-US" altLang="zh-CN" b="0" i="0" dirty="0">
                <a:solidFill>
                  <a:srgbClr val="C00000"/>
                </a:solidFill>
                <a:effectLst/>
                <a:latin typeface="inherit"/>
              </a:rPr>
              <a:t>rating </a:t>
            </a:r>
            <a:r>
              <a:rPr lang="en-US" altLang="zh-CN" dirty="0">
                <a:solidFill>
                  <a:srgbClr val="C00000"/>
                </a:solidFill>
                <a:latin typeface="inherit"/>
              </a:rPr>
              <a:t>C</a:t>
            </a:r>
            <a:r>
              <a:rPr lang="en-US" altLang="zh-CN" b="0" i="0" dirty="0">
                <a:solidFill>
                  <a:srgbClr val="C00000"/>
                </a:solidFill>
                <a:effectLst/>
                <a:latin typeface="inherit"/>
              </a:rPr>
              <a:t>oupler </a:t>
            </a:r>
            <a:r>
              <a:rPr lang="en-US" altLang="zh-CN" b="0" i="0" dirty="0">
                <a:solidFill>
                  <a:srgbClr val="060607"/>
                </a:solidFill>
                <a:effectLst/>
                <a:latin typeface="inherit"/>
              </a:rPr>
              <a:t>: diffracted out and converted 1D speckle patterns to 2D speckles</a:t>
            </a:r>
            <a:endParaRPr lang="en-US" altLang="zh-CN" b="0" i="0" dirty="0">
              <a:solidFill>
                <a:srgbClr val="060607"/>
              </a:solidFill>
              <a:effectLst/>
              <a:latin typeface="inherit"/>
            </a:endParaRPr>
          </a:p>
        </p:txBody>
      </p:sp>
      <p:sp>
        <p:nvSpPr>
          <p:cNvPr id="8" name="文本框 7"/>
          <p:cNvSpPr txBox="1"/>
          <p:nvPr/>
        </p:nvSpPr>
        <p:spPr>
          <a:xfrm>
            <a:off x="8730143" y="5016788"/>
            <a:ext cx="2504861" cy="1015663"/>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463476" y="3716788"/>
            <a:ext cx="8266667" cy="2600000"/>
          </a:xfrm>
          <a:prstGeom prst="rect">
            <a:avLst/>
          </a:prstGeom>
        </p:spPr>
      </p:pic>
      <p:sp>
        <p:nvSpPr>
          <p:cNvPr id="10" name="文本框 9"/>
          <p:cNvSpPr txBox="1"/>
          <p:nvPr/>
        </p:nvSpPr>
        <p:spPr>
          <a:xfrm>
            <a:off x="8072770" y="4648419"/>
            <a:ext cx="6097772" cy="369332"/>
          </a:xfrm>
          <a:prstGeom prst="rect">
            <a:avLst/>
          </a:prstGeom>
          <a:noFill/>
        </p:spPr>
        <p:txBody>
          <a:bodyPr wrap="square">
            <a:spAutoFit/>
          </a:bodyPr>
          <a:lstStyle/>
          <a:p>
            <a:r>
              <a:rPr lang="en-US" altLang="zh-CN" b="0" i="0" dirty="0">
                <a:solidFill>
                  <a:srgbClr val="FF0000"/>
                </a:solidFill>
                <a:effectLst/>
                <a:latin typeface="inherit"/>
              </a:rPr>
              <a:t>grating coupler</a:t>
            </a:r>
            <a:endParaRPr lang="zh-CN" altLang="en-US" dirty="0">
              <a:solidFill>
                <a:srgbClr val="FF0000"/>
              </a:solidFill>
            </a:endParaRPr>
          </a:p>
        </p:txBody>
      </p:sp>
      <p:sp>
        <p:nvSpPr>
          <p:cNvPr id="11" name="右大括号 10"/>
          <p:cNvSpPr/>
          <p:nvPr/>
        </p:nvSpPr>
        <p:spPr>
          <a:xfrm rot="19244417">
            <a:off x="7954681" y="4182206"/>
            <a:ext cx="287972" cy="1982911"/>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Grating Coupler</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112292" y="1704204"/>
            <a:ext cx="5983708" cy="3274614"/>
          </a:xfrm>
          <a:prstGeom prst="rect">
            <a:avLst/>
          </a:prstGeom>
          <a:noFill/>
        </p:spPr>
        <p:txBody>
          <a:bodyPr wrap="square">
            <a:spAutoFit/>
          </a:bodyPr>
          <a:lstStyle/>
          <a:p>
            <a:pPr>
              <a:lnSpc>
                <a:spcPct val="150000"/>
              </a:lnSpc>
            </a:pPr>
            <a:r>
              <a:rPr lang="en-US" altLang="zh-CN" sz="2000" b="0" i="0" dirty="0">
                <a:solidFill>
                  <a:srgbClr val="202122"/>
                </a:solidFill>
                <a:effectLst/>
                <a:latin typeface="Times New Roman" panose="02020603050405020304" pitchFamily="18" charset="0"/>
                <a:cs typeface="Times New Roman" panose="02020603050405020304" pitchFamily="18" charset="0"/>
              </a:rPr>
              <a:t>Grating Coupler is a micro-nano optical device used to </a:t>
            </a:r>
            <a:r>
              <a:rPr lang="en-US" altLang="zh-CN" sz="2000" b="1" i="0" dirty="0">
                <a:solidFill>
                  <a:srgbClr val="202122"/>
                </a:solidFill>
                <a:effectLst/>
                <a:latin typeface="Times New Roman" panose="02020603050405020304" pitchFamily="18" charset="0"/>
                <a:cs typeface="Times New Roman" panose="02020603050405020304" pitchFamily="18" charset="0"/>
              </a:rPr>
              <a:t>couple light between optical fibers and chips</a:t>
            </a:r>
            <a:r>
              <a:rPr lang="en-US" altLang="zh-CN" sz="2000" b="0" i="0" dirty="0">
                <a:solidFill>
                  <a:srgbClr val="202122"/>
                </a:solidFill>
                <a:effectLst/>
                <a:latin typeface="Times New Roman" panose="02020603050405020304" pitchFamily="18" charset="0"/>
                <a:cs typeface="Times New Roman" panose="02020603050405020304" pitchFamily="18" charset="0"/>
              </a:rPr>
              <a:t>.</a:t>
            </a:r>
            <a:endParaRPr lang="en-US" altLang="zh-CN" sz="2000" b="0" i="0" dirty="0">
              <a:solidFill>
                <a:srgbClr val="202122"/>
              </a:solidFill>
              <a:effectLst/>
              <a:latin typeface="Times New Roman" panose="02020603050405020304" pitchFamily="18" charset="0"/>
              <a:cs typeface="Times New Roman" panose="02020603050405020304" pitchFamily="18" charset="0"/>
            </a:endParaRPr>
          </a:p>
          <a:p>
            <a:pPr>
              <a:lnSpc>
                <a:spcPct val="150000"/>
              </a:lnSpc>
            </a:pPr>
            <a:endParaRPr lang="en-US" altLang="zh-CN" sz="2000" dirty="0">
              <a:solidFill>
                <a:srgbClr val="060607"/>
              </a:solidFill>
              <a:latin typeface="Times New Roman" panose="02020603050405020304" pitchFamily="18" charset="0"/>
              <a:cs typeface="Times New Roman" panose="02020603050405020304" pitchFamily="18" charset="0"/>
            </a:endParaRPr>
          </a:p>
          <a:p>
            <a:pPr>
              <a:lnSpc>
                <a:spcPct val="150000"/>
              </a:lnSpc>
            </a:pPr>
            <a:r>
              <a:rPr lang="en-US" altLang="zh-CN" sz="2000" b="0" i="0" dirty="0">
                <a:solidFill>
                  <a:srgbClr val="060607"/>
                </a:solidFill>
                <a:effectLst/>
                <a:latin typeface="Times New Roman" panose="02020603050405020304" pitchFamily="18" charset="0"/>
                <a:cs typeface="Times New Roman" panose="02020603050405020304" pitchFamily="18" charset="0"/>
              </a:rPr>
              <a:t>In our work, the </a:t>
            </a:r>
            <a:r>
              <a:rPr lang="en-US" altLang="zh-CN" sz="2000" b="0" i="0" dirty="0">
                <a:solidFill>
                  <a:srgbClr val="202122"/>
                </a:solidFill>
                <a:effectLst/>
                <a:latin typeface="Times New Roman" panose="02020603050405020304" pitchFamily="18" charset="0"/>
                <a:cs typeface="Times New Roman" panose="02020603050405020304" pitchFamily="18" charset="0"/>
              </a:rPr>
              <a:t>Grating Coupler is used to </a:t>
            </a:r>
            <a:r>
              <a:rPr lang="en-US" altLang="zh-CN" sz="2000" b="1" i="0" dirty="0">
                <a:solidFill>
                  <a:srgbClr val="060607"/>
                </a:solidFill>
                <a:effectLst/>
                <a:latin typeface="inherit"/>
              </a:rPr>
              <a:t>diffracted out the 1D speckle patterns</a:t>
            </a:r>
            <a:r>
              <a:rPr lang="en-US" altLang="zh-CN" sz="2000" b="0" i="0" dirty="0">
                <a:solidFill>
                  <a:srgbClr val="060607"/>
                </a:solidFill>
                <a:effectLst/>
                <a:latin typeface="inherit"/>
              </a:rPr>
              <a:t> at the output of </a:t>
            </a:r>
            <a:r>
              <a:rPr lang="en-US" altLang="zh-CN" sz="2000" b="0" i="0" dirty="0" err="1">
                <a:solidFill>
                  <a:srgbClr val="060607"/>
                </a:solidFill>
                <a:effectLst/>
                <a:latin typeface="inherit"/>
              </a:rPr>
              <a:t>metasurfaces</a:t>
            </a:r>
            <a:r>
              <a:rPr lang="en-US" altLang="zh-CN" sz="2000" b="0" i="0" dirty="0">
                <a:solidFill>
                  <a:srgbClr val="060607"/>
                </a:solidFill>
                <a:effectLst/>
                <a:latin typeface="inherit"/>
              </a:rPr>
              <a:t> to </a:t>
            </a:r>
            <a:r>
              <a:rPr lang="en-US" altLang="zh-CN" sz="2000" b="1" i="0" dirty="0">
                <a:solidFill>
                  <a:srgbClr val="060607"/>
                </a:solidFill>
                <a:effectLst/>
                <a:latin typeface="inherit"/>
              </a:rPr>
              <a:t>convert 1D speckle patterns to 2D </a:t>
            </a:r>
            <a:r>
              <a:rPr lang="en-US" altLang="zh-CN" sz="2000" b="0" i="0" dirty="0">
                <a:solidFill>
                  <a:srgbClr val="060607"/>
                </a:solidFill>
                <a:effectLst/>
                <a:latin typeface="inherit"/>
              </a:rPr>
              <a:t>speckle patterns </a:t>
            </a:r>
            <a:endParaRPr lang="en-US" altLang="zh-CN" sz="2000" b="0" i="0" dirty="0">
              <a:solidFill>
                <a:srgbClr val="202122"/>
              </a:solidFill>
              <a:effectLst/>
              <a:latin typeface="Times New Roman" panose="02020603050405020304" pitchFamily="18" charset="0"/>
              <a:cs typeface="Times New Roman" panose="02020603050405020304" pitchFamily="18" charset="0"/>
            </a:endParaRPr>
          </a:p>
        </p:txBody>
      </p:sp>
      <p:sp>
        <p:nvSpPr>
          <p:cNvPr id="8" name="文本框 7"/>
          <p:cNvSpPr txBox="1"/>
          <p:nvPr/>
        </p:nvSpPr>
        <p:spPr>
          <a:xfrm>
            <a:off x="6714800" y="4806440"/>
            <a:ext cx="4922143" cy="830997"/>
          </a:xfrm>
          <a:prstGeom prst="rect">
            <a:avLst/>
          </a:prstGeom>
          <a:noFill/>
        </p:spPr>
        <p:txBody>
          <a:bodyPr wrap="square">
            <a:spAutoFit/>
          </a:bodyPr>
          <a:lstStyle/>
          <a:p>
            <a:r>
              <a:rPr lang="en-US" altLang="zh-CN" sz="1200" b="0" i="0" dirty="0">
                <a:solidFill>
                  <a:srgbClr val="333333"/>
                </a:solidFill>
                <a:effectLst/>
                <a:latin typeface="HelveticaNeue Regular"/>
              </a:rPr>
              <a:t>Biao Yang, Zhi-Yong Li, Xi Xiao, Jin-Zhong Yu, Yu-De Yu, "High-efficiency focusing grating coupler for large-scale silicon photonic integration", </a:t>
            </a:r>
            <a:r>
              <a:rPr lang="en-US" altLang="zh-CN" sz="1200" b="0" i="1" dirty="0">
                <a:solidFill>
                  <a:srgbClr val="333333"/>
                </a:solidFill>
                <a:effectLst/>
                <a:latin typeface="HelveticaNeue Regular"/>
              </a:rPr>
              <a:t>2013 International Conference on Optoelectronics and Microelectronics (ICOM)</a:t>
            </a:r>
            <a:r>
              <a:rPr lang="en-US" altLang="zh-CN" sz="1200" b="0" i="0" dirty="0">
                <a:solidFill>
                  <a:srgbClr val="333333"/>
                </a:solidFill>
                <a:effectLst/>
                <a:latin typeface="HelveticaNeue Regular"/>
              </a:rPr>
              <a:t>, pp.160-162, 2013.</a:t>
            </a:r>
            <a:endParaRPr lang="zh-CN" altLang="en-US" sz="1200" i="1" dirty="0">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1"/>
          <a:stretch>
            <a:fillRect/>
          </a:stretch>
        </p:blipFill>
        <p:spPr>
          <a:xfrm>
            <a:off x="5862764" y="1589895"/>
            <a:ext cx="6329236" cy="32392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Sample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879087"/>
          </a:xfrm>
          <a:prstGeom prst="rect">
            <a:avLst/>
          </a:prstGeom>
          <a:noFill/>
        </p:spPr>
        <p:txBody>
          <a:bodyPr wrap="square">
            <a:spAutoFit/>
          </a:bodyPr>
          <a:lstStyle/>
          <a:p>
            <a:pPr>
              <a:lnSpc>
                <a:spcPct val="150000"/>
              </a:lnSpc>
            </a:pPr>
            <a:r>
              <a:rPr lang="en-US" altLang="zh-CN" b="1" dirty="0">
                <a:latin typeface="微软雅黑" panose="020B0503020204020204" charset="-122"/>
                <a:ea typeface="微软雅黑" panose="020B0503020204020204" charset="-122"/>
              </a:rPr>
              <a:t>The output diffraction patterns from the wide grating coupler were captured by an </a:t>
            </a:r>
            <a:r>
              <a:rPr lang="en-US" altLang="zh-CN" b="1" dirty="0" err="1">
                <a:latin typeface="微软雅黑" panose="020B0503020204020204" charset="-122"/>
                <a:ea typeface="微软雅黑" panose="020B0503020204020204" charset="-122"/>
              </a:rPr>
              <a:t>InGaAs</a:t>
            </a:r>
            <a:r>
              <a:rPr lang="en-US" altLang="zh-CN" b="1" dirty="0">
                <a:latin typeface="微软雅黑" panose="020B0503020204020204" charset="-122"/>
                <a:ea typeface="微软雅黑" panose="020B0503020204020204" charset="-122"/>
              </a:rPr>
              <a:t> infrared camera (LUSTER-CB2000).</a:t>
            </a:r>
            <a:endParaRPr lang="en-US" altLang="zh-CN" b="0" i="0" dirty="0">
              <a:solidFill>
                <a:srgbClr val="060607"/>
              </a:solidFill>
              <a:effectLst/>
              <a:latin typeface="inherit"/>
            </a:endParaRPr>
          </a:p>
        </p:txBody>
      </p:sp>
      <p:sp>
        <p:nvSpPr>
          <p:cNvPr id="8" name="文本框 7"/>
          <p:cNvSpPr txBox="1"/>
          <p:nvPr/>
        </p:nvSpPr>
        <p:spPr>
          <a:xfrm>
            <a:off x="5808453" y="5801618"/>
            <a:ext cx="6462251"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5518298" y="1765662"/>
            <a:ext cx="2890591" cy="4062887"/>
          </a:xfrm>
          <a:prstGeom prst="rect">
            <a:avLst/>
          </a:prstGeom>
        </p:spPr>
      </p:pic>
      <p:pic>
        <p:nvPicPr>
          <p:cNvPr id="13" name="图片 12"/>
          <p:cNvPicPr>
            <a:picLocks noChangeAspect="1"/>
          </p:cNvPicPr>
          <p:nvPr/>
        </p:nvPicPr>
        <p:blipFill>
          <a:blip r:embed="rId2"/>
          <a:stretch>
            <a:fillRect/>
          </a:stretch>
        </p:blipFill>
        <p:spPr>
          <a:xfrm>
            <a:off x="9094086" y="2244725"/>
            <a:ext cx="2542857" cy="3104762"/>
          </a:xfrm>
          <a:prstGeom prst="rect">
            <a:avLst/>
          </a:prstGeom>
        </p:spPr>
      </p:pic>
      <p:sp>
        <p:nvSpPr>
          <p:cNvPr id="16" name="文本框 15"/>
          <p:cNvSpPr txBox="1"/>
          <p:nvPr/>
        </p:nvSpPr>
        <p:spPr>
          <a:xfrm>
            <a:off x="340508" y="2244725"/>
            <a:ext cx="5177790" cy="1294585"/>
          </a:xfrm>
          <a:prstGeom prst="rect">
            <a:avLst/>
          </a:prstGeom>
          <a:noFill/>
        </p:spPr>
        <p:txBody>
          <a:bodyPr wrap="square">
            <a:spAutoFit/>
          </a:bodyPr>
          <a:lstStyle/>
          <a:p>
            <a:pPr>
              <a:lnSpc>
                <a:spcPct val="150000"/>
              </a:lnSpc>
            </a:pPr>
            <a:r>
              <a:rPr lang="en-US" altLang="zh-CN" b="1" dirty="0">
                <a:latin typeface="微软雅黑" panose="020B0503020204020204" charset="-122"/>
                <a:ea typeface="微软雅黑" panose="020B0503020204020204" charset="-122"/>
              </a:rPr>
              <a:t>In contrast, the 2D speckles measured at different wavelengths have much more data channels for spectral reconstruction.</a:t>
            </a:r>
            <a:endParaRPr lang="en-US" altLang="zh-CN" b="0" i="0" dirty="0">
              <a:solidFill>
                <a:srgbClr val="060607"/>
              </a:solidFill>
              <a:effectLst/>
              <a:latin typeface="inheri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04283"/>
            <a:ext cx="1078114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Principle of Speckle-Based Spectrometer </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文本框 7"/>
          <p:cNvSpPr txBox="1"/>
          <p:nvPr/>
        </p:nvSpPr>
        <p:spPr>
          <a:xfrm>
            <a:off x="7491217" y="5691195"/>
            <a:ext cx="4381384" cy="646332"/>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Zheng Q L, Wen L, Chen Q. Research progress of computational </a:t>
            </a:r>
            <a:r>
              <a:rPr lang="en-US" altLang="zh-CN" sz="1200" i="1" dirty="0" err="1">
                <a:latin typeface="微软雅黑" panose="020B0503020204020204" charset="-122"/>
                <a:ea typeface="微软雅黑" panose="020B0503020204020204" charset="-122"/>
              </a:rPr>
              <a:t>microspectrometer</a:t>
            </a:r>
            <a:r>
              <a:rPr lang="en-US" altLang="zh-CN" sz="1200" i="1" dirty="0">
                <a:latin typeface="微软雅黑" panose="020B0503020204020204" charset="-122"/>
                <a:ea typeface="微软雅黑" panose="020B0503020204020204" charset="-122"/>
              </a:rPr>
              <a:t> based on speckle inspection[J]. Opto-Electron Eng, 2021, 48(3)</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456130" y="3935641"/>
            <a:ext cx="7038095" cy="2438095"/>
          </a:xfrm>
          <a:prstGeom prst="rect">
            <a:avLst/>
          </a:prstGeom>
        </p:spPr>
      </p:pic>
      <p:sp>
        <p:nvSpPr>
          <p:cNvPr id="10" name="文本框 9"/>
          <p:cNvSpPr txBox="1"/>
          <p:nvPr/>
        </p:nvSpPr>
        <p:spPr>
          <a:xfrm>
            <a:off x="340508" y="1108456"/>
            <a:ext cx="10781148" cy="1577611"/>
          </a:xfrm>
          <a:prstGeom prst="rect">
            <a:avLst/>
          </a:prstGeom>
          <a:noFill/>
        </p:spPr>
        <p:txBody>
          <a:bodyPr wrap="square">
            <a:spAutoFit/>
          </a:bodyPr>
          <a:lstStyle/>
          <a:p>
            <a:pPr>
              <a:lnSpc>
                <a:spcPct val="150000"/>
              </a:lnSpc>
            </a:pPr>
            <a:r>
              <a:rPr lang="en-US" altLang="zh-CN" b="1" i="0" dirty="0">
                <a:solidFill>
                  <a:srgbClr val="060607"/>
                </a:solidFill>
                <a:effectLst/>
                <a:latin typeface="Times New Roman" panose="02020603050405020304" pitchFamily="18" charset="0"/>
                <a:cs typeface="Times New Roman" panose="02020603050405020304" pitchFamily="18" charset="0"/>
              </a:rPr>
              <a:t>Calibration:</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Input a series of monochromatic lights </a:t>
            </a:r>
            <a:r>
              <a:rPr lang="en-US" altLang="zh-CN" sz="1600" b="1" i="0" dirty="0">
                <a:solidFill>
                  <a:srgbClr val="060607"/>
                </a:solidFill>
                <a:effectLst/>
                <a:latin typeface="Times New Roman" panose="02020603050405020304" pitchFamily="18" charset="0"/>
                <a:cs typeface="Times New Roman" panose="02020603050405020304" pitchFamily="18" charset="0"/>
              </a:rPr>
              <a:t>λ </a:t>
            </a:r>
            <a:r>
              <a:rPr lang="en-US" altLang="zh-CN" sz="1600" b="0" i="0" dirty="0">
                <a:solidFill>
                  <a:srgbClr val="060607"/>
                </a:solidFill>
                <a:effectLst/>
                <a:latin typeface="Times New Roman" panose="02020603050405020304" pitchFamily="18" charset="0"/>
                <a:cs typeface="Times New Roman" panose="02020603050405020304" pitchFamily="18" charset="0"/>
              </a:rPr>
              <a:t>(</a:t>
            </a:r>
            <a:r>
              <a:rPr lang="en-US" altLang="zh-CN" sz="1600" b="0" i="0" dirty="0" err="1">
                <a:solidFill>
                  <a:srgbClr val="060607"/>
                </a:solidFill>
                <a:effectLst/>
                <a:latin typeface="Times New Roman" panose="02020603050405020304" pitchFamily="18" charset="0"/>
                <a:cs typeface="Times New Roman" panose="02020603050405020304" pitchFamily="18" charset="0"/>
              </a:rPr>
              <a:t>i</a:t>
            </a:r>
            <a:r>
              <a:rPr lang="en-US" altLang="zh-CN" sz="1600" b="0" i="0" dirty="0">
                <a:solidFill>
                  <a:srgbClr val="060607"/>
                </a:solidFill>
                <a:effectLst/>
                <a:latin typeface="Times New Roman" panose="02020603050405020304" pitchFamily="18" charset="0"/>
                <a:cs typeface="Times New Roman" panose="02020603050405020304" pitchFamily="18" charset="0"/>
              </a:rPr>
              <a:t>) for </a:t>
            </a:r>
            <a:r>
              <a:rPr lang="en-US" altLang="zh-CN" sz="1600" b="1" i="0" dirty="0">
                <a:solidFill>
                  <a:srgbClr val="060607"/>
                </a:solidFill>
                <a:effectLst/>
                <a:latin typeface="Times New Roman" panose="02020603050405020304" pitchFamily="18" charset="0"/>
                <a:cs typeface="Times New Roman" panose="02020603050405020304" pitchFamily="18" charset="0"/>
              </a:rPr>
              <a:t>Calibration</a:t>
            </a:r>
            <a:endParaRPr lang="en-US" altLang="zh-CN" sz="1600"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Obtained</a:t>
            </a:r>
            <a:r>
              <a:rPr lang="en-US" altLang="zh-CN" sz="1600" b="1" dirty="0">
                <a:solidFill>
                  <a:srgbClr val="060607"/>
                </a:solidFill>
                <a:latin typeface="Times New Roman" panose="02020603050405020304" pitchFamily="18" charset="0"/>
                <a:cs typeface="Times New Roman" panose="02020603050405020304" pitchFamily="18" charset="0"/>
              </a:rPr>
              <a:t> </a:t>
            </a:r>
            <a:r>
              <a:rPr lang="en-US" altLang="zh-CN" sz="1600" dirty="0">
                <a:solidFill>
                  <a:srgbClr val="060607"/>
                </a:solidFill>
                <a:latin typeface="Times New Roman" panose="02020603050405020304" pitchFamily="18" charset="0"/>
                <a:cs typeface="Times New Roman" panose="02020603050405020304" pitchFamily="18" charset="0"/>
              </a:rPr>
              <a:t>t</a:t>
            </a:r>
            <a:r>
              <a:rPr lang="en-US" altLang="zh-CN" sz="1600" b="0" i="0" dirty="0">
                <a:solidFill>
                  <a:srgbClr val="060607"/>
                </a:solidFill>
                <a:effectLst/>
                <a:latin typeface="Times New Roman" panose="02020603050405020304" pitchFamily="18" charset="0"/>
                <a:cs typeface="Times New Roman" panose="02020603050405020304" pitchFamily="18" charset="0"/>
              </a:rPr>
              <a:t>he </a:t>
            </a:r>
            <a:r>
              <a:rPr lang="en-US" altLang="zh-CN" sz="1600" b="1" i="0" dirty="0">
                <a:solidFill>
                  <a:srgbClr val="060607"/>
                </a:solidFill>
                <a:effectLst/>
                <a:latin typeface="Times New Roman" panose="02020603050405020304" pitchFamily="18" charset="0"/>
                <a:cs typeface="Times New Roman" panose="02020603050405020304" pitchFamily="18" charset="0"/>
              </a:rPr>
              <a:t>intensity signals</a:t>
            </a:r>
            <a:r>
              <a:rPr lang="en-US" altLang="zh-CN" sz="1600" b="0" i="0" dirty="0">
                <a:solidFill>
                  <a:srgbClr val="060607"/>
                </a:solidFill>
                <a:effectLst/>
                <a:latin typeface="Times New Roman" panose="02020603050405020304" pitchFamily="18" charset="0"/>
                <a:cs typeface="Times New Roman" panose="02020603050405020304" pitchFamily="18" charset="0"/>
              </a:rPr>
              <a:t> </a:t>
            </a:r>
            <a:r>
              <a:rPr lang="en-US" altLang="zh-CN" sz="1600" b="1" i="0" dirty="0">
                <a:solidFill>
                  <a:srgbClr val="060607"/>
                </a:solidFill>
                <a:effectLst/>
                <a:latin typeface="Times New Roman" panose="02020603050405020304" pitchFamily="18" charset="0"/>
                <a:cs typeface="Times New Roman" panose="02020603050405020304" pitchFamily="18" charset="0"/>
              </a:rPr>
              <a:t>Φ</a:t>
            </a:r>
            <a:r>
              <a:rPr lang="en-US" altLang="zh-CN" sz="1600" b="0" i="0" dirty="0">
                <a:solidFill>
                  <a:srgbClr val="060607"/>
                </a:solidFill>
                <a:effectLst/>
                <a:latin typeface="Times New Roman" panose="02020603050405020304" pitchFamily="18" charset="0"/>
                <a:cs typeface="Times New Roman" panose="02020603050405020304" pitchFamily="18" charset="0"/>
              </a:rPr>
              <a:t>(</a:t>
            </a:r>
            <a:r>
              <a:rPr lang="en-US" altLang="zh-CN" sz="1600" b="0" i="0" dirty="0" err="1">
                <a:solidFill>
                  <a:srgbClr val="060607"/>
                </a:solidFill>
                <a:effectLst/>
                <a:latin typeface="Times New Roman" panose="02020603050405020304" pitchFamily="18" charset="0"/>
                <a:cs typeface="Times New Roman" panose="02020603050405020304" pitchFamily="18" charset="0"/>
              </a:rPr>
              <a:t>i,j</a:t>
            </a:r>
            <a:r>
              <a:rPr lang="en-US" altLang="zh-CN" sz="1600" b="0" i="0" dirty="0">
                <a:solidFill>
                  <a:srgbClr val="060607"/>
                </a:solidFill>
                <a:effectLst/>
                <a:latin typeface="Times New Roman" panose="02020603050405020304" pitchFamily="18" charset="0"/>
                <a:cs typeface="Times New Roman" panose="02020603050405020304" pitchFamily="18" charset="0"/>
              </a:rPr>
              <a:t>) on j detectors</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dirty="0">
                <a:solidFill>
                  <a:srgbClr val="060607"/>
                </a:solidFill>
                <a:latin typeface="Times New Roman" panose="02020603050405020304" pitchFamily="18" charset="0"/>
                <a:cs typeface="Times New Roman" panose="02020603050405020304" pitchFamily="18" charset="0"/>
              </a:rPr>
              <a:t>E</a:t>
            </a:r>
            <a:r>
              <a:rPr lang="en-US" altLang="zh-CN" sz="1600" b="0" i="0" dirty="0">
                <a:solidFill>
                  <a:srgbClr val="060607"/>
                </a:solidFill>
                <a:effectLst/>
                <a:latin typeface="Times New Roman" panose="02020603050405020304" pitchFamily="18" charset="0"/>
                <a:cs typeface="Times New Roman" panose="02020603050405020304" pitchFamily="18" charset="0"/>
              </a:rPr>
              <a:t>stablishing a </a:t>
            </a:r>
            <a:r>
              <a:rPr lang="en-US" altLang="zh-CN" sz="1600" b="1" i="0" dirty="0">
                <a:solidFill>
                  <a:srgbClr val="060607"/>
                </a:solidFill>
                <a:effectLst/>
                <a:latin typeface="Times New Roman" panose="02020603050405020304" pitchFamily="18" charset="0"/>
                <a:cs typeface="Times New Roman" panose="02020603050405020304" pitchFamily="18" charset="0"/>
              </a:rPr>
              <a:t>mapping relationship</a:t>
            </a:r>
            <a:r>
              <a:rPr lang="en-US" altLang="zh-CN" sz="1600" b="0" i="0" dirty="0">
                <a:solidFill>
                  <a:srgbClr val="060607"/>
                </a:solidFill>
                <a:effectLst/>
                <a:latin typeface="Times New Roman" panose="02020603050405020304" pitchFamily="18" charset="0"/>
                <a:cs typeface="Times New Roman" panose="02020603050405020304" pitchFamily="18" charset="0"/>
              </a:rPr>
              <a:t> between wavelength and detector response(the </a:t>
            </a:r>
            <a:r>
              <a:rPr lang="en-US" altLang="zh-CN" sz="1600" b="1" i="0" dirty="0">
                <a:solidFill>
                  <a:srgbClr val="060607"/>
                </a:solidFill>
                <a:effectLst/>
                <a:latin typeface="Times New Roman" panose="02020603050405020304" pitchFamily="18" charset="0"/>
                <a:cs typeface="Times New Roman" panose="02020603050405020304" pitchFamily="18" charset="0"/>
              </a:rPr>
              <a:t>transmission matrix Φ</a:t>
            </a:r>
            <a:r>
              <a:rPr lang="en-US" altLang="zh-CN" sz="1600" b="0" i="0" dirty="0">
                <a:solidFill>
                  <a:srgbClr val="060607"/>
                </a:solidFill>
                <a:effectLst/>
                <a:latin typeface="Times New Roman" panose="02020603050405020304" pitchFamily="18" charset="0"/>
                <a:cs typeface="Times New Roman" panose="02020603050405020304" pitchFamily="18" charset="0"/>
              </a:rPr>
              <a:t>)</a:t>
            </a:r>
            <a:endParaRPr lang="en-US" altLang="zh-CN" sz="1600" b="1" i="0" dirty="0">
              <a:solidFill>
                <a:srgbClr val="060607"/>
              </a:solidFill>
              <a:effectLst/>
              <a:latin typeface="Times New Roman" panose="02020603050405020304" pitchFamily="18" charset="0"/>
              <a:cs typeface="Times New Roman" panose="02020603050405020304" pitchFamily="18" charset="0"/>
            </a:endParaRPr>
          </a:p>
        </p:txBody>
      </p:sp>
      <p:sp>
        <p:nvSpPr>
          <p:cNvPr id="12" name="文本框 11"/>
          <p:cNvSpPr txBox="1"/>
          <p:nvPr/>
        </p:nvSpPr>
        <p:spPr>
          <a:xfrm>
            <a:off x="340508" y="2526584"/>
            <a:ext cx="10781148" cy="1940916"/>
          </a:xfrm>
          <a:prstGeom prst="rect">
            <a:avLst/>
          </a:prstGeom>
          <a:noFill/>
        </p:spPr>
        <p:txBody>
          <a:bodyPr wrap="square">
            <a:spAutoFit/>
          </a:bodyPr>
          <a:lstStyle/>
          <a:p>
            <a:pPr>
              <a:lnSpc>
                <a:spcPct val="150000"/>
              </a:lnSpc>
            </a:pPr>
            <a:r>
              <a:rPr lang="en-US" altLang="zh-CN" b="1" dirty="0">
                <a:solidFill>
                  <a:srgbClr val="060607"/>
                </a:solidFill>
                <a:latin typeface="Times New Roman" panose="02020603050405020304" pitchFamily="18" charset="0"/>
                <a:cs typeface="Times New Roman" panose="02020603050405020304" pitchFamily="18" charset="0"/>
              </a:rPr>
              <a:t>S</a:t>
            </a:r>
            <a:r>
              <a:rPr lang="en-US" altLang="zh-CN" b="1" i="0" dirty="0">
                <a:solidFill>
                  <a:srgbClr val="060607"/>
                </a:solidFill>
                <a:effectLst/>
                <a:latin typeface="Times New Roman" panose="02020603050405020304" pitchFamily="18" charset="0"/>
                <a:cs typeface="Times New Roman" panose="02020603050405020304" pitchFamily="18" charset="0"/>
              </a:rPr>
              <a:t>pectral Detection :</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dirty="0">
                <a:solidFill>
                  <a:srgbClr val="060607"/>
                </a:solidFill>
                <a:latin typeface="Times New Roman" panose="02020603050405020304" pitchFamily="18" charset="0"/>
                <a:cs typeface="Times New Roman" panose="02020603050405020304" pitchFamily="18" charset="0"/>
              </a:rPr>
              <a:t>I</a:t>
            </a:r>
            <a:r>
              <a:rPr lang="en-US" altLang="zh-CN" sz="1600" b="0" i="0" dirty="0">
                <a:solidFill>
                  <a:srgbClr val="060607"/>
                </a:solidFill>
                <a:effectLst/>
                <a:latin typeface="Times New Roman" panose="02020603050405020304" pitchFamily="18" charset="0"/>
                <a:cs typeface="Times New Roman" panose="02020603050405020304" pitchFamily="18" charset="0"/>
              </a:rPr>
              <a:t>ncident light X produces a series of response signals Y (j) on the detector</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X can be obtained through t matrix inversion: </a:t>
            </a:r>
            <a:r>
              <a:rPr lang="en-US" altLang="zh-CN" sz="1600" b="1" i="0" dirty="0">
                <a:solidFill>
                  <a:srgbClr val="060607"/>
                </a:solidFill>
                <a:effectLst/>
                <a:latin typeface="Times New Roman" panose="02020603050405020304" pitchFamily="18" charset="0"/>
                <a:cs typeface="Times New Roman" panose="02020603050405020304" pitchFamily="18" charset="0"/>
              </a:rPr>
              <a:t>X = Φ⁻¹ Y </a:t>
            </a:r>
            <a:endParaRPr lang="en-US" altLang="zh-CN" sz="1600"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dirty="0">
                <a:solidFill>
                  <a:srgbClr val="060607"/>
                </a:solidFill>
                <a:latin typeface="Times New Roman" panose="02020603050405020304" pitchFamily="18" charset="0"/>
                <a:cs typeface="Times New Roman" panose="02020603050405020304" pitchFamily="18" charset="0"/>
              </a:rPr>
              <a:t>Algorithm for Resolution </a:t>
            </a:r>
            <a:r>
              <a:rPr lang="en-US" altLang="zh-CN" sz="1600" dirty="0" err="1">
                <a:solidFill>
                  <a:srgbClr val="060607"/>
                </a:solidFill>
                <a:latin typeface="Times New Roman" panose="02020603050405020304" pitchFamily="18" charset="0"/>
                <a:cs typeface="Times New Roman" panose="02020603050405020304" pitchFamily="18" charset="0"/>
              </a:rPr>
              <a:t>Enhancemen</a:t>
            </a:r>
            <a:endParaRPr lang="en-US" altLang="zh-CN" sz="1600"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7655442" y="2662780"/>
            <a:ext cx="4369981" cy="2309076"/>
          </a:xfrm>
          <a:prstGeom prst="rect">
            <a:avLst/>
          </a:prstGeom>
        </p:spPr>
      </p:pic>
      <p:sp>
        <p:nvSpPr>
          <p:cNvPr id="7" name="文本框 6"/>
          <p:cNvSpPr txBox="1"/>
          <p:nvPr/>
        </p:nvSpPr>
        <p:spPr>
          <a:xfrm>
            <a:off x="7852144" y="4968666"/>
            <a:ext cx="4178595"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Wan, Y., Fan, X. &amp; He, Z. Review on Speckle-Based Spectrum Analyzer. Photonic Sens 11, 187–202 (2021)</a:t>
            </a:r>
            <a:endParaRPr lang="zh-CN" altLang="en-US" sz="1200" i="1" dirty="0">
              <a:latin typeface="微软雅黑" panose="020B0503020204020204" charset="-122"/>
              <a:ea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Calibration of the Spectrometer</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42444"/>
            <a:ext cx="10781148" cy="1705403"/>
          </a:xfrm>
          <a:prstGeom prst="rect">
            <a:avLst/>
          </a:prstGeom>
          <a:noFill/>
        </p:spPr>
        <p:txBody>
          <a:bodyPr wrap="square">
            <a:spAutoFit/>
          </a:bodyPr>
          <a:lstStyle/>
          <a:p>
            <a:pPr>
              <a:lnSpc>
                <a:spcPct val="150000"/>
              </a:lnSpc>
            </a:pPr>
            <a:r>
              <a:rPr lang="en-US" altLang="zh-CN" b="1" dirty="0">
                <a:latin typeface="微软雅黑" panose="020B0503020204020204" charset="-122"/>
                <a:ea typeface="微软雅黑" panose="020B0503020204020204" charset="-122"/>
              </a:rPr>
              <a:t>Sweep laser (</a:t>
            </a:r>
            <a:r>
              <a:rPr lang="en-US" altLang="zh-CN" b="1" dirty="0" err="1">
                <a:latin typeface="微软雅黑" panose="020B0503020204020204" charset="-122"/>
                <a:ea typeface="微软雅黑" panose="020B0503020204020204" charset="-122"/>
              </a:rPr>
              <a:t>Santec</a:t>
            </a:r>
            <a:r>
              <a:rPr lang="en-US" altLang="zh-CN" b="1" dirty="0">
                <a:latin typeface="微软雅黑" panose="020B0503020204020204" charset="-122"/>
                <a:ea typeface="微软雅黑" panose="020B0503020204020204" charset="-122"/>
              </a:rPr>
              <a:t> TSL710) </a:t>
            </a:r>
            <a:endParaRPr lang="en-US" altLang="zh-CN" b="1" dirty="0">
              <a:latin typeface="微软雅黑" panose="020B0503020204020204" charset="-122"/>
              <a:ea typeface="微软雅黑" panose="020B0503020204020204" charset="-122"/>
            </a:endParaRPr>
          </a:p>
          <a:p>
            <a:pPr>
              <a:lnSpc>
                <a:spcPct val="150000"/>
              </a:lnSpc>
            </a:pPr>
            <a:r>
              <a:rPr lang="en-US" altLang="zh-CN" dirty="0">
                <a:latin typeface="微软雅黑" panose="020B0503020204020204" charset="-122"/>
                <a:ea typeface="微软雅黑" panose="020B0503020204020204" charset="-122"/>
              </a:rPr>
              <a:t>The laser output was swept from </a:t>
            </a:r>
            <a:r>
              <a:rPr lang="en-US" altLang="zh-CN" b="1" dirty="0">
                <a:latin typeface="微软雅黑" panose="020B0503020204020204" charset="-122"/>
                <a:ea typeface="微软雅黑" panose="020B0503020204020204" charset="-122"/>
              </a:rPr>
              <a:t>1530 nm to 1570 nm with 5 pm step size </a:t>
            </a:r>
            <a:endParaRPr lang="en-US" altLang="zh-CN" b="1" dirty="0">
              <a:latin typeface="微软雅黑" panose="020B0503020204020204" charset="-122"/>
              <a:ea typeface="微软雅黑" panose="020B0503020204020204" charset="-122"/>
            </a:endParaRPr>
          </a:p>
          <a:p>
            <a:pPr>
              <a:lnSpc>
                <a:spcPct val="150000"/>
              </a:lnSpc>
            </a:pPr>
            <a:r>
              <a:rPr lang="en-US" altLang="zh-CN" dirty="0">
                <a:latin typeface="微软雅黑" panose="020B0503020204020204" charset="-122"/>
                <a:ea typeface="微软雅黑" panose="020B0503020204020204" charset="-122"/>
              </a:rPr>
              <a:t>The output diffraction patterns captured by an </a:t>
            </a:r>
            <a:r>
              <a:rPr lang="en-US" altLang="zh-CN" b="1" dirty="0" err="1">
                <a:latin typeface="微软雅黑" panose="020B0503020204020204" charset="-122"/>
                <a:ea typeface="微软雅黑" panose="020B0503020204020204" charset="-122"/>
              </a:rPr>
              <a:t>InGaAs</a:t>
            </a:r>
            <a:r>
              <a:rPr lang="en-US" altLang="zh-CN" b="1" dirty="0">
                <a:latin typeface="微软雅黑" panose="020B0503020204020204" charset="-122"/>
                <a:ea typeface="微软雅黑" panose="020B0503020204020204" charset="-122"/>
              </a:rPr>
              <a:t> infrared camera (LUSTER-CB2000)</a:t>
            </a:r>
            <a:endParaRPr lang="en-US" altLang="zh-CN" b="1" dirty="0">
              <a:latin typeface="微软雅黑" panose="020B0503020204020204" charset="-122"/>
              <a:ea typeface="微软雅黑" panose="020B0503020204020204" charset="-122"/>
            </a:endParaRPr>
          </a:p>
          <a:p>
            <a:pPr>
              <a:lnSpc>
                <a:spcPct val="150000"/>
              </a:lnSpc>
            </a:pPr>
            <a:endParaRPr lang="en-US" altLang="zh-CN" dirty="0">
              <a:latin typeface="微软雅黑" panose="020B0503020204020204" charset="-122"/>
              <a:ea typeface="微软雅黑" panose="020B0503020204020204" charset="-122"/>
            </a:endParaRPr>
          </a:p>
        </p:txBody>
      </p:sp>
      <p:sp>
        <p:nvSpPr>
          <p:cNvPr id="8" name="文本框 7"/>
          <p:cNvSpPr txBox="1"/>
          <p:nvPr/>
        </p:nvSpPr>
        <p:spPr>
          <a:xfrm>
            <a:off x="778521" y="5615556"/>
            <a:ext cx="1093855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340508" y="3461354"/>
            <a:ext cx="7443238" cy="2056366"/>
          </a:xfrm>
          <a:prstGeom prst="rect">
            <a:avLst/>
          </a:prstGeom>
        </p:spPr>
      </p:pic>
      <p:pic>
        <p:nvPicPr>
          <p:cNvPr id="11" name="图片 10"/>
          <p:cNvPicPr>
            <a:picLocks noChangeAspect="1"/>
          </p:cNvPicPr>
          <p:nvPr/>
        </p:nvPicPr>
        <p:blipFill>
          <a:blip r:embed="rId2"/>
          <a:stretch>
            <a:fillRect/>
          </a:stretch>
        </p:blipFill>
        <p:spPr>
          <a:xfrm>
            <a:off x="8808372" y="3513346"/>
            <a:ext cx="2828571" cy="195238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Image processing</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文本框 7"/>
          <p:cNvSpPr txBox="1"/>
          <p:nvPr/>
        </p:nvSpPr>
        <p:spPr>
          <a:xfrm>
            <a:off x="396747" y="6149653"/>
            <a:ext cx="6462251"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396747" y="1471880"/>
            <a:ext cx="10363402" cy="467777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Spectral Reconstruction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09458"/>
            <a:ext cx="11376571" cy="2951449"/>
          </a:xfrm>
          <a:prstGeom prst="rect">
            <a:avLst/>
          </a:prstGeom>
          <a:noFill/>
        </p:spPr>
        <p:txBody>
          <a:bodyPr wrap="square">
            <a:spAutoFit/>
          </a:bodyPr>
          <a:lstStyle/>
          <a:p>
            <a:pPr>
              <a:lnSpc>
                <a:spcPct val="150000"/>
              </a:lnSpc>
            </a:pPr>
            <a:r>
              <a:rPr lang="en-US" altLang="zh-CN" sz="2400" b="1" dirty="0">
                <a:latin typeface="微软雅黑" panose="020B0503020204020204" charset="-122"/>
                <a:ea typeface="微软雅黑" panose="020B0503020204020204" charset="-122"/>
              </a:rPr>
              <a:t>Compressed sensing approach based on the CVX (Convex) optimization</a:t>
            </a:r>
            <a:endParaRPr lang="en-US" altLang="zh-CN" sz="2400" b="1" dirty="0">
              <a:latin typeface="微软雅黑" panose="020B0503020204020204" charset="-122"/>
              <a:ea typeface="微软雅黑" panose="020B0503020204020204" charset="-122"/>
            </a:endParaRPr>
          </a:p>
          <a:p>
            <a:pPr>
              <a:lnSpc>
                <a:spcPct val="150000"/>
              </a:lnSpc>
            </a:pPr>
            <a:endParaRPr lang="en-US" altLang="zh-CN" sz="2400" b="1" dirty="0">
              <a:latin typeface="微软雅黑" panose="020B0503020204020204" charset="-122"/>
              <a:ea typeface="微软雅黑" panose="020B0503020204020204" charset="-122"/>
            </a:endParaRPr>
          </a:p>
          <a:p>
            <a:pPr>
              <a:lnSpc>
                <a:spcPct val="150000"/>
              </a:lnSpc>
            </a:pPr>
            <a:endParaRPr lang="en-US" altLang="zh-CN" sz="2400" b="1" dirty="0">
              <a:latin typeface="微软雅黑" panose="020B0503020204020204" charset="-122"/>
              <a:ea typeface="微软雅黑" panose="020B0503020204020204" charset="-122"/>
            </a:endParaRPr>
          </a:p>
          <a:p>
            <a:pPr>
              <a:lnSpc>
                <a:spcPct val="150000"/>
              </a:lnSpc>
            </a:pPr>
            <a:r>
              <a:rPr lang="en-US" altLang="zh-CN" dirty="0">
                <a:latin typeface="微软雅黑" panose="020B0503020204020204" charset="-122"/>
                <a:ea typeface="微软雅黑" panose="020B0503020204020204" charset="-122"/>
              </a:rPr>
              <a:t>Input spectrum </a:t>
            </a:r>
            <a:r>
              <a:rPr lang="en-US" altLang="zh-CN" b="1" dirty="0">
                <a:latin typeface="微软雅黑" panose="020B0503020204020204" charset="-122"/>
                <a:ea typeface="微软雅黑" panose="020B0503020204020204" charset="-122"/>
              </a:rPr>
              <a:t>S(</a:t>
            </a:r>
            <a:r>
              <a:rPr lang="zh-CN" altLang="en-US" b="1" dirty="0">
                <a:latin typeface="微软雅黑" panose="020B0503020204020204" charset="-122"/>
                <a:ea typeface="微软雅黑" panose="020B0503020204020204" charset="-122"/>
              </a:rPr>
              <a:t>𝜆</a:t>
            </a:r>
            <a:r>
              <a:rPr lang="en-US" altLang="zh-CN" b="1" dirty="0">
                <a:latin typeface="微软雅黑" panose="020B0503020204020204" charset="-122"/>
                <a:ea typeface="微软雅黑" panose="020B0503020204020204" charset="-122"/>
              </a:rPr>
              <a:t>)</a:t>
            </a:r>
            <a:r>
              <a:rPr lang="en-US" altLang="zh-CN" dirty="0">
                <a:latin typeface="微软雅黑" panose="020B0503020204020204" charset="-122"/>
                <a:ea typeface="微软雅黑" panose="020B0503020204020204" charset="-122"/>
              </a:rPr>
              <a:t>  </a:t>
            </a:r>
            <a:endParaRPr lang="en-US" altLang="zh-CN" dirty="0">
              <a:latin typeface="微软雅黑" panose="020B0503020204020204" charset="-122"/>
              <a:ea typeface="微软雅黑" panose="020B0503020204020204" charset="-122"/>
            </a:endParaRPr>
          </a:p>
          <a:p>
            <a:pPr>
              <a:lnSpc>
                <a:spcPct val="150000"/>
              </a:lnSpc>
            </a:pPr>
            <a:r>
              <a:rPr lang="en-US" altLang="zh-CN" dirty="0">
                <a:latin typeface="微软雅黑" panose="020B0503020204020204" charset="-122"/>
                <a:ea typeface="微软雅黑" panose="020B0503020204020204" charset="-122"/>
              </a:rPr>
              <a:t>Measured speckles (fingerprints) </a:t>
            </a:r>
            <a:r>
              <a:rPr lang="en-US" altLang="zh-CN" b="1" dirty="0">
                <a:latin typeface="微软雅黑" panose="020B0503020204020204" charset="-122"/>
                <a:ea typeface="微软雅黑" panose="020B0503020204020204" charset="-122"/>
              </a:rPr>
              <a:t>I</a:t>
            </a:r>
            <a:r>
              <a:rPr lang="en-US" altLang="zh-CN" dirty="0">
                <a:latin typeface="微软雅黑" panose="020B0503020204020204" charset="-122"/>
                <a:ea typeface="微软雅黑" panose="020B0503020204020204" charset="-122"/>
              </a:rPr>
              <a:t> </a:t>
            </a:r>
            <a:endParaRPr lang="en-US" altLang="zh-CN" dirty="0">
              <a:latin typeface="微软雅黑" panose="020B0503020204020204" charset="-122"/>
              <a:ea typeface="微软雅黑" panose="020B0503020204020204" charset="-122"/>
            </a:endParaRPr>
          </a:p>
          <a:p>
            <a:pPr>
              <a:lnSpc>
                <a:spcPct val="150000"/>
              </a:lnSpc>
            </a:pPr>
            <a:r>
              <a:rPr lang="en-US" altLang="zh-CN" dirty="0">
                <a:latin typeface="微软雅黑" panose="020B0503020204020204" charset="-122"/>
                <a:ea typeface="微软雅黑" panose="020B0503020204020204" charset="-122"/>
              </a:rPr>
              <a:t>The transmission matrix </a:t>
            </a:r>
            <a:r>
              <a:rPr lang="en-US" altLang="zh-CN" b="1" dirty="0">
                <a:latin typeface="微软雅黑" panose="020B0503020204020204" charset="-122"/>
                <a:ea typeface="微软雅黑" panose="020B0503020204020204" charset="-122"/>
              </a:rPr>
              <a:t>T(</a:t>
            </a:r>
            <a:r>
              <a:rPr lang="zh-CN" altLang="en-US" b="1" dirty="0">
                <a:latin typeface="微软雅黑" panose="020B0503020204020204" charset="-122"/>
                <a:ea typeface="微软雅黑" panose="020B0503020204020204" charset="-122"/>
              </a:rPr>
              <a:t>𝜆</a:t>
            </a:r>
            <a:r>
              <a:rPr lang="en-US" altLang="zh-CN" b="1" dirty="0">
                <a:latin typeface="微软雅黑" panose="020B0503020204020204" charset="-122"/>
                <a:ea typeface="微软雅黑" panose="020B0503020204020204" charset="-122"/>
              </a:rPr>
              <a:t>)</a:t>
            </a:r>
            <a:endParaRPr lang="en-US" altLang="zh-CN" b="1" dirty="0">
              <a:latin typeface="微软雅黑" panose="020B0503020204020204" charset="-122"/>
              <a:ea typeface="微软雅黑" panose="020B0503020204020204" charset="-122"/>
            </a:endParaRPr>
          </a:p>
        </p:txBody>
      </p:sp>
      <p:pic>
        <p:nvPicPr>
          <p:cNvPr id="14" name="图片 13"/>
          <p:cNvPicPr>
            <a:picLocks noChangeAspect="1"/>
          </p:cNvPicPr>
          <p:nvPr/>
        </p:nvPicPr>
        <p:blipFill>
          <a:blip r:embed="rId1"/>
          <a:stretch>
            <a:fillRect/>
          </a:stretch>
        </p:blipFill>
        <p:spPr>
          <a:xfrm>
            <a:off x="4760664" y="2803418"/>
            <a:ext cx="6524858" cy="523220"/>
          </a:xfrm>
          <a:prstGeom prst="rect">
            <a:avLst/>
          </a:prstGeom>
        </p:spPr>
      </p:pic>
      <p:sp>
        <p:nvSpPr>
          <p:cNvPr id="5" name="文本框 4"/>
          <p:cNvSpPr txBox="1"/>
          <p:nvPr/>
        </p:nvSpPr>
        <p:spPr>
          <a:xfrm>
            <a:off x="340508" y="1701837"/>
            <a:ext cx="8327952" cy="830997"/>
          </a:xfrm>
          <a:prstGeom prst="rect">
            <a:avLst/>
          </a:prstGeom>
          <a:noFill/>
        </p:spPr>
        <p:txBody>
          <a:bodyPr wrap="square">
            <a:spAutoFit/>
          </a:bodyPr>
          <a:lstStyle/>
          <a:p>
            <a:pPr marL="285750" indent="-285750">
              <a:buFont typeface="Arial" panose="020B0604020202020204" pitchFamily="34" charset="0"/>
              <a:buChar char="•"/>
            </a:pPr>
            <a:r>
              <a:rPr lang="zh-CN" altLang="en-US" sz="2400" dirty="0">
                <a:latin typeface="Times New Roman" panose="02020603050405020304" pitchFamily="18" charset="0"/>
                <a:cs typeface="Times New Roman" panose="02020603050405020304" pitchFamily="18" charset="0"/>
              </a:rPr>
              <a:t>transfer matrix method is vulnerable to experimental noise </a:t>
            </a:r>
            <a:endParaRPr lang="en-US" altLang="zh-C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sz="2400" dirty="0">
                <a:latin typeface="Times New Roman" panose="02020603050405020304" pitchFamily="18" charset="0"/>
                <a:cs typeface="Times New Roman" panose="02020603050405020304" pitchFamily="18" charset="0"/>
              </a:rPr>
              <a:t>To </a:t>
            </a:r>
            <a:r>
              <a:rPr lang="zh-CN" altLang="en-US" sz="2400" dirty="0">
                <a:latin typeface="Times New Roman" panose="02020603050405020304" pitchFamily="18" charset="0"/>
                <a:cs typeface="Times New Roman" panose="02020603050405020304" pitchFamily="18" charset="0"/>
              </a:rPr>
              <a:t>improve the system robustness</a:t>
            </a:r>
            <a:endParaRPr lang="zh-CN" altLang="en-US" sz="2400" dirty="0">
              <a:latin typeface="Times New Roman" panose="02020603050405020304" pitchFamily="18" charset="0"/>
              <a:cs typeface="Times New Roman" panose="02020603050405020304" pitchFamily="18" charset="0"/>
            </a:endParaRPr>
          </a:p>
        </p:txBody>
      </p:sp>
      <p:sp>
        <p:nvSpPr>
          <p:cNvPr id="15" name="文本框 14"/>
          <p:cNvSpPr txBox="1"/>
          <p:nvPr/>
        </p:nvSpPr>
        <p:spPr>
          <a:xfrm>
            <a:off x="4760664" y="3387380"/>
            <a:ext cx="5116983" cy="64633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𝛼1 and 𝛼2 represents the weight coefficient of 𝑙1and𝑙2 regularization respectively</a:t>
            </a:r>
            <a:endParaRPr lang="zh-CN" altLang="en-US" dirty="0">
              <a:latin typeface="Times New Roman" panose="02020603050405020304" pitchFamily="18" charset="0"/>
              <a:cs typeface="Times New Roman" panose="02020603050405020304" pitchFamily="18" charset="0"/>
            </a:endParaRPr>
          </a:p>
        </p:txBody>
      </p:sp>
      <p:sp>
        <p:nvSpPr>
          <p:cNvPr id="17" name="文本框 16"/>
          <p:cNvSpPr txBox="1"/>
          <p:nvPr/>
        </p:nvSpPr>
        <p:spPr>
          <a:xfrm>
            <a:off x="340508" y="4431491"/>
            <a:ext cx="9432440" cy="707886"/>
          </a:xfrm>
          <a:prstGeom prst="rect">
            <a:avLst/>
          </a:prstGeom>
          <a:noFill/>
        </p:spPr>
        <p:txBody>
          <a:bodyPr wrap="square">
            <a:spAutoFit/>
          </a:bodyPr>
          <a:lstStyle/>
          <a:p>
            <a:r>
              <a:rPr lang="zh-CN" altLang="en-US" sz="2000" dirty="0">
                <a:latin typeface="Times New Roman" panose="02020603050405020304" pitchFamily="18" charset="0"/>
                <a:cs typeface="Times New Roman" panose="02020603050405020304" pitchFamily="18" charset="0"/>
              </a:rPr>
              <a:t>a larger value of a1∕a2 is preferable for the reconstruction of </a:t>
            </a:r>
            <a:r>
              <a:rPr lang="zh-CN" altLang="en-US" sz="2000" b="1" dirty="0">
                <a:latin typeface="Times New Roman" panose="02020603050405020304" pitchFamily="18" charset="0"/>
                <a:cs typeface="Times New Roman" panose="02020603050405020304" pitchFamily="18" charset="0"/>
              </a:rPr>
              <a:t>continuous spectra</a:t>
            </a:r>
            <a:endParaRPr lang="en-US" altLang="zh-CN" sz="2000" dirty="0">
              <a:latin typeface="Times New Roman" panose="02020603050405020304" pitchFamily="18" charset="0"/>
              <a:cs typeface="Times New Roman" panose="02020603050405020304" pitchFamily="18" charset="0"/>
            </a:endParaRPr>
          </a:p>
          <a:p>
            <a:r>
              <a:rPr lang="zh-CN" altLang="en-US" sz="2000" dirty="0">
                <a:latin typeface="Times New Roman" panose="02020603050405020304" pitchFamily="18" charset="0"/>
                <a:cs typeface="Times New Roman" panose="02020603050405020304" pitchFamily="18" charset="0"/>
              </a:rPr>
              <a:t>a smaller a</a:t>
            </a:r>
            <a:r>
              <a:rPr lang="en-US" altLang="zh-CN" sz="2000" dirty="0">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a:t>
            </a:r>
            <a:r>
              <a:rPr lang="en-US" altLang="zh-CN" sz="2000">
                <a:latin typeface="Times New Roman" panose="02020603050405020304" pitchFamily="18" charset="0"/>
                <a:cs typeface="Times New Roman" panose="02020603050405020304" pitchFamily="18" charset="0"/>
              </a:rPr>
              <a:t>2</a:t>
            </a:r>
            <a:r>
              <a:rPr lang="zh-CN" altLang="en-US" sz="2000">
                <a:latin typeface="Times New Roman" panose="02020603050405020304" pitchFamily="18" charset="0"/>
                <a:cs typeface="Times New Roman" panose="02020603050405020304" pitchFamily="18" charset="0"/>
              </a:rPr>
              <a:t> </a:t>
            </a:r>
            <a:r>
              <a:rPr lang="zh-CN" altLang="en-US" sz="2000" dirty="0">
                <a:latin typeface="Times New Roman" panose="02020603050405020304" pitchFamily="18" charset="0"/>
                <a:cs typeface="Times New Roman" panose="02020603050405020304" pitchFamily="18" charset="0"/>
              </a:rPr>
              <a:t>is more suitable for reconstructing </a:t>
            </a:r>
            <a:r>
              <a:rPr lang="zh-CN" altLang="en-US" sz="2000" b="1" dirty="0">
                <a:latin typeface="Times New Roman" panose="02020603050405020304" pitchFamily="18" charset="0"/>
                <a:cs typeface="Times New Roman" panose="02020603050405020304" pitchFamily="18" charset="0"/>
              </a:rPr>
              <a:t>sparse spectra</a:t>
            </a:r>
            <a:endParaRPr lang="zh-CN"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latin typeface="微软雅黑" panose="020B0503020204020204" charset="-122"/>
                <a:ea typeface="微软雅黑" panose="020B0503020204020204" charset="-122"/>
              </a:rPr>
              <a:t>Compressed sensing</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6701836" y="3750395"/>
            <a:ext cx="5232669" cy="2349621"/>
          </a:xfrm>
          <a:prstGeom prst="rect">
            <a:avLst/>
          </a:prstGeom>
        </p:spPr>
      </p:pic>
      <p:sp>
        <p:nvSpPr>
          <p:cNvPr id="9" name="文本框 8"/>
          <p:cNvSpPr txBox="1"/>
          <p:nvPr/>
        </p:nvSpPr>
        <p:spPr>
          <a:xfrm>
            <a:off x="340508" y="1184958"/>
            <a:ext cx="11376571" cy="1555041"/>
          </a:xfrm>
          <a:prstGeom prst="rect">
            <a:avLst/>
          </a:prstGeom>
          <a:noFill/>
        </p:spPr>
        <p:txBody>
          <a:bodyPr wrap="square">
            <a:spAutoFit/>
          </a:bodyPr>
          <a:lstStyle/>
          <a:p>
            <a:pPr>
              <a:lnSpc>
                <a:spcPct val="150000"/>
              </a:lnSpc>
            </a:pPr>
            <a:r>
              <a:rPr lang="en-US" altLang="zh-CN" sz="2200" b="1" i="0" dirty="0" err="1">
                <a:solidFill>
                  <a:srgbClr val="060607"/>
                </a:solidFill>
                <a:effectLst/>
                <a:latin typeface="Times New Roman" panose="02020603050405020304" pitchFamily="18" charset="0"/>
                <a:cs typeface="Times New Roman" panose="02020603050405020304" pitchFamily="18" charset="0"/>
              </a:rPr>
              <a:t>Definition</a:t>
            </a:r>
            <a:r>
              <a:rPr lang="en-US" altLang="zh-CN" sz="2200" b="0" i="0" dirty="0" err="1">
                <a:solidFill>
                  <a:srgbClr val="060607"/>
                </a:solidFill>
                <a:effectLst/>
                <a:latin typeface="Times New Roman" panose="02020603050405020304" pitchFamily="18" charset="0"/>
                <a:cs typeface="Times New Roman" panose="02020603050405020304" pitchFamily="18" charset="0"/>
              </a:rPr>
              <a:t>:A</a:t>
            </a:r>
            <a:r>
              <a:rPr lang="en-US" altLang="zh-CN" sz="2200" b="0" i="0" dirty="0">
                <a:solidFill>
                  <a:srgbClr val="060607"/>
                </a:solidFill>
                <a:effectLst/>
                <a:latin typeface="Times New Roman" panose="02020603050405020304" pitchFamily="18" charset="0"/>
                <a:cs typeface="Times New Roman" panose="02020603050405020304" pitchFamily="18" charset="0"/>
              </a:rPr>
              <a:t> method for reconstructing sparse signals from fewer measurements than the dimension of the signal space</a:t>
            </a:r>
            <a:endParaRPr lang="en-US" altLang="zh-CN" sz="2200" b="0" i="0" dirty="0">
              <a:solidFill>
                <a:srgbClr val="060607"/>
              </a:solidFill>
              <a:effectLst/>
              <a:latin typeface="Times New Roman" panose="02020603050405020304" pitchFamily="18" charset="0"/>
              <a:cs typeface="Times New Roman" panose="02020603050405020304" pitchFamily="18" charset="0"/>
            </a:endParaRPr>
          </a:p>
          <a:p>
            <a:pPr>
              <a:lnSpc>
                <a:spcPct val="150000"/>
              </a:lnSpc>
            </a:pPr>
            <a:endParaRPr lang="en-US" altLang="zh-CN" sz="2200"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1" name="文本框 10"/>
          <p:cNvSpPr txBox="1"/>
          <p:nvPr/>
        </p:nvSpPr>
        <p:spPr>
          <a:xfrm>
            <a:off x="8669079" y="3556803"/>
            <a:ext cx="6096000" cy="418191"/>
          </a:xfrm>
          <a:prstGeom prst="rect">
            <a:avLst/>
          </a:prstGeom>
          <a:noFill/>
        </p:spPr>
        <p:txBody>
          <a:bodyPr wrap="square">
            <a:spAutoFit/>
          </a:bodyPr>
          <a:lstStyle/>
          <a:p>
            <a:pPr>
              <a:lnSpc>
                <a:spcPct val="150000"/>
              </a:lnSpc>
            </a:pPr>
            <a:r>
              <a:rPr lang="en-US" altLang="zh-CN" sz="1600" b="1" dirty="0">
                <a:latin typeface="Times New Roman" panose="02020603050405020304" pitchFamily="18" charset="0"/>
                <a:ea typeface="微软雅黑" panose="020B0503020204020204" charset="-122"/>
                <a:cs typeface="Times New Roman" panose="02020603050405020304" pitchFamily="18" charset="0"/>
              </a:rPr>
              <a:t>transmission matrix</a:t>
            </a:r>
            <a:endParaRPr lang="en-US" altLang="zh-CN" sz="1600"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4" name="文本框 13"/>
          <p:cNvSpPr txBox="1"/>
          <p:nvPr/>
        </p:nvSpPr>
        <p:spPr>
          <a:xfrm>
            <a:off x="6596742" y="3571014"/>
            <a:ext cx="6096000" cy="418191"/>
          </a:xfrm>
          <a:prstGeom prst="rect">
            <a:avLst/>
          </a:prstGeom>
          <a:noFill/>
        </p:spPr>
        <p:txBody>
          <a:bodyPr wrap="square">
            <a:spAutoFit/>
          </a:bodyPr>
          <a:lstStyle/>
          <a:p>
            <a:pPr>
              <a:lnSpc>
                <a:spcPct val="150000"/>
              </a:lnSpc>
            </a:pPr>
            <a:r>
              <a:rPr lang="en-US" altLang="zh-CN" sz="1600" b="1" dirty="0">
                <a:latin typeface="Times New Roman" panose="02020603050405020304" pitchFamily="18" charset="0"/>
                <a:ea typeface="微软雅黑" panose="020B0503020204020204" charset="-122"/>
                <a:cs typeface="Times New Roman" panose="02020603050405020304" pitchFamily="18" charset="0"/>
              </a:rPr>
              <a:t>2D speckles measured </a:t>
            </a:r>
            <a:endParaRPr lang="en-US" altLang="zh-CN" sz="1600" b="1" dirty="0">
              <a:latin typeface="Times New Roman" panose="02020603050405020304" pitchFamily="18" charset="0"/>
              <a:ea typeface="微软雅黑" panose="020B0503020204020204" charset="-122"/>
              <a:cs typeface="Times New Roman" panose="02020603050405020304" pitchFamily="18" charset="0"/>
            </a:endParaRPr>
          </a:p>
        </p:txBody>
      </p:sp>
      <p:sp>
        <p:nvSpPr>
          <p:cNvPr id="17" name="文本框 16"/>
          <p:cNvSpPr txBox="1"/>
          <p:nvPr/>
        </p:nvSpPr>
        <p:spPr>
          <a:xfrm>
            <a:off x="340508" y="2142893"/>
            <a:ext cx="10781148" cy="1571584"/>
          </a:xfrm>
          <a:prstGeom prst="rect">
            <a:avLst/>
          </a:prstGeom>
          <a:noFill/>
        </p:spPr>
        <p:txBody>
          <a:bodyPr wrap="square">
            <a:spAutoFit/>
          </a:bodyPr>
          <a:lstStyle/>
          <a:p>
            <a:pPr>
              <a:lnSpc>
                <a:spcPct val="150000"/>
              </a:lnSpc>
            </a:pPr>
            <a:r>
              <a:rPr lang="en-US" altLang="zh-CN" b="1" i="0" dirty="0">
                <a:solidFill>
                  <a:srgbClr val="060607"/>
                </a:solidFill>
                <a:effectLst/>
                <a:latin typeface="Times New Roman" panose="02020603050405020304" pitchFamily="18" charset="0"/>
                <a:cs typeface="Times New Roman" panose="02020603050405020304" pitchFamily="18" charset="0"/>
              </a:rPr>
              <a:t>Key Idea :</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1" i="0" dirty="0">
                <a:solidFill>
                  <a:srgbClr val="060607"/>
                </a:solidFill>
                <a:effectLst/>
                <a:latin typeface="Times New Roman" panose="02020603050405020304" pitchFamily="18" charset="0"/>
                <a:cs typeface="Times New Roman" panose="02020603050405020304" pitchFamily="18" charset="0"/>
              </a:rPr>
              <a:t>Sparsity:</a:t>
            </a:r>
            <a:r>
              <a:rPr lang="en-US" altLang="zh-CN" sz="1600" b="0" i="0" dirty="0">
                <a:solidFill>
                  <a:srgbClr val="060607"/>
                </a:solidFill>
                <a:effectLst/>
                <a:latin typeface="Times New Roman" panose="02020603050405020304" pitchFamily="18" charset="0"/>
                <a:cs typeface="Times New Roman" panose="02020603050405020304" pitchFamily="18" charset="0"/>
              </a:rPr>
              <a:t> Signals can be represented with a few non-zero components in a suitable basis. </a:t>
            </a:r>
            <a:endParaRPr lang="en-US" altLang="zh-CN" sz="1600" dirty="0">
              <a:solidFill>
                <a:srgbClr val="060607"/>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1" i="0" dirty="0">
                <a:solidFill>
                  <a:srgbClr val="060607"/>
                </a:solidFill>
                <a:effectLst/>
                <a:latin typeface="Times New Roman" panose="02020603050405020304" pitchFamily="18" charset="0"/>
                <a:cs typeface="Times New Roman" panose="02020603050405020304" pitchFamily="18" charset="0"/>
              </a:rPr>
              <a:t>Random Sampling: </a:t>
            </a:r>
            <a:r>
              <a:rPr lang="en-US" altLang="zh-CN" sz="1600" b="0" i="0" dirty="0">
                <a:solidFill>
                  <a:srgbClr val="060607"/>
                </a:solidFill>
                <a:effectLst/>
                <a:latin typeface="Times New Roman" panose="02020603050405020304" pitchFamily="18" charset="0"/>
                <a:cs typeface="Times New Roman" panose="02020603050405020304" pitchFamily="18" charset="0"/>
              </a:rPr>
              <a:t>Acquire fewer measurements using random projections</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1" i="0" dirty="0">
                <a:solidFill>
                  <a:srgbClr val="060607"/>
                </a:solidFill>
                <a:effectLst/>
                <a:latin typeface="Times New Roman" panose="02020603050405020304" pitchFamily="18" charset="0"/>
                <a:cs typeface="Times New Roman" panose="02020603050405020304" pitchFamily="18" charset="0"/>
              </a:rPr>
              <a:t>Optimization:</a:t>
            </a:r>
            <a:r>
              <a:rPr lang="en-US" altLang="zh-CN" sz="1600" b="0" i="0" dirty="0">
                <a:solidFill>
                  <a:srgbClr val="060607"/>
                </a:solidFill>
                <a:effectLst/>
                <a:latin typeface="Times New Roman" panose="02020603050405020304" pitchFamily="18" charset="0"/>
                <a:cs typeface="Times New Roman" panose="02020603050405020304" pitchFamily="18" charset="0"/>
              </a:rPr>
              <a:t> Recover the original signal using optimization algorithms (e.g., l 1 ​ regularization).</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p:txBody>
      </p:sp>
      <p:sp>
        <p:nvSpPr>
          <p:cNvPr id="20" name="文本框 19"/>
          <p:cNvSpPr txBox="1"/>
          <p:nvPr/>
        </p:nvSpPr>
        <p:spPr>
          <a:xfrm>
            <a:off x="10853748" y="3553563"/>
            <a:ext cx="6096000" cy="418191"/>
          </a:xfrm>
          <a:prstGeom prst="rect">
            <a:avLst/>
          </a:prstGeom>
          <a:noFill/>
        </p:spPr>
        <p:txBody>
          <a:bodyPr wrap="square">
            <a:spAutoFit/>
          </a:bodyPr>
          <a:lstStyle/>
          <a:p>
            <a:pPr>
              <a:lnSpc>
                <a:spcPct val="150000"/>
              </a:lnSpc>
            </a:pPr>
            <a:r>
              <a:rPr lang="en-US" altLang="zh-CN" sz="1600" b="1" dirty="0">
                <a:latin typeface="Times New Roman" panose="02020603050405020304" pitchFamily="18" charset="0"/>
                <a:ea typeface="微软雅黑" panose="020B0503020204020204" charset="-122"/>
                <a:cs typeface="Times New Roman" panose="02020603050405020304" pitchFamily="18" charset="0"/>
              </a:rPr>
              <a:t>Spectral</a:t>
            </a:r>
            <a:endParaRPr lang="en-US" altLang="zh-CN" sz="1600" b="1" dirty="0">
              <a:latin typeface="Times New Roman" panose="02020603050405020304" pitchFamily="18" charset="0"/>
              <a:ea typeface="微软雅黑" panose="020B0503020204020204" charset="-122"/>
              <a:cs typeface="Times New Roman" panose="02020603050405020304" pitchFamily="18" charset="0"/>
            </a:endParaRPr>
          </a:p>
        </p:txBody>
      </p:sp>
      <p:cxnSp>
        <p:nvCxnSpPr>
          <p:cNvPr id="24" name="直接箭头连接符 23"/>
          <p:cNvCxnSpPr/>
          <p:nvPr/>
        </p:nvCxnSpPr>
        <p:spPr>
          <a:xfrm>
            <a:off x="7794171" y="3978234"/>
            <a:ext cx="239486" cy="429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flipH="1">
            <a:off x="10853748" y="3966269"/>
            <a:ext cx="467394" cy="351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399768" y="3952087"/>
            <a:ext cx="48641" cy="2784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49536" y="3696754"/>
            <a:ext cx="10781148" cy="1571584"/>
          </a:xfrm>
          <a:prstGeom prst="rect">
            <a:avLst/>
          </a:prstGeom>
          <a:noFill/>
        </p:spPr>
        <p:txBody>
          <a:bodyPr wrap="square">
            <a:spAutoFit/>
          </a:bodyPr>
          <a:lstStyle/>
          <a:p>
            <a:pPr>
              <a:lnSpc>
                <a:spcPct val="150000"/>
              </a:lnSpc>
            </a:pPr>
            <a:r>
              <a:rPr lang="en-US" altLang="zh-CN" b="1" i="0" dirty="0">
                <a:solidFill>
                  <a:srgbClr val="060607"/>
                </a:solidFill>
                <a:effectLst/>
                <a:latin typeface="Times New Roman" panose="02020603050405020304" pitchFamily="18" charset="0"/>
                <a:cs typeface="Times New Roman" panose="02020603050405020304" pitchFamily="18" charset="0"/>
              </a:rPr>
              <a:t>Why It Works</a:t>
            </a:r>
            <a:r>
              <a:rPr lang="en-US" altLang="zh-CN" b="0" i="0" dirty="0">
                <a:solidFill>
                  <a:srgbClr val="060607"/>
                </a:solidFill>
                <a:effectLst/>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Reduces the number of measurements needed.</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1" i="0" dirty="0">
                <a:solidFill>
                  <a:srgbClr val="060607"/>
                </a:solidFill>
                <a:effectLst/>
                <a:latin typeface="Times New Roman" panose="02020603050405020304" pitchFamily="18" charset="0"/>
                <a:cs typeface="Times New Roman" panose="02020603050405020304" pitchFamily="18" charset="0"/>
              </a:rPr>
              <a:t>Robust</a:t>
            </a:r>
            <a:r>
              <a:rPr lang="en-US" altLang="zh-CN" sz="1600" b="0" i="0" dirty="0">
                <a:solidFill>
                  <a:srgbClr val="060607"/>
                </a:solidFill>
                <a:effectLst/>
                <a:latin typeface="Times New Roman" panose="02020603050405020304" pitchFamily="18" charset="0"/>
                <a:cs typeface="Times New Roman" panose="02020603050405020304" pitchFamily="18" charset="0"/>
              </a:rPr>
              <a:t> to noise and efficient for sparse or compressible signals.</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Methods</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latin typeface="微软雅黑" panose="020B0503020204020204" charset="-122"/>
                <a:ea typeface="微软雅黑" panose="020B0503020204020204" charset="-122"/>
              </a:rPr>
              <a:t>Convex optimization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文本框 16"/>
          <p:cNvSpPr txBox="1"/>
          <p:nvPr/>
        </p:nvSpPr>
        <p:spPr>
          <a:xfrm>
            <a:off x="340508" y="1348769"/>
            <a:ext cx="10781148" cy="1202252"/>
          </a:xfrm>
          <a:prstGeom prst="rect">
            <a:avLst/>
          </a:prstGeom>
          <a:noFill/>
        </p:spPr>
        <p:txBody>
          <a:bodyPr wrap="square">
            <a:spAutoFit/>
          </a:bodyPr>
          <a:lstStyle/>
          <a:p>
            <a:pPr>
              <a:lnSpc>
                <a:spcPct val="150000"/>
              </a:lnSpc>
            </a:pPr>
            <a:r>
              <a:rPr lang="en-US" altLang="zh-CN" sz="1800" b="1" dirty="0">
                <a:solidFill>
                  <a:srgbClr val="060607"/>
                </a:solidFill>
                <a:effectLst/>
                <a:latin typeface="Times New Roman" panose="02020603050405020304" pitchFamily="18" charset="0"/>
                <a:cs typeface="Times New Roman" panose="02020603050405020304" pitchFamily="18" charset="0"/>
              </a:rPr>
              <a:t>Norm: </a:t>
            </a:r>
            <a:r>
              <a:rPr lang="en-US" altLang="zh-CN" sz="1800" dirty="0">
                <a:solidFill>
                  <a:srgbClr val="060607"/>
                </a:solidFill>
                <a:effectLst/>
                <a:latin typeface="Times New Roman" panose="02020603050405020304" pitchFamily="18" charset="0"/>
                <a:cs typeface="Times New Roman" panose="02020603050405020304" pitchFamily="18" charset="0"/>
              </a:rPr>
              <a:t>∥TS−I∥ 2</a:t>
            </a:r>
            <a:endParaRPr lang="en-US" altLang="zh-CN" sz="180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Measures the difference between matrix </a:t>
            </a:r>
            <a:r>
              <a:rPr lang="en-US" altLang="zh-CN" sz="1600" b="0" i="1" dirty="0">
                <a:solidFill>
                  <a:srgbClr val="060607"/>
                </a:solidFill>
                <a:effectLst/>
                <a:latin typeface="Times New Roman" panose="02020603050405020304" pitchFamily="18" charset="0"/>
                <a:cs typeface="Times New Roman" panose="02020603050405020304" pitchFamily="18" charset="0"/>
              </a:rPr>
              <a:t>TS</a:t>
            </a:r>
            <a:r>
              <a:rPr lang="en-US" altLang="zh-CN" sz="1600" b="0" i="0" dirty="0">
                <a:solidFill>
                  <a:srgbClr val="060607"/>
                </a:solidFill>
                <a:effectLst/>
                <a:latin typeface="Times New Roman" panose="02020603050405020304" pitchFamily="18" charset="0"/>
                <a:cs typeface="Times New Roman" panose="02020603050405020304" pitchFamily="18" charset="0"/>
              </a:rPr>
              <a:t> and target matrix </a:t>
            </a:r>
            <a:r>
              <a:rPr lang="en-US" altLang="zh-CN" sz="1600" b="0" i="1" dirty="0">
                <a:solidFill>
                  <a:srgbClr val="060607"/>
                </a:solidFill>
                <a:effectLst/>
                <a:latin typeface="Times New Roman" panose="02020603050405020304" pitchFamily="18" charset="0"/>
                <a:cs typeface="Times New Roman" panose="02020603050405020304" pitchFamily="18" charset="0"/>
              </a:rPr>
              <a:t>I</a:t>
            </a:r>
            <a:r>
              <a:rPr lang="en-US" altLang="zh-CN" sz="1600" b="0" i="0" dirty="0">
                <a:solidFill>
                  <a:srgbClr val="060607"/>
                </a:solidFill>
                <a:effectLst/>
                <a:latin typeface="Times New Roman" panose="02020603050405020304" pitchFamily="18" charset="0"/>
                <a:cs typeface="Times New Roman" panose="02020603050405020304" pitchFamily="18" charset="0"/>
              </a:rPr>
              <a:t>.</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Ensures </a:t>
            </a:r>
            <a:r>
              <a:rPr lang="en-US" altLang="zh-CN" sz="1600" b="0" i="1" dirty="0">
                <a:solidFill>
                  <a:srgbClr val="060607"/>
                </a:solidFill>
                <a:effectLst/>
                <a:latin typeface="Times New Roman" panose="02020603050405020304" pitchFamily="18" charset="0"/>
                <a:cs typeface="Times New Roman" panose="02020603050405020304" pitchFamily="18" charset="0"/>
              </a:rPr>
              <a:t>TS</a:t>
            </a:r>
            <a:r>
              <a:rPr lang="en-US" altLang="zh-CN" sz="1600" b="0" i="0" dirty="0">
                <a:solidFill>
                  <a:srgbClr val="060607"/>
                </a:solidFill>
                <a:effectLst/>
                <a:latin typeface="Times New Roman" panose="02020603050405020304" pitchFamily="18" charset="0"/>
                <a:cs typeface="Times New Roman" panose="02020603050405020304" pitchFamily="18" charset="0"/>
              </a:rPr>
              <a:t> is as close as possible to </a:t>
            </a:r>
            <a:r>
              <a:rPr lang="en-US" altLang="zh-CN" sz="1600" b="0" i="1" dirty="0">
                <a:solidFill>
                  <a:srgbClr val="060607"/>
                </a:solidFill>
                <a:effectLst/>
                <a:latin typeface="Times New Roman" panose="02020603050405020304" pitchFamily="18" charset="0"/>
                <a:cs typeface="Times New Roman" panose="02020603050405020304" pitchFamily="18" charset="0"/>
              </a:rPr>
              <a:t>I</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p:txBody>
      </p:sp>
      <p:sp>
        <p:nvSpPr>
          <p:cNvPr id="31" name="文本框 30"/>
          <p:cNvSpPr txBox="1"/>
          <p:nvPr/>
        </p:nvSpPr>
        <p:spPr>
          <a:xfrm>
            <a:off x="340508" y="2551021"/>
            <a:ext cx="10781148" cy="1577611"/>
          </a:xfrm>
          <a:prstGeom prst="rect">
            <a:avLst/>
          </a:prstGeom>
          <a:noFill/>
        </p:spPr>
        <p:txBody>
          <a:bodyPr wrap="square">
            <a:spAutoFit/>
          </a:bodyPr>
          <a:lstStyle/>
          <a:p>
            <a:pPr>
              <a:lnSpc>
                <a:spcPct val="150000"/>
              </a:lnSpc>
            </a:pPr>
            <a:r>
              <a:rPr lang="en-US" altLang="zh-CN" b="1" i="0" dirty="0">
                <a:solidFill>
                  <a:srgbClr val="060607"/>
                </a:solidFill>
                <a:effectLst/>
                <a:latin typeface="Times New Roman" panose="02020603050405020304" pitchFamily="18" charset="0"/>
                <a:cs typeface="Times New Roman" panose="02020603050405020304" pitchFamily="18" charset="0"/>
              </a:rPr>
              <a:t>L2 Norm</a:t>
            </a:r>
            <a:r>
              <a:rPr lang="en-US" altLang="zh-CN" b="0" i="0" dirty="0">
                <a:solidFill>
                  <a:srgbClr val="060607"/>
                </a:solidFill>
                <a:effectLst/>
                <a:latin typeface="Times New Roman" panose="02020603050405020304" pitchFamily="18" charset="0"/>
                <a:cs typeface="Times New Roman" panose="02020603050405020304" pitchFamily="18" charset="0"/>
              </a:rPr>
              <a:t>: ∥S∥</a:t>
            </a:r>
            <a:r>
              <a:rPr lang="en-US" altLang="zh-CN" sz="800" dirty="0">
                <a:solidFill>
                  <a:srgbClr val="060607"/>
                </a:solidFill>
                <a:latin typeface="Times New Roman" panose="02020603050405020304" pitchFamily="18" charset="0"/>
                <a:cs typeface="Times New Roman" panose="02020603050405020304" pitchFamily="18" charset="0"/>
              </a:rPr>
              <a:t>2 </a:t>
            </a:r>
            <a:r>
              <a:rPr lang="en-US" altLang="zh-CN" dirty="0">
                <a:solidFill>
                  <a:srgbClr val="060607"/>
                </a:solidFill>
                <a:latin typeface="Times New Roman" panose="02020603050405020304" pitchFamily="18" charset="0"/>
                <a:cs typeface="Times New Roman" panose="02020603050405020304" pitchFamily="18" charset="0"/>
              </a:rPr>
              <a:t>2</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Measures the size of </a:t>
            </a:r>
            <a:r>
              <a:rPr lang="en-US" altLang="zh-CN" sz="1600" b="0" i="1" dirty="0">
                <a:solidFill>
                  <a:srgbClr val="060607"/>
                </a:solidFill>
                <a:effectLst/>
                <a:latin typeface="Times New Roman" panose="02020603050405020304" pitchFamily="18" charset="0"/>
                <a:cs typeface="Times New Roman" panose="02020603050405020304" pitchFamily="18" charset="0"/>
              </a:rPr>
              <a:t>S</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Regularization to prevent overfitting and control the scale of </a:t>
            </a:r>
            <a:r>
              <a:rPr lang="en-US" altLang="zh-CN" sz="1600" b="0" i="1" dirty="0">
                <a:solidFill>
                  <a:srgbClr val="060607"/>
                </a:solidFill>
                <a:effectLst/>
                <a:latin typeface="Times New Roman" panose="02020603050405020304" pitchFamily="18" charset="0"/>
                <a:cs typeface="Times New Roman" panose="02020603050405020304" pitchFamily="18" charset="0"/>
              </a:rPr>
              <a:t>S</a:t>
            </a:r>
            <a:endParaRPr lang="en-US" altLang="zh-CN" sz="1600" b="0" i="1"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dirty="0">
                <a:solidFill>
                  <a:srgbClr val="060607"/>
                </a:solidFill>
                <a:effectLst/>
                <a:latin typeface="Times New Roman" panose="02020603050405020304" pitchFamily="18" charset="0"/>
                <a:cs typeface="Times New Roman" panose="02020603050405020304" pitchFamily="18" charset="0"/>
              </a:rPr>
              <a:t>for the reconstruction of continuous spectra</a:t>
            </a:r>
            <a:endParaRPr lang="en-US" altLang="zh-CN" sz="1600" b="0" dirty="0">
              <a:solidFill>
                <a:srgbClr val="060607"/>
              </a:solidFill>
              <a:effectLst/>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4841527" y="1117434"/>
            <a:ext cx="5769766" cy="462670"/>
          </a:xfrm>
          <a:prstGeom prst="rect">
            <a:avLst/>
          </a:prstGeom>
        </p:spPr>
      </p:pic>
      <p:sp>
        <p:nvSpPr>
          <p:cNvPr id="7" name="文本框 6"/>
          <p:cNvSpPr txBox="1"/>
          <p:nvPr/>
        </p:nvSpPr>
        <p:spPr>
          <a:xfrm>
            <a:off x="340508" y="4128632"/>
            <a:ext cx="10781148" cy="1577611"/>
          </a:xfrm>
          <a:prstGeom prst="rect">
            <a:avLst/>
          </a:prstGeom>
          <a:noFill/>
        </p:spPr>
        <p:txBody>
          <a:bodyPr wrap="square">
            <a:spAutoFit/>
          </a:bodyPr>
          <a:lstStyle/>
          <a:p>
            <a:pPr>
              <a:lnSpc>
                <a:spcPct val="150000"/>
              </a:lnSpc>
            </a:pPr>
            <a:r>
              <a:rPr lang="en-US" altLang="zh-CN" b="1" i="0" dirty="0">
                <a:solidFill>
                  <a:srgbClr val="060607"/>
                </a:solidFill>
                <a:effectLst/>
                <a:latin typeface="Times New Roman" panose="02020603050405020304" pitchFamily="18" charset="0"/>
                <a:cs typeface="Times New Roman" panose="02020603050405020304" pitchFamily="18" charset="0"/>
              </a:rPr>
              <a:t>L1 Norm</a:t>
            </a:r>
            <a:r>
              <a:rPr lang="en-US" altLang="zh-CN" b="0" i="0" dirty="0">
                <a:solidFill>
                  <a:srgbClr val="060607"/>
                </a:solidFill>
                <a:effectLst/>
                <a:latin typeface="Times New Roman" panose="02020603050405020304" pitchFamily="18" charset="0"/>
                <a:cs typeface="Times New Roman" panose="02020603050405020304" pitchFamily="18" charset="0"/>
              </a:rPr>
              <a:t>: ∥</a:t>
            </a:r>
            <a:r>
              <a:rPr lang="en-US" altLang="zh-CN" b="0" i="1" dirty="0">
                <a:solidFill>
                  <a:srgbClr val="060607"/>
                </a:solidFill>
                <a:effectLst/>
                <a:latin typeface="Times New Roman" panose="02020603050405020304" pitchFamily="18" charset="0"/>
                <a:cs typeface="Times New Roman" panose="02020603050405020304" pitchFamily="18" charset="0"/>
              </a:rPr>
              <a:t>S</a:t>
            </a:r>
            <a:r>
              <a:rPr lang="en-US" altLang="zh-CN" b="0" i="0" dirty="0">
                <a:solidFill>
                  <a:srgbClr val="060607"/>
                </a:solidFill>
                <a:effectLst/>
                <a:latin typeface="Times New Roman" panose="02020603050405020304" pitchFamily="18" charset="0"/>
                <a:cs typeface="Times New Roman" panose="02020603050405020304" pitchFamily="18" charset="0"/>
              </a:rPr>
              <a:t>∥</a:t>
            </a:r>
            <a:r>
              <a:rPr lang="en-US" altLang="zh-CN" sz="800" b="0" i="0" dirty="0">
                <a:solidFill>
                  <a:srgbClr val="060607"/>
                </a:solidFill>
                <a:effectLst/>
                <a:latin typeface="Times New Roman" panose="02020603050405020304" pitchFamily="18" charset="0"/>
                <a:cs typeface="Times New Roman" panose="02020603050405020304" pitchFamily="18" charset="0"/>
              </a:rPr>
              <a:t>1​</a:t>
            </a:r>
            <a:endParaRPr lang="en-US" altLang="zh-CN" sz="800"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Measures the sparsity of matrix </a:t>
            </a:r>
            <a:r>
              <a:rPr lang="en-US" altLang="zh-CN" sz="1600" b="0" i="1" dirty="0">
                <a:solidFill>
                  <a:srgbClr val="060607"/>
                </a:solidFill>
                <a:effectLst/>
                <a:latin typeface="Times New Roman" panose="02020603050405020304" pitchFamily="18" charset="0"/>
                <a:cs typeface="Times New Roman" panose="02020603050405020304" pitchFamily="18" charset="0"/>
              </a:rPr>
              <a:t>S</a:t>
            </a:r>
            <a:r>
              <a:rPr lang="en-US" altLang="zh-CN" sz="1600" b="0" i="0" dirty="0">
                <a:solidFill>
                  <a:srgbClr val="060607"/>
                </a:solidFill>
                <a:effectLst/>
                <a:latin typeface="Times New Roman" panose="02020603050405020304" pitchFamily="18" charset="0"/>
                <a:cs typeface="Times New Roman" panose="02020603050405020304" pitchFamily="18" charset="0"/>
              </a:rPr>
              <a:t>.</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0" dirty="0">
                <a:solidFill>
                  <a:srgbClr val="060607"/>
                </a:solidFill>
                <a:effectLst/>
                <a:latin typeface="Times New Roman" panose="02020603050405020304" pitchFamily="18" charset="0"/>
                <a:cs typeface="Times New Roman" panose="02020603050405020304" pitchFamily="18" charset="0"/>
              </a:rPr>
              <a:t>Encourages sparsity in </a:t>
            </a:r>
            <a:r>
              <a:rPr lang="en-US" altLang="zh-CN" sz="1600" b="0" i="1" dirty="0">
                <a:solidFill>
                  <a:srgbClr val="060607"/>
                </a:solidFill>
                <a:effectLst/>
                <a:latin typeface="Times New Roman" panose="02020603050405020304" pitchFamily="18" charset="0"/>
                <a:cs typeface="Times New Roman" panose="02020603050405020304" pitchFamily="18" charset="0"/>
              </a:rPr>
              <a:t>S</a:t>
            </a:r>
            <a:endParaRPr lang="en-US" altLang="zh-CN" sz="1600" b="0"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sz="1600" b="0" i="1" dirty="0">
                <a:solidFill>
                  <a:srgbClr val="060607"/>
                </a:solidFill>
                <a:effectLst/>
                <a:latin typeface="Times New Roman" panose="02020603050405020304" pitchFamily="18" charset="0"/>
                <a:cs typeface="Times New Roman" panose="02020603050405020304" pitchFamily="18" charset="0"/>
              </a:rPr>
              <a:t>for the reconstruction of</a:t>
            </a:r>
            <a:r>
              <a:rPr lang="zh-CN" altLang="en-US" sz="1600" b="1" dirty="0">
                <a:latin typeface="Times New Roman" panose="02020603050405020304" pitchFamily="18" charset="0"/>
                <a:cs typeface="Times New Roman" panose="02020603050405020304" pitchFamily="18" charset="0"/>
              </a:rPr>
              <a:t> sparse spectra</a:t>
            </a:r>
            <a:endParaRPr lang="en-US" altLang="zh-CN" sz="1600" b="0" i="1" dirty="0">
              <a:solidFill>
                <a:srgbClr val="060607"/>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2" name="矩形 1"/>
          <p:cNvSpPr/>
          <p:nvPr/>
        </p:nvSpPr>
        <p:spPr bwMode="auto">
          <a:xfrm>
            <a:off x="1583977" y="3978389"/>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3" name="文本框 2"/>
          <p:cNvSpPr txBox="1"/>
          <p:nvPr/>
        </p:nvSpPr>
        <p:spPr>
          <a:xfrm>
            <a:off x="2655793" y="3963724"/>
            <a:ext cx="1617943"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bwMode="auto">
          <a:xfrm>
            <a:off x="1583977" y="1915788"/>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8" name="文本框 17"/>
          <p:cNvSpPr txBox="1"/>
          <p:nvPr/>
        </p:nvSpPr>
        <p:spPr>
          <a:xfrm>
            <a:off x="2655793" y="1915788"/>
            <a:ext cx="3103735"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Introduction</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19" name="矩形 18"/>
          <p:cNvSpPr/>
          <p:nvPr/>
        </p:nvSpPr>
        <p:spPr bwMode="auto">
          <a:xfrm>
            <a:off x="6533263" y="191700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0" name="文本框 19"/>
          <p:cNvSpPr txBox="1"/>
          <p:nvPr/>
        </p:nvSpPr>
        <p:spPr>
          <a:xfrm>
            <a:off x="7605079" y="1915789"/>
            <a:ext cx="2646878"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Discussion</a:t>
            </a:r>
            <a:endParaRPr lang="en-US" altLang="zh-CN" sz="3600" b="1" dirty="0">
              <a:solidFill>
                <a:schemeClr val="bg1">
                  <a:lumMod val="65000"/>
                </a:schemeClr>
              </a:solidFill>
              <a:latin typeface="微软雅黑" panose="020B0503020204020204" charset="-122"/>
              <a:ea typeface="微软雅黑" panose="020B0503020204020204" charset="-122"/>
            </a:endParaRPr>
          </a:p>
        </p:txBody>
      </p:sp>
      <p:sp>
        <p:nvSpPr>
          <p:cNvPr id="21" name="矩形 20"/>
          <p:cNvSpPr/>
          <p:nvPr/>
        </p:nvSpPr>
        <p:spPr bwMode="auto">
          <a:xfrm>
            <a:off x="6533263" y="2948909"/>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7605079" y="2947696"/>
            <a:ext cx="2415020"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Summary</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23" name="矩形 22"/>
          <p:cNvSpPr/>
          <p:nvPr/>
        </p:nvSpPr>
        <p:spPr bwMode="auto">
          <a:xfrm>
            <a:off x="1583977" y="3033356"/>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nvSpPr>
        <p:spPr>
          <a:xfrm>
            <a:off x="2655793" y="3035833"/>
            <a:ext cx="22541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Methods</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Calibration of the Spectrometer</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380510"/>
            <a:ext cx="8580208" cy="1477328"/>
          </a:xfrm>
          <a:prstGeom prst="rect">
            <a:avLst/>
          </a:prstGeom>
          <a:noFill/>
        </p:spPr>
        <p:txBody>
          <a:bodyPr wrap="square">
            <a:spAutoFit/>
          </a:bodyPr>
          <a:lstStyle/>
          <a:p>
            <a:r>
              <a:rPr lang="en-US" altLang="zh-CN" b="1" dirty="0">
                <a:latin typeface="微软雅黑" panose="020B0503020204020204" charset="-122"/>
                <a:ea typeface="微软雅黑" panose="020B0503020204020204" charset="-122"/>
              </a:rPr>
              <a:t>1200 physical detection </a:t>
            </a:r>
            <a:r>
              <a:rPr lang="en-US" altLang="zh-CN" b="1" dirty="0" err="1">
                <a:latin typeface="微软雅黑" panose="020B0503020204020204" charset="-122"/>
                <a:ea typeface="微软雅黑" panose="020B0503020204020204" charset="-122"/>
              </a:rPr>
              <a:t>channels</a:t>
            </a:r>
            <a:r>
              <a:rPr lang="en-US" altLang="zh-CN" dirty="0" err="1">
                <a:latin typeface="微软雅黑" panose="020B0503020204020204" charset="-122"/>
                <a:ea typeface="微软雅黑" panose="020B0503020204020204" charset="-122"/>
              </a:rPr>
              <a:t>:much</a:t>
            </a:r>
            <a:r>
              <a:rPr lang="en-US" altLang="zh-CN" dirty="0">
                <a:latin typeface="微软雅黑" panose="020B0503020204020204" charset="-122"/>
                <a:ea typeface="微软雅黑" panose="020B0503020204020204" charset="-122"/>
              </a:rPr>
              <a:t> </a:t>
            </a:r>
            <a:r>
              <a:rPr lang="en-US" altLang="zh-CN" b="1" dirty="0">
                <a:latin typeface="微软雅黑" panose="020B0503020204020204" charset="-122"/>
                <a:ea typeface="微软雅黑" panose="020B0503020204020204" charset="-122"/>
              </a:rPr>
              <a:t>higher density</a:t>
            </a:r>
            <a:r>
              <a:rPr lang="en-US" altLang="zh-CN" dirty="0">
                <a:latin typeface="微软雅黑" panose="020B0503020204020204" charset="-122"/>
                <a:ea typeface="微软雅黑" panose="020B0503020204020204" charset="-122"/>
              </a:rPr>
              <a:t> than the readout scheme via waveguide and detector array.</a:t>
            </a:r>
            <a:endParaRPr lang="en-US" altLang="zh-CN" dirty="0">
              <a:latin typeface="微软雅黑" panose="020B0503020204020204" charset="-122"/>
              <a:ea typeface="微软雅黑" panose="020B0503020204020204" charset="-122"/>
            </a:endParaRPr>
          </a:p>
          <a:p>
            <a:endParaRPr lang="en-US" altLang="zh-CN" dirty="0">
              <a:latin typeface="微软雅黑" panose="020B0503020204020204" charset="-122"/>
              <a:ea typeface="微软雅黑" panose="020B0503020204020204" charset="-122"/>
            </a:endParaRPr>
          </a:p>
          <a:p>
            <a:r>
              <a:rPr lang="en-US" altLang="zh-CN" dirty="0">
                <a:latin typeface="微软雅黑" panose="020B0503020204020204" charset="-122"/>
                <a:ea typeface="微软雅黑" panose="020B0503020204020204" charset="-122"/>
              </a:rPr>
              <a:t>the minimum decorrelation wavelength </a:t>
            </a:r>
            <a:r>
              <a:rPr lang="zh-CN" altLang="en-US" b="1" dirty="0">
                <a:latin typeface="微软雅黑" panose="020B0503020204020204" charset="-122"/>
                <a:ea typeface="微软雅黑" panose="020B0503020204020204" charset="-122"/>
              </a:rPr>
              <a:t>𝛿𝜆 </a:t>
            </a:r>
            <a:r>
              <a:rPr lang="en-US" altLang="zh-CN" b="1" dirty="0">
                <a:latin typeface="微软雅黑" panose="020B0503020204020204" charset="-122"/>
                <a:ea typeface="微软雅黑" panose="020B0503020204020204" charset="-122"/>
              </a:rPr>
              <a:t>= 43.5pm</a:t>
            </a:r>
            <a:r>
              <a:rPr lang="en-US" altLang="zh-CN" dirty="0">
                <a:latin typeface="微软雅黑" panose="020B0503020204020204" charset="-122"/>
                <a:ea typeface="微软雅黑" panose="020B0503020204020204" charset="-122"/>
              </a:rPr>
              <a:t>.</a:t>
            </a:r>
            <a:endParaRPr lang="en-US" altLang="zh-CN" dirty="0">
              <a:latin typeface="微软雅黑" panose="020B0503020204020204" charset="-122"/>
              <a:ea typeface="微软雅黑" panose="020B0503020204020204" charset="-122"/>
            </a:endParaRPr>
          </a:p>
          <a:p>
            <a:endParaRPr lang="en-US" altLang="zh-CN" dirty="0">
              <a:latin typeface="微软雅黑" panose="020B0503020204020204" charset="-122"/>
              <a:ea typeface="微软雅黑" panose="020B0503020204020204" charset="-122"/>
            </a:endParaRPr>
          </a:p>
        </p:txBody>
      </p:sp>
      <p:sp>
        <p:nvSpPr>
          <p:cNvPr id="8" name="文本框 7"/>
          <p:cNvSpPr txBox="1"/>
          <p:nvPr/>
        </p:nvSpPr>
        <p:spPr>
          <a:xfrm>
            <a:off x="340508" y="6032451"/>
            <a:ext cx="1093855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7" name="图片 6"/>
          <p:cNvPicPr>
            <a:picLocks noChangeAspect="1"/>
          </p:cNvPicPr>
          <p:nvPr/>
        </p:nvPicPr>
        <p:blipFill>
          <a:blip r:embed="rId1"/>
          <a:stretch>
            <a:fillRect/>
          </a:stretch>
        </p:blipFill>
        <p:spPr>
          <a:xfrm>
            <a:off x="459125" y="2974133"/>
            <a:ext cx="7504662" cy="2918480"/>
          </a:xfrm>
          <a:prstGeom prst="rect">
            <a:avLst/>
          </a:prstGeom>
        </p:spPr>
      </p:pic>
      <p:sp>
        <p:nvSpPr>
          <p:cNvPr id="12" name="文本框 11"/>
          <p:cNvSpPr txBox="1"/>
          <p:nvPr/>
        </p:nvSpPr>
        <p:spPr>
          <a:xfrm>
            <a:off x="8131248" y="3246845"/>
            <a:ext cx="3405077"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the spectral correlation function:</a:t>
            </a:r>
            <a:endParaRPr lang="zh-CN" altLang="en-US" dirty="0">
              <a:latin typeface="Times New Roman" panose="02020603050405020304" pitchFamily="18" charset="0"/>
              <a:cs typeface="Times New Roman" panose="02020603050405020304" pitchFamily="18" charset="0"/>
            </a:endParaRPr>
          </a:p>
        </p:txBody>
      </p:sp>
      <p:pic>
        <p:nvPicPr>
          <p:cNvPr id="14" name="图片 13"/>
          <p:cNvPicPr>
            <a:picLocks noChangeAspect="1"/>
          </p:cNvPicPr>
          <p:nvPr/>
        </p:nvPicPr>
        <p:blipFill>
          <a:blip r:embed="rId2"/>
          <a:stretch>
            <a:fillRect/>
          </a:stretch>
        </p:blipFill>
        <p:spPr>
          <a:xfrm>
            <a:off x="8231866" y="3623745"/>
            <a:ext cx="3123706" cy="752835"/>
          </a:xfrm>
          <a:prstGeom prst="rect">
            <a:avLst/>
          </a:prstGeom>
        </p:spPr>
      </p:pic>
      <p:sp>
        <p:nvSpPr>
          <p:cNvPr id="16" name="文本框 15"/>
          <p:cNvSpPr txBox="1"/>
          <p:nvPr/>
        </p:nvSpPr>
        <p:spPr>
          <a:xfrm>
            <a:off x="8131248" y="4478705"/>
            <a:ext cx="3979235" cy="738664"/>
          </a:xfrm>
          <a:prstGeom prst="rect">
            <a:avLst/>
          </a:prstGeom>
          <a:noFill/>
        </p:spPr>
        <p:txBody>
          <a:bodyPr wrap="square">
            <a:spAutoFit/>
          </a:bodyPr>
          <a:lstStyle/>
          <a:p>
            <a:r>
              <a:rPr lang="zh-CN" altLang="en-US" sz="1400" dirty="0">
                <a:latin typeface="Times New Roman" panose="02020603050405020304" pitchFamily="18" charset="0"/>
                <a:cs typeface="Times New Roman" panose="02020603050405020304" pitchFamily="18" charset="0"/>
              </a:rPr>
              <a:t>The half-width-half-maximum (HWHM) of C(Δ𝜆), implies the required minimum wavelength shift to reduce the spectral correlation by half</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Spectral Reconstruction Validation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57415"/>
            <a:ext cx="11296435" cy="646315"/>
          </a:xfrm>
          <a:prstGeom prst="rect">
            <a:avLst/>
          </a:prstGeom>
          <a:noFill/>
        </p:spPr>
        <p:txBody>
          <a:bodyPr wrap="square">
            <a:spAutoFit/>
          </a:bodyPr>
          <a:lstStyle/>
          <a:p>
            <a:r>
              <a:rPr lang="en-US" altLang="zh-CN" b="1" dirty="0">
                <a:latin typeface="微软雅黑" panose="020B0503020204020204" charset="-122"/>
                <a:ea typeface="微软雅黑" panose="020B0503020204020204" charset="-122"/>
              </a:rPr>
              <a:t>The reconstruction outputs (solid line) were compared with the reference spectra obtained from a commercial optical spectrum analyzer (OSA, YOKOGAWA AQ6370C) (dashed lines)</a:t>
            </a:r>
            <a:endParaRPr lang="en-US" altLang="zh-CN" dirty="0">
              <a:latin typeface="微软雅黑" panose="020B0503020204020204" charset="-122"/>
              <a:ea typeface="微软雅黑" panose="020B0503020204020204" charset="-122"/>
            </a:endParaRPr>
          </a:p>
        </p:txBody>
      </p:sp>
      <p:sp>
        <p:nvSpPr>
          <p:cNvPr id="8" name="文本框 7"/>
          <p:cNvSpPr txBox="1"/>
          <p:nvPr/>
        </p:nvSpPr>
        <p:spPr>
          <a:xfrm>
            <a:off x="2638153" y="5784848"/>
            <a:ext cx="5915246"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11" name="图片 10"/>
          <p:cNvPicPr>
            <a:picLocks noChangeAspect="1"/>
          </p:cNvPicPr>
          <p:nvPr/>
        </p:nvPicPr>
        <p:blipFill>
          <a:blip r:embed="rId1"/>
          <a:stretch>
            <a:fillRect/>
          </a:stretch>
        </p:blipFill>
        <p:spPr>
          <a:xfrm>
            <a:off x="735237" y="2885724"/>
            <a:ext cx="3570947" cy="2899124"/>
          </a:xfrm>
          <a:prstGeom prst="rect">
            <a:avLst/>
          </a:prstGeom>
        </p:spPr>
      </p:pic>
      <p:sp>
        <p:nvSpPr>
          <p:cNvPr id="15" name="文本框 14"/>
          <p:cNvSpPr txBox="1"/>
          <p:nvPr/>
        </p:nvSpPr>
        <p:spPr>
          <a:xfrm>
            <a:off x="340507" y="2136645"/>
            <a:ext cx="5274659" cy="707886"/>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R</a:t>
            </a:r>
            <a:r>
              <a:rPr lang="zh-CN" altLang="en-US" sz="2000" b="1" dirty="0">
                <a:latin typeface="Times New Roman" panose="02020603050405020304" pitchFamily="18" charset="0"/>
                <a:cs typeface="Times New Roman" panose="02020603050405020304" pitchFamily="18" charset="0"/>
              </a:rPr>
              <a:t>esolution</a:t>
            </a:r>
            <a:r>
              <a:rPr lang="en-US" altLang="zh-CN" sz="2000" b="1"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A</a:t>
            </a:r>
            <a:r>
              <a:rPr lang="zh-CN" altLang="en-US" sz="2000" dirty="0">
                <a:latin typeface="Times New Roman" panose="02020603050405020304" pitchFamily="18" charset="0"/>
                <a:cs typeface="Times New Roman" panose="02020603050405020304" pitchFamily="18" charset="0"/>
              </a:rPr>
              <a:t> dual-peak spectrum generated by two narrow-band lasers</a:t>
            </a:r>
            <a:endParaRPr lang="zh-CN" altLang="en-US" sz="2000" dirty="0">
              <a:latin typeface="Times New Roman" panose="02020603050405020304" pitchFamily="18" charset="0"/>
              <a:cs typeface="Times New Roman" panose="02020603050405020304" pitchFamily="18" charset="0"/>
            </a:endParaRPr>
          </a:p>
        </p:txBody>
      </p:sp>
      <p:sp>
        <p:nvSpPr>
          <p:cNvPr id="20" name="文本框 19"/>
          <p:cNvSpPr txBox="1"/>
          <p:nvPr/>
        </p:nvSpPr>
        <p:spPr>
          <a:xfrm>
            <a:off x="5822710" y="2136645"/>
            <a:ext cx="4969337" cy="646331"/>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Bandwidth</a:t>
            </a:r>
            <a:r>
              <a:rPr lang="en-US" altLang="zh-CN" dirty="0">
                <a:latin typeface="Times New Roman" panose="02020603050405020304" pitchFamily="18" charset="0"/>
                <a:cs typeface="Times New Roman" panose="02020603050405020304" pitchFamily="18" charset="0"/>
              </a:rPr>
              <a:t>:1530 nm to 1570 nm shifting spectral lines of tunable laser</a:t>
            </a:r>
            <a:endParaRPr lang="zh-CN" altLang="en-US" dirty="0">
              <a:latin typeface="Times New Roman" panose="02020603050405020304" pitchFamily="18" charset="0"/>
              <a:cs typeface="Times New Roman" panose="02020603050405020304" pitchFamily="18" charset="0"/>
            </a:endParaRPr>
          </a:p>
        </p:txBody>
      </p:sp>
      <p:pic>
        <p:nvPicPr>
          <p:cNvPr id="22" name="图片 21"/>
          <p:cNvPicPr>
            <a:picLocks noChangeAspect="1"/>
          </p:cNvPicPr>
          <p:nvPr/>
        </p:nvPicPr>
        <p:blipFill>
          <a:blip r:embed="rId2"/>
          <a:stretch>
            <a:fillRect/>
          </a:stretch>
        </p:blipFill>
        <p:spPr>
          <a:xfrm>
            <a:off x="4773241" y="2901182"/>
            <a:ext cx="3388037" cy="2898918"/>
          </a:xfrm>
          <a:prstGeom prst="rect">
            <a:avLst/>
          </a:prstGeom>
        </p:spPr>
      </p:pic>
      <p:pic>
        <p:nvPicPr>
          <p:cNvPr id="24" name="图片 23"/>
          <p:cNvPicPr>
            <a:picLocks noChangeAspect="1"/>
          </p:cNvPicPr>
          <p:nvPr/>
        </p:nvPicPr>
        <p:blipFill>
          <a:blip r:embed="rId3"/>
          <a:stretch>
            <a:fillRect/>
          </a:stretch>
        </p:blipFill>
        <p:spPr>
          <a:xfrm>
            <a:off x="8628336" y="2901182"/>
            <a:ext cx="3568555" cy="294022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Spectral Reconstruction Validation</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9" name="文本框 8"/>
          <p:cNvSpPr txBox="1"/>
          <p:nvPr/>
        </p:nvSpPr>
        <p:spPr>
          <a:xfrm>
            <a:off x="340508" y="1257415"/>
            <a:ext cx="11296435" cy="646315"/>
          </a:xfrm>
          <a:prstGeom prst="rect">
            <a:avLst/>
          </a:prstGeom>
          <a:noFill/>
        </p:spPr>
        <p:txBody>
          <a:bodyPr wrap="square">
            <a:spAutoFit/>
          </a:bodyPr>
          <a:lstStyle/>
          <a:p>
            <a:r>
              <a:rPr lang="en-US" altLang="zh-CN" b="1" dirty="0">
                <a:latin typeface="微软雅黑" panose="020B0503020204020204" charset="-122"/>
                <a:ea typeface="微软雅黑" panose="020B0503020204020204" charset="-122"/>
              </a:rPr>
              <a:t>The reconstruction outputs (solid line) were compared with the reference spectra obtained from a commercial optical spectrum analyzer (OSA, YOKOGAWA AQ6370C) (dashed lines)</a:t>
            </a:r>
            <a:endParaRPr lang="en-US" altLang="zh-CN" dirty="0">
              <a:latin typeface="微软雅黑" panose="020B0503020204020204" charset="-122"/>
              <a:ea typeface="微软雅黑" panose="020B0503020204020204" charset="-122"/>
            </a:endParaRPr>
          </a:p>
        </p:txBody>
      </p:sp>
      <p:sp>
        <p:nvSpPr>
          <p:cNvPr id="8" name="文本框 7"/>
          <p:cNvSpPr txBox="1"/>
          <p:nvPr/>
        </p:nvSpPr>
        <p:spPr>
          <a:xfrm>
            <a:off x="987188" y="6032452"/>
            <a:ext cx="10931909"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15" name="文本框 14"/>
          <p:cNvSpPr txBox="1"/>
          <p:nvPr/>
        </p:nvSpPr>
        <p:spPr>
          <a:xfrm>
            <a:off x="1499457" y="2036556"/>
            <a:ext cx="6209149" cy="400110"/>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multiple wavelength peaks</a:t>
            </a:r>
            <a:endParaRPr lang="zh-CN" altLang="en-US" sz="2000" b="1" dirty="0">
              <a:latin typeface="Times New Roman" panose="02020603050405020304" pitchFamily="18" charset="0"/>
              <a:cs typeface="Times New Roman" panose="02020603050405020304" pitchFamily="18" charset="0"/>
            </a:endParaRPr>
          </a:p>
        </p:txBody>
      </p:sp>
      <p:sp>
        <p:nvSpPr>
          <p:cNvPr id="20" name="文本框 19"/>
          <p:cNvSpPr txBox="1"/>
          <p:nvPr/>
        </p:nvSpPr>
        <p:spPr>
          <a:xfrm>
            <a:off x="7995332" y="2051945"/>
            <a:ext cx="4969337" cy="369332"/>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continuous broad spectrum</a:t>
            </a:r>
            <a:endParaRPr lang="zh-CN" altLang="en-US" b="1" dirty="0">
              <a:latin typeface="Times New Roman" panose="02020603050405020304" pitchFamily="18" charset="0"/>
              <a:cs typeface="Times New Roman" panose="02020603050405020304" pitchFamily="18" charset="0"/>
            </a:endParaRPr>
          </a:p>
        </p:txBody>
      </p:sp>
      <p:pic>
        <p:nvPicPr>
          <p:cNvPr id="13" name="图片 12"/>
          <p:cNvPicPr>
            <a:picLocks noChangeAspect="1"/>
          </p:cNvPicPr>
          <p:nvPr/>
        </p:nvPicPr>
        <p:blipFill>
          <a:blip r:embed="rId1"/>
          <a:stretch>
            <a:fillRect/>
          </a:stretch>
        </p:blipFill>
        <p:spPr>
          <a:xfrm>
            <a:off x="879547" y="2421277"/>
            <a:ext cx="4716229" cy="3584334"/>
          </a:xfrm>
          <a:prstGeom prst="rect">
            <a:avLst/>
          </a:prstGeom>
        </p:spPr>
      </p:pic>
      <p:pic>
        <p:nvPicPr>
          <p:cNvPr id="16" name="图片 15"/>
          <p:cNvPicPr>
            <a:picLocks noChangeAspect="1"/>
          </p:cNvPicPr>
          <p:nvPr/>
        </p:nvPicPr>
        <p:blipFill>
          <a:blip r:embed="rId2"/>
          <a:stretch>
            <a:fillRect/>
          </a:stretch>
        </p:blipFill>
        <p:spPr>
          <a:xfrm>
            <a:off x="7035169" y="2421277"/>
            <a:ext cx="4475523" cy="36111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49"/>
            <a:ext cx="7208608"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Reconstruction Accuracy</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文本框 7"/>
          <p:cNvSpPr txBox="1"/>
          <p:nvPr/>
        </p:nvSpPr>
        <p:spPr>
          <a:xfrm>
            <a:off x="6200060" y="5592787"/>
            <a:ext cx="5915246"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5" name="文本框 4"/>
          <p:cNvSpPr txBox="1"/>
          <p:nvPr/>
        </p:nvSpPr>
        <p:spPr>
          <a:xfrm>
            <a:off x="340507" y="1348769"/>
            <a:ext cx="10387743" cy="923330"/>
          </a:xfrm>
          <a:prstGeom prst="rect">
            <a:avLst/>
          </a:prstGeom>
          <a:noFill/>
        </p:spPr>
        <p:txBody>
          <a:bodyPr wrap="square">
            <a:spAutoFit/>
          </a:bodyPr>
          <a:lstStyle/>
          <a:p>
            <a:r>
              <a:rPr lang="en-US" altLang="zh-CN" b="1" dirty="0">
                <a:latin typeface="Times New Roman" panose="02020603050405020304" pitchFamily="18" charset="0"/>
                <a:cs typeface="Times New Roman" panose="02020603050405020304" pitchFamily="18" charset="0"/>
              </a:rPr>
              <a:t>R</a:t>
            </a:r>
            <a:r>
              <a:rPr lang="zh-CN" altLang="en-US" b="1" dirty="0">
                <a:latin typeface="Times New Roman" panose="02020603050405020304" pitchFamily="18" charset="0"/>
                <a:cs typeface="Times New Roman" panose="02020603050405020304" pitchFamily="18" charset="0"/>
              </a:rPr>
              <a:t>econstruction accuracy </a:t>
            </a:r>
            <a:r>
              <a:rPr lang="zh-CN" altLang="en-US" dirty="0">
                <a:latin typeface="Times New Roman" panose="02020603050405020304" pitchFamily="18" charset="0"/>
                <a:cs typeface="Times New Roman" panose="02020603050405020304" pitchFamily="18" charset="0"/>
              </a:rPr>
              <a:t>was evaluated by calculation of </a:t>
            </a:r>
            <a:r>
              <a:rPr lang="zh-CN" altLang="en-US" b="1" dirty="0">
                <a:latin typeface="Times New Roman" panose="02020603050405020304" pitchFamily="18" charset="0"/>
                <a:cs typeface="Times New Roman" panose="02020603050405020304" pitchFamily="18" charset="0"/>
              </a:rPr>
              <a:t>relative errors</a:t>
            </a:r>
            <a:r>
              <a:rPr lang="zh-CN" altLang="en-US" dirty="0">
                <a:latin typeface="Times New Roman" panose="02020603050405020304" pitchFamily="18" charset="0"/>
                <a:cs typeface="Times New Roman" panose="02020603050405020304" pitchFamily="18" charset="0"/>
              </a:rPr>
              <a:t> between the results obtained from the speckle spectrometer and the commercial spectrum analyzer. </a:t>
            </a:r>
            <a:endParaRPr lang="en-US" altLang="zh-CN" dirty="0">
              <a:latin typeface="Times New Roman" panose="02020603050405020304" pitchFamily="18" charset="0"/>
              <a:ea typeface="Artifakt Element Heavy" panose="020B0B03050000020004" pitchFamily="34" charset="0"/>
              <a:cs typeface="Times New Roman" panose="02020603050405020304" pitchFamily="18" charset="0"/>
            </a:endParaRPr>
          </a:p>
          <a:p>
            <a:r>
              <a:rPr lang="zh-CN" altLang="en-US" dirty="0">
                <a:latin typeface="Times New Roman" panose="02020603050405020304" pitchFamily="18" charset="0"/>
                <a:cs typeface="Times New Roman" panose="02020603050405020304" pitchFamily="18" charset="0"/>
              </a:rPr>
              <a:t>The relative reconstruction error can be calculated using the following equation:</a:t>
            </a:r>
            <a:endParaRPr lang="zh-CN" altLang="en-US" dirty="0">
              <a:latin typeface="Times New Roman" panose="02020603050405020304" pitchFamily="18" charset="0"/>
              <a:cs typeface="Times New Roman" panose="02020603050405020304" pitchFamily="18" charset="0"/>
            </a:endParaRPr>
          </a:p>
        </p:txBody>
      </p:sp>
      <p:pic>
        <p:nvPicPr>
          <p:cNvPr id="11" name="图片 10"/>
          <p:cNvPicPr>
            <a:picLocks noChangeAspect="1"/>
          </p:cNvPicPr>
          <p:nvPr/>
        </p:nvPicPr>
        <p:blipFill>
          <a:blip r:embed="rId1"/>
          <a:stretch>
            <a:fillRect/>
          </a:stretch>
        </p:blipFill>
        <p:spPr>
          <a:xfrm>
            <a:off x="447156" y="2486096"/>
            <a:ext cx="2817474" cy="1501113"/>
          </a:xfrm>
          <a:prstGeom prst="rect">
            <a:avLst/>
          </a:prstGeom>
        </p:spPr>
      </p:pic>
      <p:sp>
        <p:nvSpPr>
          <p:cNvPr id="13" name="文本框 12"/>
          <p:cNvSpPr txBox="1"/>
          <p:nvPr/>
        </p:nvSpPr>
        <p:spPr>
          <a:xfrm>
            <a:off x="447156" y="4069738"/>
            <a:ext cx="5595384" cy="553998"/>
          </a:xfrm>
          <a:prstGeom prst="rect">
            <a:avLst/>
          </a:prstGeom>
          <a:noFill/>
        </p:spPr>
        <p:txBody>
          <a:bodyPr wrap="square">
            <a:spAutoFit/>
          </a:bodyPr>
          <a:lstStyle/>
          <a:p>
            <a:r>
              <a:rPr lang="zh-CN" altLang="en-US" sz="1500" dirty="0">
                <a:latin typeface="Times New Roman" panose="02020603050405020304" pitchFamily="18" charset="0"/>
                <a:cs typeface="Times New Roman" panose="02020603050405020304" pitchFamily="18" charset="0"/>
              </a:rPr>
              <a:t>where S and S0 denote the recovered and the original spectrum, respectively. M is the number of wavelength channels.</a:t>
            </a:r>
            <a:endParaRPr lang="zh-CN" altLang="en-US" sz="1500" dirty="0">
              <a:latin typeface="Times New Roman" panose="02020603050405020304" pitchFamily="18" charset="0"/>
              <a:cs typeface="Times New Roman" panose="02020603050405020304" pitchFamily="18" charset="0"/>
            </a:endParaRPr>
          </a:p>
        </p:txBody>
      </p:sp>
      <p:pic>
        <p:nvPicPr>
          <p:cNvPr id="16" name="图片 15"/>
          <p:cNvPicPr>
            <a:picLocks noChangeAspect="1"/>
          </p:cNvPicPr>
          <p:nvPr/>
        </p:nvPicPr>
        <p:blipFill>
          <a:blip r:embed="rId2"/>
          <a:stretch>
            <a:fillRect/>
          </a:stretch>
        </p:blipFill>
        <p:spPr>
          <a:xfrm>
            <a:off x="7277643" y="2229087"/>
            <a:ext cx="4359300" cy="328014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Result</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340508" y="1287214"/>
            <a:ext cx="9792320" cy="4893647"/>
          </a:xfrm>
          <a:prstGeom prst="rect">
            <a:avLst/>
          </a:prstGeom>
          <a:noFill/>
        </p:spPr>
        <p:txBody>
          <a:bodyPr wrap="square">
            <a:spAutoFit/>
          </a:bodyPr>
          <a:lstStyle/>
          <a:p>
            <a:r>
              <a:rPr lang="en-US" altLang="zh-CN" sz="2400" b="1" dirty="0">
                <a:latin typeface="Times New Roman" panose="02020603050405020304" pitchFamily="18" charset="0"/>
                <a:cs typeface="Times New Roman" panose="02020603050405020304" pitchFamily="18" charset="0"/>
              </a:rPr>
              <a:t>Resolution:</a:t>
            </a:r>
            <a:r>
              <a:rPr lang="en-US" altLang="zh-CN" sz="2400" dirty="0">
                <a:latin typeface="Times New Roman" panose="02020603050405020304" pitchFamily="18" charset="0"/>
                <a:cs typeface="Times New Roman" panose="02020603050405020304" pitchFamily="18" charset="0"/>
              </a:rPr>
              <a:t>47 pm </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Bandwidth:</a:t>
            </a:r>
            <a:r>
              <a:rPr lang="en-US" altLang="zh-CN" sz="2400" dirty="0">
                <a:latin typeface="Times New Roman" panose="02020603050405020304" pitchFamily="18" charset="0"/>
                <a:cs typeface="Times New Roman" panose="02020603050405020304" pitchFamily="18" charset="0"/>
              </a:rPr>
              <a:t>40 nm</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851 spectral channels </a:t>
            </a:r>
            <a:endParaRPr lang="en-US" altLang="zh-CN" sz="2400" b="1"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footprint of </a:t>
            </a:r>
            <a:r>
              <a:rPr lang="en-US" altLang="zh-CN" sz="2400" dirty="0">
                <a:latin typeface="Times New Roman" panose="02020603050405020304" pitchFamily="18" charset="0"/>
                <a:cs typeface="Times New Roman" panose="02020603050405020304" pitchFamily="18" charset="0"/>
              </a:rPr>
              <a:t>150 </a:t>
            </a:r>
            <a:r>
              <a:rPr lang="en-US" altLang="zh-CN" sz="2400" dirty="0" err="1">
                <a:latin typeface="Times New Roman" panose="02020603050405020304" pitchFamily="18" charset="0"/>
                <a:cs typeface="Times New Roman" panose="02020603050405020304" pitchFamily="18" charset="0"/>
              </a:rPr>
              <a:t>μm</a:t>
            </a:r>
            <a:r>
              <a:rPr lang="en-US" altLang="zh-CN" sz="2400" dirty="0">
                <a:latin typeface="Times New Roman" panose="02020603050405020304" pitchFamily="18" charset="0"/>
                <a:cs typeface="Times New Roman" panose="02020603050405020304" pitchFamily="18" charset="0"/>
              </a:rPr>
              <a:t> × 300 </a:t>
            </a:r>
            <a:r>
              <a:rPr lang="en-US" altLang="zh-CN" sz="2400" dirty="0" err="1">
                <a:latin typeface="Times New Roman" panose="02020603050405020304" pitchFamily="18" charset="0"/>
                <a:cs typeface="Times New Roman" panose="02020603050405020304" pitchFamily="18" charset="0"/>
              </a:rPr>
              <a:t>μm</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spectral channel density: </a:t>
            </a:r>
            <a:r>
              <a:rPr lang="en-US" altLang="zh-CN" sz="2400" dirty="0">
                <a:latin typeface="Times New Roman" panose="02020603050405020304" pitchFamily="18" charset="0"/>
                <a:cs typeface="Times New Roman" panose="02020603050405020304" pitchFamily="18" charset="0"/>
              </a:rPr>
              <a:t>18911 </a:t>
            </a:r>
            <a:r>
              <a:rPr lang="en-US" altLang="zh-CN" sz="2400" dirty="0" err="1">
                <a:latin typeface="Times New Roman" panose="02020603050405020304" pitchFamily="18" charset="0"/>
                <a:cs typeface="Times New Roman" panose="02020603050405020304" pitchFamily="18" charset="0"/>
              </a:rPr>
              <a:t>ch</a:t>
            </a:r>
            <a:r>
              <a:rPr lang="en-US" altLang="zh-CN" sz="2400" dirty="0">
                <a:latin typeface="Times New Roman" panose="02020603050405020304" pitchFamily="18" charset="0"/>
                <a:cs typeface="Times New Roman" panose="02020603050405020304" pitchFamily="18" charset="0"/>
              </a:rPr>
              <a:t> mm−2</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I</a:t>
            </a:r>
            <a:r>
              <a:rPr lang="zh-CN" altLang="en-US" sz="2400" b="1" dirty="0">
                <a:latin typeface="Times New Roman" panose="02020603050405020304" pitchFamily="18" charset="0"/>
                <a:cs typeface="Times New Roman" panose="02020603050405020304" pitchFamily="18" charset="0"/>
              </a:rPr>
              <a:t>mage acquisition time</a:t>
            </a:r>
            <a:r>
              <a:rPr lang="en-US" altLang="zh-CN" sz="2400" b="1"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7.5ms </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amera frame rate</a:t>
            </a:r>
            <a:r>
              <a:rPr lang="zh-CN" altLang="en-US" sz="2400" dirty="0">
                <a:latin typeface="Times New Roman" panose="02020603050405020304" pitchFamily="18" charset="0"/>
                <a:cs typeface="Times New Roman" panose="02020603050405020304" pitchFamily="18" charset="0"/>
              </a:rPr>
              <a:t> of 134 fps</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I</a:t>
            </a:r>
            <a:r>
              <a:rPr lang="zh-CN" altLang="en-US" sz="2400" b="1" dirty="0">
                <a:latin typeface="Times New Roman" panose="02020603050405020304" pitchFamily="18" charset="0"/>
                <a:cs typeface="Times New Roman" panose="02020603050405020304" pitchFamily="18" charset="0"/>
              </a:rPr>
              <a:t>mage processing </a:t>
            </a:r>
            <a:r>
              <a:rPr lang="en-US" altLang="zh-CN" sz="2400" b="1" dirty="0">
                <a:latin typeface="Times New Roman" panose="02020603050405020304" pitchFamily="18" charset="0"/>
                <a:cs typeface="Times New Roman" panose="02020603050405020304" pitchFamily="18" charset="0"/>
              </a:rPr>
              <a:t>time</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 21 ms </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(CPU: Intel Xeon Platinum 8360Y). </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S</a:t>
            </a:r>
            <a:r>
              <a:rPr lang="zh-CN" altLang="en-US" sz="2400" b="1" dirty="0">
                <a:latin typeface="Times New Roman" panose="02020603050405020304" pitchFamily="18" charset="0"/>
                <a:cs typeface="Times New Roman" panose="02020603050405020304" pitchFamily="18" charset="0"/>
              </a:rPr>
              <a:t>pectral reconstruction</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288 ms </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(CPU: Intel Xeon Platinum 8360Y). </a:t>
            </a:r>
            <a:endParaRPr lang="en-US" altLang="zh-CN" sz="2400" dirty="0">
              <a:latin typeface="Times New Roman" panose="02020603050405020304" pitchFamily="18" charset="0"/>
              <a:cs typeface="Times New Roman" panose="02020603050405020304" pitchFamily="18" charset="0"/>
            </a:endParaRPr>
          </a:p>
          <a:p>
            <a:r>
              <a:rPr lang="en-US" altLang="zh-CN" sz="2400" b="1" dirty="0">
                <a:latin typeface="Times New Roman" panose="02020603050405020304" pitchFamily="18" charset="0"/>
                <a:cs typeface="Times New Roman" panose="02020603050405020304" pitchFamily="18" charset="0"/>
              </a:rPr>
              <a:t>F</a:t>
            </a:r>
            <a:r>
              <a:rPr lang="zh-CN" altLang="en-US" sz="2400" b="1" dirty="0">
                <a:latin typeface="Times New Roman" panose="02020603050405020304" pitchFamily="18" charset="0"/>
                <a:cs typeface="Times New Roman" panose="02020603050405020304" pitchFamily="18" charset="0"/>
              </a:rPr>
              <a:t>ull operation time</a:t>
            </a:r>
            <a:r>
              <a:rPr lang="en-US" altLang="zh-CN" sz="2400" dirty="0">
                <a:latin typeface="Times New Roman" panose="02020603050405020304" pitchFamily="18" charset="0"/>
                <a:cs typeface="Times New Roman" panose="02020603050405020304" pitchFamily="18" charset="0"/>
              </a:rPr>
              <a:t>: </a:t>
            </a:r>
            <a:r>
              <a:rPr lang="zh-CN" altLang="en-US" sz="2400" dirty="0">
                <a:latin typeface="Times New Roman" panose="02020603050405020304" pitchFamily="18" charset="0"/>
                <a:cs typeface="Times New Roman" panose="02020603050405020304" pitchFamily="18" charset="0"/>
              </a:rPr>
              <a:t>0.357 s.</a:t>
            </a:r>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en-US" altLang="zh-CN" sz="2400" dirty="0">
              <a:latin typeface="Times New Roman" panose="02020603050405020304" pitchFamily="18" charset="0"/>
              <a:cs typeface="Times New Roman" panose="02020603050405020304" pitchFamily="18" charset="0"/>
            </a:endParaRPr>
          </a:p>
          <a:p>
            <a:endParaRPr lang="zh-CN"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2" name="矩形 1"/>
          <p:cNvSpPr/>
          <p:nvPr/>
        </p:nvSpPr>
        <p:spPr bwMode="auto">
          <a:xfrm>
            <a:off x="6533263" y="1915788"/>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3" name="文本框 2"/>
          <p:cNvSpPr txBox="1"/>
          <p:nvPr/>
        </p:nvSpPr>
        <p:spPr>
          <a:xfrm>
            <a:off x="7605079" y="1915788"/>
            <a:ext cx="2646878"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bwMode="auto">
          <a:xfrm>
            <a:off x="1583977" y="1915788"/>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8" name="文本框 17"/>
          <p:cNvSpPr txBox="1"/>
          <p:nvPr/>
        </p:nvSpPr>
        <p:spPr>
          <a:xfrm>
            <a:off x="2655793" y="1915788"/>
            <a:ext cx="3103735"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Introduction</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19" name="矩形 18"/>
          <p:cNvSpPr/>
          <p:nvPr/>
        </p:nvSpPr>
        <p:spPr bwMode="auto">
          <a:xfrm>
            <a:off x="1583977" y="3963724"/>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0" name="文本框 19"/>
          <p:cNvSpPr txBox="1"/>
          <p:nvPr/>
        </p:nvSpPr>
        <p:spPr>
          <a:xfrm>
            <a:off x="2655793" y="4155878"/>
            <a:ext cx="16179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Result</a:t>
            </a:r>
            <a:endParaRPr lang="en-US" altLang="zh-CN" sz="3600" b="1" dirty="0">
              <a:solidFill>
                <a:schemeClr val="bg1">
                  <a:lumMod val="65000"/>
                </a:schemeClr>
              </a:solidFill>
              <a:latin typeface="微软雅黑" panose="020B0503020204020204" charset="-122"/>
              <a:ea typeface="微软雅黑" panose="020B0503020204020204" charset="-122"/>
            </a:endParaRPr>
          </a:p>
        </p:txBody>
      </p:sp>
      <p:sp>
        <p:nvSpPr>
          <p:cNvPr id="21" name="矩形 20"/>
          <p:cNvSpPr/>
          <p:nvPr/>
        </p:nvSpPr>
        <p:spPr bwMode="auto">
          <a:xfrm>
            <a:off x="6533263" y="2948909"/>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7605079" y="2947696"/>
            <a:ext cx="2415020"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Summary</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23" name="矩形 22"/>
          <p:cNvSpPr/>
          <p:nvPr/>
        </p:nvSpPr>
        <p:spPr bwMode="auto">
          <a:xfrm>
            <a:off x="1583977" y="3033356"/>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nvSpPr>
        <p:spPr>
          <a:xfrm>
            <a:off x="2655793" y="3035833"/>
            <a:ext cx="22541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Methods</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8" y="825550"/>
            <a:ext cx="11429734"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Study of cascaded </a:t>
            </a:r>
            <a:r>
              <a:rPr lang="en-US" altLang="zh-CN" sz="2800" b="1" dirty="0" err="1">
                <a:solidFill>
                  <a:schemeClr val="tx1">
                    <a:lumMod val="75000"/>
                    <a:lumOff val="25000"/>
                  </a:schemeClr>
                </a:solidFill>
                <a:latin typeface="微软雅黑" panose="020B0503020204020204" charset="-122"/>
                <a:ea typeface="微软雅黑" panose="020B0503020204020204" charset="-122"/>
              </a:rPr>
              <a:t>metasurfaces</a:t>
            </a:r>
            <a:r>
              <a:rPr lang="en-US" altLang="zh-CN" sz="2800" b="1" dirty="0">
                <a:solidFill>
                  <a:schemeClr val="tx1">
                    <a:lumMod val="75000"/>
                    <a:lumOff val="25000"/>
                  </a:schemeClr>
                </a:solidFill>
                <a:latin typeface="微软雅黑" panose="020B0503020204020204" charset="-122"/>
                <a:ea typeface="微软雅黑" panose="020B0503020204020204" charset="-122"/>
              </a:rPr>
              <a:t> with multiple layers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文本框 7"/>
          <p:cNvSpPr txBox="1"/>
          <p:nvPr/>
        </p:nvSpPr>
        <p:spPr>
          <a:xfrm>
            <a:off x="518333" y="5929588"/>
            <a:ext cx="5915246" cy="461665"/>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5" name="文本框 4"/>
          <p:cNvSpPr txBox="1"/>
          <p:nvPr/>
        </p:nvSpPr>
        <p:spPr>
          <a:xfrm>
            <a:off x="340508" y="1449431"/>
            <a:ext cx="10387743" cy="1631216"/>
          </a:xfrm>
          <a:prstGeom prst="rect">
            <a:avLst/>
          </a:prstGeom>
          <a:noFill/>
        </p:spPr>
        <p:txBody>
          <a:bodyPr wrap="square">
            <a:spAutoFit/>
          </a:bodyPr>
          <a:lstStyle/>
          <a:p>
            <a:r>
              <a:rPr lang="en-US" altLang="zh-CN" sz="2000" b="1" dirty="0">
                <a:latin typeface="Times New Roman" panose="02020603050405020304" pitchFamily="18" charset="0"/>
                <a:cs typeface="Times New Roman" panose="02020603050405020304" pitchFamily="18" charset="0"/>
              </a:rPr>
              <a:t>richness of spectral information increases with the number of layers. </a:t>
            </a:r>
            <a:endParaRPr lang="en-US" altLang="zh-CN" sz="2000" b="1" dirty="0">
              <a:latin typeface="Times New Roman" panose="02020603050405020304" pitchFamily="18" charset="0"/>
              <a:cs typeface="Times New Roman" panose="02020603050405020304" pitchFamily="18" charset="0"/>
            </a:endParaRPr>
          </a:p>
          <a:p>
            <a:endParaRPr lang="en-US" altLang="zh-CN" sz="2000" b="1"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The half-width-half-maximum (HWHM)</a:t>
            </a:r>
            <a:endParaRPr lang="en-US" altLang="zh-CN" sz="2000" b="1" dirty="0">
              <a:latin typeface="Times New Roman" panose="02020603050405020304" pitchFamily="18" charset="0"/>
              <a:cs typeface="Times New Roman" panose="02020603050405020304" pitchFamily="18" charset="0"/>
            </a:endParaRPr>
          </a:p>
          <a:p>
            <a:endParaRPr lang="en-US" altLang="zh-CN" sz="2000" dirty="0">
              <a:latin typeface="Times New Roman" panose="02020603050405020304" pitchFamily="18" charset="0"/>
              <a:cs typeface="Times New Roman" panose="02020603050405020304" pitchFamily="18" charset="0"/>
            </a:endParaRPr>
          </a:p>
          <a:p>
            <a:r>
              <a:rPr lang="en-US" altLang="zh-CN" sz="2000" b="1" dirty="0">
                <a:latin typeface="Times New Roman" panose="02020603050405020304" pitchFamily="18" charset="0"/>
                <a:cs typeface="Times New Roman" panose="02020603050405020304" pitchFamily="18" charset="0"/>
              </a:rPr>
              <a:t>transmission efficiency</a:t>
            </a:r>
            <a:endParaRPr lang="zh-CN" altLang="en-US" sz="2000" b="1" dirty="0">
              <a:latin typeface="Times New Roman" panose="02020603050405020304" pitchFamily="18" charset="0"/>
              <a:cs typeface="Times New Roman" panose="02020603050405020304" pitchFamily="18" charset="0"/>
            </a:endParaRPr>
          </a:p>
        </p:txBody>
      </p:sp>
      <p:pic>
        <p:nvPicPr>
          <p:cNvPr id="7" name="图片 6"/>
          <p:cNvPicPr>
            <a:picLocks noChangeAspect="1"/>
          </p:cNvPicPr>
          <p:nvPr/>
        </p:nvPicPr>
        <p:blipFill>
          <a:blip r:embed="rId1"/>
          <a:stretch>
            <a:fillRect/>
          </a:stretch>
        </p:blipFill>
        <p:spPr>
          <a:xfrm>
            <a:off x="8282919" y="1348769"/>
            <a:ext cx="3685714" cy="4952381"/>
          </a:xfrm>
          <a:prstGeom prst="rect">
            <a:avLst/>
          </a:prstGeom>
        </p:spPr>
      </p:pic>
      <p:pic>
        <p:nvPicPr>
          <p:cNvPr id="10" name="图片 9"/>
          <p:cNvPicPr>
            <a:picLocks noChangeAspect="1"/>
          </p:cNvPicPr>
          <p:nvPr/>
        </p:nvPicPr>
        <p:blipFill>
          <a:blip r:embed="rId2"/>
          <a:stretch>
            <a:fillRect/>
          </a:stretch>
        </p:blipFill>
        <p:spPr>
          <a:xfrm>
            <a:off x="501009" y="3181308"/>
            <a:ext cx="5438095" cy="264761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Comparative analysis of the spectrometer via 1D and 2D speckles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文本框 7"/>
          <p:cNvSpPr txBox="1"/>
          <p:nvPr/>
        </p:nvSpPr>
        <p:spPr>
          <a:xfrm>
            <a:off x="757995" y="560089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1"/>
          <a:stretch>
            <a:fillRect/>
          </a:stretch>
        </p:blipFill>
        <p:spPr>
          <a:xfrm>
            <a:off x="244814" y="3074331"/>
            <a:ext cx="5007670" cy="2413953"/>
          </a:xfrm>
          <a:prstGeom prst="rect">
            <a:avLst/>
          </a:prstGeom>
        </p:spPr>
      </p:pic>
      <p:sp>
        <p:nvSpPr>
          <p:cNvPr id="14" name="文本框 13"/>
          <p:cNvSpPr txBox="1"/>
          <p:nvPr/>
        </p:nvSpPr>
        <p:spPr>
          <a:xfrm>
            <a:off x="482978" y="1369716"/>
            <a:ext cx="8109917" cy="707886"/>
          </a:xfrm>
          <a:prstGeom prst="rect">
            <a:avLst/>
          </a:prstGeom>
          <a:noFill/>
        </p:spPr>
        <p:txBody>
          <a:bodyPr wrap="square">
            <a:spAutoFit/>
          </a:bodyPr>
          <a:lstStyle/>
          <a:p>
            <a:r>
              <a:rPr lang="en-US" altLang="zh-CN" sz="20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1D speckles sampled by single-mode waveguide arrays</a:t>
            </a:r>
            <a:endParaRPr lang="en-US" altLang="zh-CN" sz="20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endParaRPr>
          </a:p>
          <a:p>
            <a:r>
              <a:rPr lang="en-US" altLang="zh-CN" sz="20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2D speckles sampled by multimode grating with imaging camera.</a:t>
            </a:r>
            <a:endParaRPr lang="zh-CN" altLang="en-US" sz="2000" b="1" dirty="0">
              <a:latin typeface="Times New Roman" panose="02020603050405020304" pitchFamily="18" charset="0"/>
              <a:cs typeface="Times New Roman" panose="02020603050405020304" pitchFamily="18" charset="0"/>
            </a:endParaRPr>
          </a:p>
        </p:txBody>
      </p:sp>
      <p:sp>
        <p:nvSpPr>
          <p:cNvPr id="19" name="文本框 18"/>
          <p:cNvSpPr txBox="1"/>
          <p:nvPr/>
        </p:nvSpPr>
        <p:spPr>
          <a:xfrm>
            <a:off x="482978" y="2423109"/>
            <a:ext cx="11153965" cy="400110"/>
          </a:xfrm>
          <a:prstGeom prst="rect">
            <a:avLst/>
          </a:prstGeom>
          <a:noFill/>
        </p:spPr>
        <p:txBody>
          <a:bodyPr wrap="square">
            <a:spAutoFit/>
          </a:bodyPr>
          <a:lstStyle/>
          <a:p>
            <a:r>
              <a:rPr lang="en-US" altLang="zh-CN" sz="2000" b="1" dirty="0" err="1">
                <a:latin typeface="Times New Roman" panose="02020603050405020304" pitchFamily="18" charset="0"/>
                <a:cs typeface="Times New Roman" panose="02020603050405020304" pitchFamily="18" charset="0"/>
              </a:rPr>
              <a:t>Resultion</a:t>
            </a:r>
            <a:r>
              <a:rPr lang="en-US" altLang="zh-CN" sz="2000" b="1" dirty="0">
                <a:latin typeface="Times New Roman" panose="02020603050405020304" pitchFamily="18" charset="0"/>
                <a:cs typeface="Times New Roman" panose="02020603050405020304" pitchFamily="18" charset="0"/>
              </a:rPr>
              <a:t>: 0.51 nm vs 5.58 nm                                                    much more sampling density </a:t>
            </a:r>
            <a:endParaRPr lang="zh-CN" altLang="en-US" sz="2000" b="1" dirty="0">
              <a:latin typeface="Times New Roman" panose="02020603050405020304" pitchFamily="18" charset="0"/>
              <a:cs typeface="Times New Roman" panose="02020603050405020304" pitchFamily="18" charset="0"/>
            </a:endParaRPr>
          </a:p>
        </p:txBody>
      </p:sp>
      <p:pic>
        <p:nvPicPr>
          <p:cNvPr id="22" name="图片 21"/>
          <p:cNvPicPr>
            <a:picLocks noChangeAspect="1"/>
          </p:cNvPicPr>
          <p:nvPr/>
        </p:nvPicPr>
        <p:blipFill>
          <a:blip r:embed="rId2"/>
          <a:stretch>
            <a:fillRect/>
          </a:stretch>
        </p:blipFill>
        <p:spPr>
          <a:xfrm>
            <a:off x="5346819" y="3280646"/>
            <a:ext cx="6770753" cy="200132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Fabrication tolerance analysis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340507" y="2684007"/>
            <a:ext cx="9997724" cy="3190285"/>
          </a:xfrm>
          <a:prstGeom prst="rect">
            <a:avLst/>
          </a:prstGeom>
        </p:spPr>
      </p:pic>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10" name="文本框 9"/>
          <p:cNvSpPr txBox="1"/>
          <p:nvPr/>
        </p:nvSpPr>
        <p:spPr>
          <a:xfrm>
            <a:off x="340507" y="1348770"/>
            <a:ext cx="10781148" cy="1335237"/>
          </a:xfrm>
          <a:prstGeom prst="rect">
            <a:avLst/>
          </a:prstGeom>
          <a:noFill/>
        </p:spPr>
        <p:txBody>
          <a:bodyPr wrap="square">
            <a:spAutoFit/>
          </a:bodyPr>
          <a:lstStyle/>
          <a:p>
            <a:pPr>
              <a:lnSpc>
                <a:spcPct val="150000"/>
              </a:lnSpc>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Trench dimension variations of ±20 nm for a three-layer </a:t>
            </a:r>
            <a:r>
              <a:rPr lang="en-US" altLang="zh-CN" sz="2000" b="1" dirty="0" err="1">
                <a:latin typeface="Times New Roman" panose="02020603050405020304" pitchFamily="18" charset="0"/>
                <a:ea typeface="微软雅黑" panose="020B0503020204020204" charset="-122"/>
                <a:cs typeface="Times New Roman" panose="02020603050405020304" pitchFamily="18" charset="0"/>
              </a:rPr>
              <a:t>metasurfaces</a:t>
            </a:r>
            <a:endParaRPr lang="en-US" altLang="zh-CN"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cs typeface="Times New Roman" panose="02020603050405020304" pitchFamily="18" charset="0"/>
              </a:rPr>
              <a:t>O</a:t>
            </a:r>
            <a:r>
              <a:rPr lang="en-US" altLang="zh-CN" b="1" i="0" dirty="0">
                <a:solidFill>
                  <a:srgbClr val="060607"/>
                </a:solidFill>
                <a:effectLst/>
                <a:latin typeface="Times New Roman" panose="02020603050405020304" pitchFamily="18" charset="0"/>
                <a:cs typeface="Times New Roman" panose="02020603050405020304" pitchFamily="18" charset="0"/>
              </a:rPr>
              <a:t>ptical </a:t>
            </a:r>
            <a:r>
              <a:rPr lang="en-US" altLang="zh-CN" b="1" dirty="0">
                <a:solidFill>
                  <a:srgbClr val="060607"/>
                </a:solidFill>
                <a:latin typeface="Times New Roman" panose="02020603050405020304" pitchFamily="18" charset="0"/>
                <a:cs typeface="Times New Roman" panose="02020603050405020304" pitchFamily="18" charset="0"/>
              </a:rPr>
              <a:t>T</a:t>
            </a:r>
            <a:r>
              <a:rPr lang="en-US" altLang="zh-CN" b="1" i="0" dirty="0">
                <a:solidFill>
                  <a:srgbClr val="060607"/>
                </a:solidFill>
                <a:effectLst/>
                <a:latin typeface="Times New Roman" panose="02020603050405020304" pitchFamily="18" charset="0"/>
                <a:cs typeface="Times New Roman" panose="02020603050405020304" pitchFamily="18" charset="0"/>
              </a:rPr>
              <a:t>ransmission </a:t>
            </a:r>
            <a:endParaRPr lang="en-US" altLang="zh-CN"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i="0" dirty="0">
                <a:solidFill>
                  <a:srgbClr val="060607"/>
                </a:solidFill>
                <a:effectLst/>
                <a:latin typeface="Times New Roman" panose="02020603050405020304" pitchFamily="18" charset="0"/>
                <a:cs typeface="Times New Roman" panose="02020603050405020304" pitchFamily="18" charset="0"/>
              </a:rPr>
              <a:t>resolution performance</a:t>
            </a:r>
            <a:endParaRPr lang="en-US" altLang="zh-CN" b="1" i="0" dirty="0">
              <a:solidFill>
                <a:srgbClr val="060607"/>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Fabrication tolerance analysis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10" name="文本框 9"/>
          <p:cNvSpPr txBox="1"/>
          <p:nvPr/>
        </p:nvSpPr>
        <p:spPr>
          <a:xfrm>
            <a:off x="340507" y="1348770"/>
            <a:ext cx="10781148" cy="579967"/>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微软雅黑" panose="020B0503020204020204" charset="-122"/>
                <a:cs typeface="Times New Roman" panose="02020603050405020304" pitchFamily="18" charset="0"/>
              </a:rPr>
              <a:t>the performance consistency of the same design on different chips</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1946362" y="2451957"/>
            <a:ext cx="7895238" cy="344761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The scalability Analysis of the layered </a:t>
            </a:r>
            <a:r>
              <a:rPr lang="en-US" altLang="zh-CN" sz="2800" b="1" dirty="0" err="1">
                <a:solidFill>
                  <a:schemeClr val="tx1">
                    <a:lumMod val="75000"/>
                    <a:lumOff val="25000"/>
                  </a:schemeClr>
                </a:solidFill>
                <a:latin typeface="微软雅黑" panose="020B0503020204020204" charset="-122"/>
                <a:ea typeface="微软雅黑" panose="020B0503020204020204" charset="-122"/>
              </a:rPr>
              <a:t>metasurfaces</a:t>
            </a:r>
            <a:r>
              <a:rPr lang="en-US" altLang="zh-CN" sz="2800" b="1" dirty="0">
                <a:solidFill>
                  <a:schemeClr val="tx1">
                    <a:lumMod val="75000"/>
                    <a:lumOff val="25000"/>
                  </a:schemeClr>
                </a:solidFill>
                <a:latin typeface="微软雅黑" panose="020B0503020204020204" charset="-122"/>
                <a:ea typeface="微软雅黑" panose="020B0503020204020204" charset="-122"/>
              </a:rPr>
              <a:t> device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516427" y="2622926"/>
            <a:ext cx="11019047" cy="3409524"/>
          </a:xfrm>
          <a:prstGeom prst="rect">
            <a:avLst/>
          </a:prstGeom>
        </p:spPr>
      </p:pic>
      <p:sp>
        <p:nvSpPr>
          <p:cNvPr id="9" name="文本框 8"/>
          <p:cNvSpPr txBox="1"/>
          <p:nvPr/>
        </p:nvSpPr>
        <p:spPr>
          <a:xfrm>
            <a:off x="516427" y="1195356"/>
            <a:ext cx="10781148" cy="1427570"/>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微软雅黑" panose="020B0503020204020204" charset="-122"/>
                <a:cs typeface="Times New Roman" panose="02020603050405020304" pitchFamily="18" charset="0"/>
              </a:rPr>
              <a:t>Impact of increased number of layers</a:t>
            </a:r>
            <a:endParaRPr lang="en-US" altLang="zh-CN" sz="2400"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cs typeface="Times New Roman" panose="02020603050405020304" pitchFamily="18" charset="0"/>
              </a:rPr>
              <a:t>O</a:t>
            </a:r>
            <a:r>
              <a:rPr lang="en-US" altLang="zh-CN" b="1" i="0" dirty="0">
                <a:solidFill>
                  <a:srgbClr val="060607"/>
                </a:solidFill>
                <a:effectLst/>
                <a:latin typeface="Times New Roman" panose="02020603050405020304" pitchFamily="18" charset="0"/>
                <a:cs typeface="Times New Roman" panose="02020603050405020304" pitchFamily="18" charset="0"/>
              </a:rPr>
              <a:t>ptical </a:t>
            </a:r>
            <a:r>
              <a:rPr lang="en-US" altLang="zh-CN" b="1" dirty="0">
                <a:solidFill>
                  <a:srgbClr val="060607"/>
                </a:solidFill>
                <a:latin typeface="Times New Roman" panose="02020603050405020304" pitchFamily="18" charset="0"/>
                <a:cs typeface="Times New Roman" panose="02020603050405020304" pitchFamily="18" charset="0"/>
              </a:rPr>
              <a:t>T</a:t>
            </a:r>
            <a:r>
              <a:rPr lang="en-US" altLang="zh-CN" b="1" i="0" dirty="0">
                <a:solidFill>
                  <a:srgbClr val="060607"/>
                </a:solidFill>
                <a:effectLst/>
                <a:latin typeface="Times New Roman" panose="02020603050405020304" pitchFamily="18" charset="0"/>
                <a:cs typeface="Times New Roman" panose="02020603050405020304" pitchFamily="18" charset="0"/>
              </a:rPr>
              <a:t>ransmission </a:t>
            </a:r>
            <a:endParaRPr lang="en-US" altLang="zh-CN" b="1" i="0" dirty="0">
              <a:solidFill>
                <a:srgbClr val="060607"/>
              </a:solidFill>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l"/>
            </a:pPr>
            <a:r>
              <a:rPr lang="en-US" altLang="zh-CN" b="1" dirty="0">
                <a:solidFill>
                  <a:srgbClr val="060607"/>
                </a:solidFill>
                <a:latin typeface="Times New Roman" panose="02020603050405020304" pitchFamily="18" charset="0"/>
                <a:cs typeface="Times New Roman" panose="02020603050405020304" pitchFamily="18" charset="0"/>
              </a:rPr>
              <a:t>R</a:t>
            </a:r>
            <a:r>
              <a:rPr lang="en-US" altLang="zh-CN" b="1" i="0" dirty="0">
                <a:solidFill>
                  <a:srgbClr val="060607"/>
                </a:solidFill>
                <a:effectLst/>
                <a:latin typeface="Times New Roman" panose="02020603050405020304" pitchFamily="18" charset="0"/>
                <a:cs typeface="Times New Roman" panose="02020603050405020304" pitchFamily="18" charset="0"/>
              </a:rPr>
              <a:t>esolution performance</a:t>
            </a:r>
            <a:endParaRPr lang="en-US" altLang="zh-CN" b="1" i="0" dirty="0">
              <a:solidFill>
                <a:srgbClr val="060607"/>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The scalability Analysis of the layered </a:t>
            </a:r>
            <a:r>
              <a:rPr lang="en-US" altLang="zh-CN" sz="2800" b="1" dirty="0" err="1">
                <a:solidFill>
                  <a:schemeClr val="tx1">
                    <a:lumMod val="75000"/>
                    <a:lumOff val="25000"/>
                  </a:schemeClr>
                </a:solidFill>
                <a:latin typeface="微软雅黑" panose="020B0503020204020204" charset="-122"/>
                <a:ea typeface="微软雅黑" panose="020B0503020204020204" charset="-122"/>
              </a:rPr>
              <a:t>metasurfaces</a:t>
            </a:r>
            <a:r>
              <a:rPr lang="en-US" altLang="zh-CN" sz="2800" b="1" dirty="0">
                <a:solidFill>
                  <a:schemeClr val="tx1">
                    <a:lumMod val="75000"/>
                    <a:lumOff val="25000"/>
                  </a:schemeClr>
                </a:solidFill>
                <a:latin typeface="微软雅黑" panose="020B0503020204020204" charset="-122"/>
                <a:ea typeface="微软雅黑" panose="020B0503020204020204" charset="-122"/>
              </a:rPr>
              <a:t> device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9" name="文本框 8"/>
          <p:cNvSpPr txBox="1"/>
          <p:nvPr/>
        </p:nvSpPr>
        <p:spPr>
          <a:xfrm>
            <a:off x="516427" y="1195356"/>
            <a:ext cx="10781148" cy="579967"/>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微软雅黑" panose="020B0503020204020204" charset="-122"/>
                <a:cs typeface="Times New Roman" panose="02020603050405020304" pitchFamily="18" charset="0"/>
              </a:rPr>
              <a:t>Impact of inter-layer free propagation distance</a:t>
            </a:r>
            <a:endParaRPr lang="en-US" altLang="zh-CN" b="1" i="0" dirty="0">
              <a:solidFill>
                <a:srgbClr val="060607"/>
              </a:solidFill>
              <a:effectLst/>
              <a:latin typeface="Times New Roman" panose="02020603050405020304" pitchFamily="18" charset="0"/>
              <a:cs typeface="Times New Roman" panose="02020603050405020304" pitchFamily="18" charset="0"/>
            </a:endParaRPr>
          </a:p>
        </p:txBody>
      </p:sp>
      <p:pic>
        <p:nvPicPr>
          <p:cNvPr id="8" name="图片 7"/>
          <p:cNvPicPr>
            <a:picLocks noChangeAspect="1"/>
          </p:cNvPicPr>
          <p:nvPr/>
        </p:nvPicPr>
        <p:blipFill>
          <a:blip r:embed="rId1"/>
          <a:stretch>
            <a:fillRect/>
          </a:stretch>
        </p:blipFill>
        <p:spPr>
          <a:xfrm>
            <a:off x="458408" y="2521278"/>
            <a:ext cx="11275184" cy="347840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523220"/>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The scalability Analysis of the layered </a:t>
            </a:r>
            <a:r>
              <a:rPr lang="en-US" altLang="zh-CN" sz="2800" b="1" dirty="0" err="1">
                <a:solidFill>
                  <a:schemeClr val="tx1">
                    <a:lumMod val="75000"/>
                    <a:lumOff val="25000"/>
                  </a:schemeClr>
                </a:solidFill>
                <a:latin typeface="微软雅黑" panose="020B0503020204020204" charset="-122"/>
                <a:ea typeface="微软雅黑" panose="020B0503020204020204" charset="-122"/>
              </a:rPr>
              <a:t>metasurfaces</a:t>
            </a:r>
            <a:r>
              <a:rPr lang="en-US" altLang="zh-CN" sz="2800" b="1" dirty="0">
                <a:solidFill>
                  <a:schemeClr val="tx1">
                    <a:lumMod val="75000"/>
                    <a:lumOff val="25000"/>
                  </a:schemeClr>
                </a:solidFill>
                <a:latin typeface="微软雅黑" panose="020B0503020204020204" charset="-122"/>
                <a:ea typeface="微软雅黑" panose="020B0503020204020204" charset="-122"/>
              </a:rPr>
              <a:t> device</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sp>
        <p:nvSpPr>
          <p:cNvPr id="9" name="文本框 8"/>
          <p:cNvSpPr txBox="1"/>
          <p:nvPr/>
        </p:nvSpPr>
        <p:spPr>
          <a:xfrm>
            <a:off x="516427" y="1195356"/>
            <a:ext cx="10781148" cy="579967"/>
          </a:xfrm>
          <a:prstGeom prst="rect">
            <a:avLst/>
          </a:prstGeom>
          <a:noFill/>
        </p:spPr>
        <p:txBody>
          <a:bodyPr wrap="square">
            <a:spAutoFit/>
          </a:bodyPr>
          <a:lstStyle/>
          <a:p>
            <a:pPr>
              <a:lnSpc>
                <a:spcPct val="150000"/>
              </a:lnSpc>
            </a:pPr>
            <a:r>
              <a:rPr lang="en-US" altLang="zh-CN" sz="2400" b="1" dirty="0">
                <a:latin typeface="Times New Roman" panose="02020603050405020304" pitchFamily="18" charset="0"/>
                <a:ea typeface="微软雅黑" panose="020B0503020204020204" charset="-122"/>
                <a:cs typeface="Times New Roman" panose="02020603050405020304" pitchFamily="18" charset="0"/>
              </a:rPr>
              <a:t>Impact of </a:t>
            </a:r>
            <a:r>
              <a:rPr lang="en-US" altLang="zh-CN" sz="2400" b="1" dirty="0" err="1">
                <a:latin typeface="Times New Roman" panose="02020603050405020304" pitchFamily="18" charset="0"/>
                <a:ea typeface="微软雅黑" panose="020B0503020204020204" charset="-122"/>
                <a:cs typeface="Times New Roman" panose="02020603050405020304" pitchFamily="18" charset="0"/>
              </a:rPr>
              <a:t>metasurface</a:t>
            </a:r>
            <a:r>
              <a:rPr lang="en-US" altLang="zh-CN" sz="2400" b="1" dirty="0">
                <a:latin typeface="Times New Roman" panose="02020603050405020304" pitchFamily="18" charset="0"/>
                <a:ea typeface="微软雅黑" panose="020B0503020204020204" charset="-122"/>
                <a:cs typeface="Times New Roman" panose="02020603050405020304" pitchFamily="18" charset="0"/>
              </a:rPr>
              <a:t> and multimode waveguide width</a:t>
            </a:r>
            <a:endParaRPr lang="en-US" altLang="zh-CN" b="1" i="0" dirty="0">
              <a:solidFill>
                <a:srgbClr val="060607"/>
              </a:solidFill>
              <a:effectLst/>
              <a:latin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stretch>
            <a:fillRect/>
          </a:stretch>
        </p:blipFill>
        <p:spPr>
          <a:xfrm>
            <a:off x="589324" y="2614178"/>
            <a:ext cx="11047619" cy="339047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179218"/>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Discussion</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40507" y="825550"/>
            <a:ext cx="12205911" cy="954107"/>
          </a:xfrm>
          <a:prstGeom prst="rect">
            <a:avLst/>
          </a:prstGeom>
          <a:noFill/>
        </p:spPr>
        <p:txBody>
          <a:bodyPr wrap="square" rtlCol="0">
            <a:spAutoFit/>
          </a:bodyPr>
          <a:lstStyle/>
          <a:p>
            <a:r>
              <a:rPr lang="en-US" altLang="zh-CN" sz="2800" b="1" dirty="0">
                <a:solidFill>
                  <a:schemeClr val="tx1">
                    <a:lumMod val="75000"/>
                    <a:lumOff val="25000"/>
                  </a:schemeClr>
                </a:solidFill>
                <a:latin typeface="微软雅黑" panose="020B0503020204020204" charset="-122"/>
                <a:ea typeface="微软雅黑" panose="020B0503020204020204" charset="-122"/>
              </a:rPr>
              <a:t>Summary of recent advances of the single shot state-of-art spectrometers</a:t>
            </a:r>
            <a:endParaRPr lang="zh-CN" altLang="en-US"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7" name="文本框 6"/>
          <p:cNvSpPr txBox="1"/>
          <p:nvPr/>
        </p:nvSpPr>
        <p:spPr>
          <a:xfrm>
            <a:off x="656526" y="6004654"/>
            <a:ext cx="10878948" cy="276999"/>
          </a:xfrm>
          <a:prstGeom prst="rect">
            <a:avLst/>
          </a:prstGeom>
          <a:noFill/>
        </p:spPr>
        <p:txBody>
          <a:bodyPr wrap="square">
            <a:spAutoFit/>
          </a:bodyPr>
          <a:lstStyle/>
          <a:p>
            <a:r>
              <a:rPr lang="en-US" altLang="zh-CN" sz="1200" i="1" dirty="0">
                <a:latin typeface="微软雅黑" panose="020B0503020204020204" charset="-122"/>
                <a:ea typeface="微软雅黑" panose="020B0503020204020204" charset="-122"/>
              </a:rPr>
              <a:t>Zhang, Z., Xiao, S., Song, Q. et al. Scalable on-chip diffractive speckle spectrometer with high spectral channel density. Light Sci Appl 14, 130 (2025). </a:t>
            </a:r>
            <a:endParaRPr lang="zh-CN" altLang="en-US" sz="1200" i="1"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1"/>
          <a:stretch>
            <a:fillRect/>
          </a:stretch>
        </p:blipFill>
        <p:spPr>
          <a:xfrm>
            <a:off x="1719809" y="2318940"/>
            <a:ext cx="8752381" cy="368571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6"/>
          <p:cNvSpPr txBox="1"/>
          <p:nvPr/>
        </p:nvSpPr>
        <p:spPr>
          <a:xfrm>
            <a:off x="4395852" y="735673"/>
            <a:ext cx="3597862"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r>
              <a:rPr lang="en-US" altLang="zh-CN" sz="4000" b="1" dirty="0">
                <a:solidFill>
                  <a:srgbClr val="193379"/>
                </a:solidFill>
                <a:latin typeface="微软雅黑" panose="020B0503020204020204" charset="-122"/>
                <a:ea typeface="微软雅黑" panose="020B0503020204020204" charset="-122"/>
              </a:rPr>
              <a:t>CONTENTS</a:t>
            </a:r>
            <a:endParaRPr lang="en-US" altLang="zh-CN" sz="4000" b="1" dirty="0">
              <a:solidFill>
                <a:srgbClr val="193379"/>
              </a:solidFill>
              <a:latin typeface="微软雅黑" panose="020B0503020204020204" charset="-122"/>
              <a:ea typeface="微软雅黑" panose="020B0503020204020204" charset="-122"/>
            </a:endParaRPr>
          </a:p>
        </p:txBody>
      </p:sp>
      <p:sp>
        <p:nvSpPr>
          <p:cNvPr id="2" name="矩形 1"/>
          <p:cNvSpPr/>
          <p:nvPr/>
        </p:nvSpPr>
        <p:spPr bwMode="auto">
          <a:xfrm>
            <a:off x="6533263" y="3033356"/>
            <a:ext cx="643962" cy="643904"/>
          </a:xfrm>
          <a:prstGeom prst="rect">
            <a:avLst/>
          </a:prstGeom>
          <a:solidFill>
            <a:srgbClr val="193379"/>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5</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3" name="文本框 2"/>
          <p:cNvSpPr txBox="1"/>
          <p:nvPr/>
        </p:nvSpPr>
        <p:spPr>
          <a:xfrm>
            <a:off x="7605079" y="3032142"/>
            <a:ext cx="2415020" cy="646331"/>
          </a:xfrm>
          <a:prstGeom prst="rect">
            <a:avLst/>
          </a:prstGeom>
          <a:noFill/>
        </p:spPr>
        <p:txBody>
          <a:bodyPr wrap="non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Summary</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sp>
        <p:nvSpPr>
          <p:cNvPr id="17" name="矩形 16"/>
          <p:cNvSpPr/>
          <p:nvPr/>
        </p:nvSpPr>
        <p:spPr bwMode="auto">
          <a:xfrm>
            <a:off x="1583977" y="1915788"/>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1</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18" name="文本框 17"/>
          <p:cNvSpPr txBox="1"/>
          <p:nvPr/>
        </p:nvSpPr>
        <p:spPr>
          <a:xfrm>
            <a:off x="2655793" y="1915788"/>
            <a:ext cx="3103735"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Introduction</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19" name="矩形 18"/>
          <p:cNvSpPr/>
          <p:nvPr/>
        </p:nvSpPr>
        <p:spPr bwMode="auto">
          <a:xfrm>
            <a:off x="1583977" y="3963724"/>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3</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0" name="文本框 19"/>
          <p:cNvSpPr txBox="1"/>
          <p:nvPr/>
        </p:nvSpPr>
        <p:spPr>
          <a:xfrm>
            <a:off x="2655793" y="4155878"/>
            <a:ext cx="16179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Result</a:t>
            </a:r>
            <a:endParaRPr lang="en-US" altLang="zh-CN" sz="3600" b="1" dirty="0">
              <a:solidFill>
                <a:schemeClr val="bg1">
                  <a:lumMod val="65000"/>
                </a:schemeClr>
              </a:solidFill>
              <a:latin typeface="微软雅黑" panose="020B0503020204020204" charset="-122"/>
              <a:ea typeface="微软雅黑" panose="020B0503020204020204" charset="-122"/>
            </a:endParaRPr>
          </a:p>
        </p:txBody>
      </p:sp>
      <p:sp>
        <p:nvSpPr>
          <p:cNvPr id="21" name="矩形 20"/>
          <p:cNvSpPr/>
          <p:nvPr/>
        </p:nvSpPr>
        <p:spPr bwMode="auto">
          <a:xfrm>
            <a:off x="6533263" y="1910472"/>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4</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7640922" y="1908045"/>
            <a:ext cx="2646878"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Discussion</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
        <p:nvSpPr>
          <p:cNvPr id="23" name="矩形 22"/>
          <p:cNvSpPr/>
          <p:nvPr/>
        </p:nvSpPr>
        <p:spPr bwMode="auto">
          <a:xfrm>
            <a:off x="1583977" y="3033356"/>
            <a:ext cx="643962" cy="643904"/>
          </a:xfrm>
          <a:prstGeom prst="rect">
            <a:avLst/>
          </a:prstGeom>
          <a:solidFill>
            <a:schemeClr val="bg1">
              <a:lumMod val="65000"/>
            </a:schemeClr>
          </a:solidFill>
          <a:ln w="28575" cap="flat" cmpd="sng" algn="ctr">
            <a:noFill/>
            <a:prstDash val="solid"/>
            <a:round/>
            <a:headEnd type="none" w="med" len="med"/>
            <a:tailEnd type="none" w="med" len="med"/>
          </a:ln>
        </p:spPr>
        <p:txBody>
          <a:bodyPr rot="0" spcFirstLastPara="0" vertOverflow="overflow" horzOverflow="overflow" vert="horz" wrap="square" lIns="91440" tIns="45720" rIns="91440" bIns="45720" numCol="1" spcCol="0" rtlCol="0" fromWordArt="0" anchor="ctr" anchorCtr="1" forceAA="0" compatLnSpc="1">
            <a:noAutofit/>
          </a:bodyPr>
          <a:lstStyle/>
          <a:p>
            <a:pPr algn="ctr"/>
            <a:r>
              <a:rPr lang="en-US" altLang="zh-CN" sz="3600" b="1" dirty="0">
                <a:solidFill>
                  <a:schemeClr val="bg1">
                    <a:lumMod val="100000"/>
                  </a:schemeClr>
                </a:solidFill>
                <a:latin typeface="微软雅黑" panose="020B0503020204020204" charset="-122"/>
                <a:ea typeface="微软雅黑" panose="020B0503020204020204" charset="-122"/>
                <a:cs typeface="+mn-ea"/>
                <a:sym typeface="+mn-lt"/>
              </a:rPr>
              <a:t>2</a:t>
            </a:r>
            <a:endParaRPr lang="en-US" altLang="zh-CN" sz="3600" b="1" dirty="0">
              <a:solidFill>
                <a:schemeClr val="bg1">
                  <a:lumMod val="100000"/>
                </a:schemeClr>
              </a:solidFill>
              <a:latin typeface="微软雅黑" panose="020B0503020204020204" charset="-122"/>
              <a:ea typeface="微软雅黑" panose="020B0503020204020204" charset="-122"/>
              <a:cs typeface="+mn-ea"/>
              <a:sym typeface="+mn-lt"/>
            </a:endParaRPr>
          </a:p>
        </p:txBody>
      </p:sp>
      <p:sp>
        <p:nvSpPr>
          <p:cNvPr id="24" name="文本框 23"/>
          <p:cNvSpPr txBox="1"/>
          <p:nvPr/>
        </p:nvSpPr>
        <p:spPr>
          <a:xfrm>
            <a:off x="2655793" y="3035833"/>
            <a:ext cx="2254143" cy="646331"/>
          </a:xfrm>
          <a:prstGeom prst="rect">
            <a:avLst/>
          </a:prstGeom>
          <a:noFill/>
        </p:spPr>
        <p:txBody>
          <a:bodyPr wrap="none" rtlCol="0">
            <a:spAutoFit/>
          </a:bodyPr>
          <a:lstStyle/>
          <a:p>
            <a:r>
              <a:rPr lang="en-US" altLang="zh-CN" sz="3600" b="1" dirty="0">
                <a:solidFill>
                  <a:schemeClr val="bg1">
                    <a:lumMod val="65000"/>
                  </a:schemeClr>
                </a:solidFill>
                <a:latin typeface="微软雅黑" panose="020B0503020204020204" charset="-122"/>
                <a:ea typeface="微软雅黑" panose="020B0503020204020204" charset="-122"/>
              </a:rPr>
              <a:t>Methods</a:t>
            </a:r>
            <a:endParaRPr lang="zh-CN" altLang="en-US" sz="3600" b="1" dirty="0">
              <a:solidFill>
                <a:schemeClr val="bg1">
                  <a:lumMod val="65000"/>
                </a:schemeClr>
              </a:solidFill>
              <a:latin typeface="微软雅黑" panose="020B0503020204020204" charset="-122"/>
              <a:ea typeface="微软雅黑" panose="020B050302020402020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8614610" y="210059"/>
            <a:ext cx="3410813" cy="646331"/>
          </a:xfrm>
          <a:prstGeom prst="rect">
            <a:avLst/>
          </a:prstGeom>
          <a:noFill/>
        </p:spPr>
        <p:txBody>
          <a:bodyPr wrap="square" rtlCol="0">
            <a:spAutoFit/>
          </a:bodyPr>
          <a:lstStyle/>
          <a:p>
            <a:r>
              <a:rPr lang="en-US" altLang="zh-CN" sz="3600" b="1" dirty="0">
                <a:solidFill>
                  <a:schemeClr val="tx1">
                    <a:lumMod val="75000"/>
                    <a:lumOff val="25000"/>
                  </a:schemeClr>
                </a:solidFill>
                <a:latin typeface="微软雅黑" panose="020B0503020204020204" charset="-122"/>
                <a:ea typeface="微软雅黑" panose="020B0503020204020204" charset="-122"/>
              </a:rPr>
              <a:t>Summary</a:t>
            </a:r>
            <a:endParaRPr lang="zh-CN" altLang="en-US" sz="3600" b="1" dirty="0">
              <a:solidFill>
                <a:schemeClr val="tx1">
                  <a:lumMod val="75000"/>
                  <a:lumOff val="25000"/>
                </a:schemeClr>
              </a:solidFill>
              <a:latin typeface="微软雅黑" panose="020B0503020204020204" charset="-122"/>
              <a:ea typeface="微软雅黑" panose="020B0503020204020204" charset="-122"/>
            </a:endParaRPr>
          </a:p>
        </p:txBody>
      </p:sp>
      <p:cxnSp>
        <p:nvCxnSpPr>
          <p:cNvPr id="3" name="直接连接符 2"/>
          <p:cNvCxnSpPr/>
          <p:nvPr/>
        </p:nvCxnSpPr>
        <p:spPr>
          <a:xfrm>
            <a:off x="8614610" y="825549"/>
            <a:ext cx="3022333" cy="0"/>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40506" y="856390"/>
            <a:ext cx="11851494" cy="5576976"/>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Growing demand for miniaturized and integrated spectral sensors</a:t>
            </a:r>
            <a:endParaRPr lang="en-US" altLang="zh-CN" sz="2000"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Primary challenges:</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trade-off between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spectral resolution</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and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bandwidth</a:t>
            </a:r>
            <a:endPar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All passive on-chip diffractive </a:t>
            </a:r>
            <a:r>
              <a:rPr lang="en-US" altLang="zh-CN" sz="2000" b="1" dirty="0" err="1">
                <a:solidFill>
                  <a:srgbClr val="FF0000"/>
                </a:solidFill>
                <a:latin typeface="Times New Roman" panose="02020603050405020304" pitchFamily="18" charset="0"/>
                <a:ea typeface="微软雅黑" panose="020B0503020204020204" charset="-122"/>
                <a:cs typeface="Times New Roman" panose="02020603050405020304" pitchFamily="18" charset="0"/>
              </a:rPr>
              <a:t>metasurfaces</a:t>
            </a:r>
            <a:endPar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Three layers of </a:t>
            </a:r>
            <a:r>
              <a:rPr lang="en-US" altLang="zh-CN" sz="2000" b="1" dirty="0" err="1">
                <a:solidFill>
                  <a:srgbClr val="FF0000"/>
                </a:solidFill>
                <a:latin typeface="Times New Roman" panose="02020603050405020304" pitchFamily="18" charset="0"/>
                <a:ea typeface="微软雅黑" panose="020B0503020204020204" charset="-122"/>
                <a:cs typeface="Times New Roman" panose="02020603050405020304" pitchFamily="18" charset="0"/>
              </a:rPr>
              <a:t>metasurfaces</a:t>
            </a:r>
            <a:r>
              <a:rPr lang="en-US" altLang="zh-CN" sz="2000" dirty="0">
                <a:solidFill>
                  <a:srgbClr val="FF0000"/>
                </a:solidFill>
                <a:latin typeface="Times New Roman" panose="02020603050405020304" pitchFamily="18" charset="0"/>
                <a:ea typeface="微软雅黑" panose="020B0503020204020204" charset="-122"/>
                <a:cs typeface="Times New Roman" panose="02020603050405020304" pitchFamily="18" charset="0"/>
              </a:rPr>
              <a:t>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cascaded</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increase the spectral richness of the fingerprints</a:t>
            </a:r>
            <a:endParaRPr lang="en-US" altLang="zh-CN" sz="2000"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Multimode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Grating Coupler</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 diffracted out and converted 1D speckle patterns to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2D speckles</a:t>
            </a:r>
            <a:endPar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Calibration</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of the Spectrometer </a:t>
            </a:r>
            <a:endParaRPr lang="en-US" altLang="zh-CN" sz="2000"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Spectral Reconstruction</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compressed sensing approach based on the CVX (Convex) optimization</a:t>
            </a:r>
            <a:endParaRPr lang="en-US" altLang="zh-CN" sz="2000"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Fabricated via a standard silicon photonic foundry with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CMOS compatible </a:t>
            </a:r>
            <a:r>
              <a:rPr lang="en-US" altLang="zh-CN" sz="2000" b="1" dirty="0" err="1">
                <a:solidFill>
                  <a:srgbClr val="FF0000"/>
                </a:solidFill>
                <a:latin typeface="Times New Roman" panose="02020603050405020304" pitchFamily="18" charset="0"/>
                <a:ea typeface="微软雅黑" panose="020B0503020204020204" charset="-122"/>
                <a:cs typeface="Times New Roman" panose="02020603050405020304" pitchFamily="18" charset="0"/>
              </a:rPr>
              <a:t>process</a:t>
            </a:r>
            <a:r>
              <a:rPr lang="en-US" altLang="zh-CN" sz="2000" b="1" dirty="0" err="1">
                <a:latin typeface="Times New Roman" panose="02020603050405020304" pitchFamily="18" charset="0"/>
                <a:ea typeface="微软雅黑" panose="020B0503020204020204" charset="-122"/>
                <a:cs typeface="Times New Roman" panose="02020603050405020304" pitchFamily="18" charset="0"/>
              </a:rPr>
              <a:t>Achieves</a:t>
            </a:r>
            <a:r>
              <a:rPr lang="en-US" altLang="zh-CN" sz="2000" b="1" dirty="0">
                <a:latin typeface="Times New Roman" panose="02020603050405020304" pitchFamily="18" charset="0"/>
                <a:ea typeface="微软雅黑" panose="020B0503020204020204" charset="-122"/>
                <a:cs typeface="Times New Roman" panose="02020603050405020304" pitchFamily="18" charset="0"/>
              </a:rPr>
              <a:t> a </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record-high CFR of 18911 </a:t>
            </a:r>
            <a:r>
              <a:rPr lang="en-US" altLang="zh-CN" sz="2000" b="1" dirty="0" err="1">
                <a:solidFill>
                  <a:srgbClr val="FF0000"/>
                </a:solidFill>
                <a:latin typeface="Times New Roman" panose="02020603050405020304" pitchFamily="18" charset="0"/>
                <a:ea typeface="微软雅黑" panose="020B0503020204020204" charset="-122"/>
                <a:cs typeface="Times New Roman" panose="02020603050405020304" pitchFamily="18" charset="0"/>
              </a:rPr>
              <a:t>ch</a:t>
            </a:r>
            <a:r>
              <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rPr>
              <a:t> mm−2 with 47 pm resolution</a:t>
            </a:r>
            <a:endParaRPr lang="en-US" altLang="zh-CN" sz="2000" b="1" dirty="0">
              <a:solidFill>
                <a:srgbClr val="FF0000"/>
              </a:solidFill>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r>
              <a:rPr lang="en-US" altLang="zh-CN" sz="2000" b="1" dirty="0">
                <a:latin typeface="Times New Roman" panose="02020603050405020304" pitchFamily="18" charset="0"/>
                <a:ea typeface="微软雅黑" panose="020B0503020204020204" charset="-122"/>
                <a:cs typeface="Times New Roman" panose="02020603050405020304" pitchFamily="18" charset="0"/>
              </a:rPr>
              <a:t>Provide a possible means to develop single-shot and compact on-chip spectrometers beyond the resolution-bandwidth limit</a:t>
            </a:r>
            <a:endParaRPr lang="en-US" altLang="zh-CN" sz="2000" b="1" dirty="0">
              <a:latin typeface="Times New Roman" panose="02020603050405020304" pitchFamily="18" charset="0"/>
              <a:ea typeface="微软雅黑" panose="020B0503020204020204" charset="-122"/>
              <a:cs typeface="Times New Roman" panose="02020603050405020304" pitchFamily="18" charset="0"/>
            </a:endParaRPr>
          </a:p>
          <a:p>
            <a:pPr marL="342900" indent="-342900">
              <a:lnSpc>
                <a:spcPct val="150000"/>
              </a:lnSpc>
              <a:buFont typeface="Wingdings" panose="05000000000000000000" pitchFamily="2" charset="2"/>
              <a:buChar char="Ø"/>
            </a:pPr>
            <a:endParaRPr lang="en-US" altLang="zh-CN" sz="2000" b="1" dirty="0">
              <a:solidFill>
                <a:srgbClr val="C00000"/>
              </a:solidFill>
              <a:latin typeface="Times New Roman" panose="02020603050405020304" pitchFamily="18" charset="0"/>
              <a:ea typeface="微软雅黑" panose="020B050302020402020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320" y="650975"/>
            <a:ext cx="11461359" cy="2062103"/>
          </a:xfrm>
          <a:prstGeom prst="rect">
            <a:avLst/>
          </a:prstGeom>
        </p:spPr>
        <p:txBody>
          <a:bodyPr wrap="square" lIns="91440" tIns="45720" rIns="91440" bIns="45720" anchor="t">
            <a:spAutoFit/>
          </a:bodyPr>
          <a:lstStyle/>
          <a:p>
            <a:pPr algn="ctr"/>
            <a:r>
              <a:rPr lang="en-US" altLang="zh-CN" sz="128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Thank You</a:t>
            </a:r>
            <a:endParaRPr lang="zh-CN" altLang="en-US" sz="12800" b="1" dirty="0">
              <a:solidFill>
                <a:schemeClr val="tx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16" name="文本框 15"/>
          <p:cNvSpPr txBox="1"/>
          <p:nvPr/>
        </p:nvSpPr>
        <p:spPr>
          <a:xfrm>
            <a:off x="7196594" y="4939733"/>
            <a:ext cx="3434080" cy="521970"/>
          </a:xfrm>
          <a:prstGeom prst="rect">
            <a:avLst/>
          </a:prstGeom>
          <a:noFill/>
        </p:spPr>
        <p:txBody>
          <a:bodyPr wrap="none" rtlCol="0">
            <a:spAutoFit/>
          </a:bodyPr>
          <a:lstStyle/>
          <a:p>
            <a:pPr algn="dist"/>
            <a:r>
              <a:rPr kumimoji="1" lang="en-US" altLang="zh-CN" sz="2800" b="1" dirty="0">
                <a:solidFill>
                  <a:schemeClr val="tx1">
                    <a:lumMod val="75000"/>
                    <a:lumOff val="25000"/>
                  </a:schemeClr>
                </a:solidFill>
                <a:latin typeface="微软雅黑" panose="020B0503020204020204" charset="-122"/>
                <a:ea typeface="微软雅黑" panose="020B0503020204020204" charset="-122"/>
              </a:rPr>
              <a:t>		</a:t>
            </a:r>
            <a:r>
              <a:rPr kumimoji="1" lang="zh-CN" altLang="en-US" sz="2800" b="1" dirty="0">
                <a:solidFill>
                  <a:schemeClr val="tx1">
                    <a:lumMod val="75000"/>
                    <a:lumOff val="25000"/>
                  </a:schemeClr>
                </a:solidFill>
                <a:latin typeface="微软雅黑" panose="020B0503020204020204" charset="-122"/>
                <a:ea typeface="微软雅黑" panose="020B0503020204020204" charset="-122"/>
              </a:rPr>
              <a:t>汇报人：</a:t>
            </a:r>
            <a:endParaRPr kumimoji="1" lang="en-US" altLang="zh-CN" sz="2800" b="1" dirty="0">
              <a:solidFill>
                <a:schemeClr val="tx1">
                  <a:lumMod val="75000"/>
                  <a:lumOff val="25000"/>
                </a:schemeClr>
              </a:solidFill>
              <a:latin typeface="微软雅黑" panose="020B0503020204020204" charset="-122"/>
              <a:ea typeface="微软雅黑" panose="020B0503020204020204" charset="-122"/>
            </a:endParaRPr>
          </a:p>
        </p:txBody>
      </p:sp>
      <p:sp>
        <p:nvSpPr>
          <p:cNvPr id="18" name="文本框 17"/>
          <p:cNvSpPr txBox="1"/>
          <p:nvPr/>
        </p:nvSpPr>
        <p:spPr>
          <a:xfrm>
            <a:off x="9660396" y="5462953"/>
            <a:ext cx="1495922" cy="461665"/>
          </a:xfrm>
          <a:prstGeom prst="rect">
            <a:avLst/>
          </a:prstGeom>
          <a:noFill/>
        </p:spPr>
        <p:txBody>
          <a:bodyPr wrap="none" rtlCol="0">
            <a:spAutoFit/>
          </a:bodyPr>
          <a:lstStyle/>
          <a:p>
            <a:pPr algn="dist"/>
            <a:r>
              <a:rPr kumimoji="1" lang="en-US" altLang="zh-CN" sz="2400" b="1" dirty="0">
                <a:solidFill>
                  <a:schemeClr val="tx1">
                    <a:lumMod val="75000"/>
                    <a:lumOff val="25000"/>
                  </a:schemeClr>
                </a:solidFill>
                <a:latin typeface="微软雅黑" panose="020B0503020204020204" charset="-122"/>
                <a:ea typeface="微软雅黑" panose="020B0503020204020204" charset="-122"/>
              </a:rPr>
              <a:t>2025.4.3</a:t>
            </a:r>
            <a:endParaRPr kumimoji="1" lang="en-US" altLang="zh-CN" sz="2400" b="1" dirty="0">
              <a:solidFill>
                <a:schemeClr val="tx1">
                  <a:lumMod val="75000"/>
                  <a:lumOff val="25000"/>
                </a:schemeClr>
              </a:solidFill>
              <a:latin typeface="微软雅黑" panose="020B0503020204020204" charset="-122"/>
              <a:ea typeface="微软雅黑" panose="020B0503020204020204"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15916</Words>
  <Application>WPS 演示</Application>
  <PresentationFormat>宽屏</PresentationFormat>
  <Paragraphs>582</Paragraphs>
  <Slides>42</Slides>
  <Notes>42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42</vt:i4>
      </vt:variant>
    </vt:vector>
  </HeadingPairs>
  <TitlesOfParts>
    <vt:vector size="58" baseType="lpstr">
      <vt:lpstr>Arial</vt:lpstr>
      <vt:lpstr>宋体</vt:lpstr>
      <vt:lpstr>Wingdings</vt:lpstr>
      <vt:lpstr>微软雅黑</vt:lpstr>
      <vt:lpstr>Times New Roman</vt:lpstr>
      <vt:lpstr>-apple-system</vt:lpstr>
      <vt:lpstr>JetBrainsMono NF</vt:lpstr>
      <vt:lpstr>inherit</vt:lpstr>
      <vt:lpstr>Arial Unicode MS</vt:lpstr>
      <vt:lpstr>等线 Light</vt:lpstr>
      <vt:lpstr>等线</vt:lpstr>
      <vt:lpstr>HelveticaNeue Regular</vt:lpstr>
      <vt:lpstr>Artifakt Element Heavy</vt:lpstr>
      <vt:lpstr>Yu Gothic UI Semibold</vt:lpstr>
      <vt:lpstr>BatangChe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宇澄 崔</dc:creator>
  <cp:lastModifiedBy>黄贤敏</cp:lastModifiedBy>
  <cp:revision>219</cp:revision>
  <dcterms:created xsi:type="dcterms:W3CDTF">2024-04-08T07:25:00Z</dcterms:created>
  <dcterms:modified xsi:type="dcterms:W3CDTF">2025-06-25T09:38:29Z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D3328BB8C82641039D8D9B1CFE531CE1_12</vt:lpwstr>
  </property>
  <property fmtid="{D5CDD505-2E9C-101B-9397-08002B2CF9AE}" pid="3" name="KSOProductBuildVer">
    <vt:lpwstr>2052-12.1.0.19770</vt:lpwstr>
  </property>
</Properties>
</file>